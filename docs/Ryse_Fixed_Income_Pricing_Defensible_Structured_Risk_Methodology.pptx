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62" r:id="rId2"/>
    <p:sldId id="464" r:id="rId3"/>
    <p:sldId id="465" r:id="rId4"/>
    <p:sldId id="466" r:id="rId5"/>
    <p:sldId id="468" r:id="rId6"/>
    <p:sldId id="469" r:id="rId7"/>
    <p:sldId id="470" r:id="rId8"/>
    <p:sldId id="471" r:id="rId9"/>
    <p:sldId id="472" r:id="rId10"/>
    <p:sldId id="475" r:id="rId17"/>
    <p:sldId id="476" r:id="rId18"/>
    <p:sldId id="477" r:id="rId19"/>
    <p:sldId id="480" r:id="rId22"/>
    <p:sldId id="481" r:id="rId23"/>
    <p:sldId id="483" r:id="rId25"/>
    <p:sldId id="484" r:id="rId26"/>
    <p:sldId id="485" r:id="rId27"/>
    <p:sldId id="482" r:id="rId24"/>
    <p:sldId id="478" r:id="rId20"/>
    <p:sldId id="479" r:id="rId21"/>
    <p:sldId id="486" r:id="rId28"/>
    <p:sldId id="487" r:id="rId29"/>
    <p:sldId id="488" r:id="rId30"/>
    <p:sldId id="489" r:id="rId31"/>
    <p:sldId id="490" r:id="rId32"/>
    <p:sldId id="491" r:id="rId33"/>
    <p:sldId id="4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3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2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8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\Chrome_Downloads\Ryse_Coverage_Stacked_Ba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253472222222221E-2"/>
          <c:y val="7.7611111111111117E-2"/>
          <c:w val="0.95149305555555552"/>
          <c:h val="0.8095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Coverage!$F$1</c:f>
              <c:strCache>
                <c:ptCount val="1"/>
                <c:pt idx="0">
                  <c:v>Complete (42%)</c:v>
                </c:pt>
              </c:strCache>
            </c:strRef>
          </c:tx>
          <c:spPr>
            <a:solidFill>
              <a:srgbClr val="18CFE8"/>
            </a:solidFill>
            <a:ln>
              <a:solidFill>
                <a:srgbClr val="18CFE8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Coverage!$E$2</c:f>
              <c:strCache>
                <c:ptCount val="1"/>
                <c:pt idx="0">
                  <c:v>Coverage</c:v>
                </c:pt>
              </c:strCache>
            </c:strRef>
          </c:cat>
          <c:val>
            <c:numRef>
              <c:f>Coverage!$F$2</c:f>
              <c:numCache>
                <c:formatCode>General</c:formatCode>
                <c:ptCount val="1"/>
                <c:pt idx="0">
                  <c:v>949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8CFE8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C79-4FC3-B464-738D12EBFD71}"/>
            </c:ext>
          </c:extLst>
        </c:ser>
        <c:ser>
          <c:idx val="1"/>
          <c:order val="1"/>
          <c:tx>
            <c:strRef>
              <c:f>Coverage!$G$1</c:f>
              <c:strCache>
                <c:ptCount val="1"/>
                <c:pt idx="0">
                  <c:v>Engine built — next (39%)</c:v>
                </c:pt>
              </c:strCache>
            </c:strRef>
          </c:tx>
          <c:spPr>
            <a:solidFill>
              <a:srgbClr val="159CEB"/>
            </a:solidFill>
            <a:ln>
              <a:solidFill>
                <a:srgbClr val="159CEB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Coverage!$E$2</c:f>
              <c:strCache>
                <c:ptCount val="1"/>
                <c:pt idx="0">
                  <c:v>Coverage</c:v>
                </c:pt>
              </c:strCache>
            </c:strRef>
          </c:cat>
          <c:val>
            <c:numRef>
              <c:f>Coverage!$G$2</c:f>
              <c:numCache>
                <c:formatCode>General</c:formatCode>
                <c:ptCount val="1"/>
                <c:pt idx="0">
                  <c:v>882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59CEB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C79-4FC3-B464-738D12EBFD71}"/>
            </c:ext>
          </c:extLst>
        </c:ser>
        <c:ser>
          <c:idx val="2"/>
          <c:order val="2"/>
          <c:tx>
            <c:strRef>
              <c:f>Coverage!$H$1</c:f>
              <c:strCache>
                <c:ptCount val="1"/>
                <c:pt idx="0">
                  <c:v>Not yet built (19%)</c:v>
                </c:pt>
              </c:strCache>
            </c:strRef>
          </c:tx>
          <c:spPr>
            <a:solidFill>
              <a:srgbClr val="9AA7B3"/>
            </a:solidFill>
            <a:ln>
              <a:solidFill>
                <a:srgbClr val="9AA7B3"/>
              </a:solidFill>
              <a:prstDash val="solid"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>
                    <a:solidFill>
                      <a:schemeClr val="bg2">
                        <a:lumMod val="25000"/>
                      </a:schemeClr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Coverage!$E$2</c:f>
              <c:strCache>
                <c:ptCount val="1"/>
                <c:pt idx="0">
                  <c:v>Coverage</c:v>
                </c:pt>
              </c:strCache>
            </c:strRef>
          </c:cat>
          <c:val>
            <c:numRef>
              <c:f>Coverage!$H$2</c:f>
              <c:numCache>
                <c:formatCode>General</c:formatCode>
                <c:ptCount val="1"/>
                <c:pt idx="0">
                  <c:v>429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9AA7B3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C79-4FC3-B464-738D12EBFD7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1"/>
          <c:showBubbleSize val="1"/>
        </c:dLbls>
        <c:gapWidth val="30"/>
        <c:overlap val="100"/>
        <c:axId val="10"/>
        <c:axId val="100"/>
      </c:barChart>
      <c:catAx>
        <c:axId val="1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1"/>
        <c:axPos val="b"/>
        <c:majorGridlines>
          <c:spPr>
            <a:ln>
              <a:prstDash val="dash"/>
            </a:ln>
          </c:spPr>
        </c:majorGridlines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  <c:spPr>
        <a:noFill/>
      </c:spPr>
    </c:plotArea>
    <c:legend>
      <c:legendPos val="b"/>
      <c:layout>
        <c:manualLayout>
          <c:xMode val="edge"/>
          <c:yMode val="edge"/>
          <c:x val="0.12998819444444445"/>
          <c:y val="0.87241500000000005"/>
          <c:w val="0.74002361111111115"/>
          <c:h val="0.127585"/>
        </c:manualLayout>
      </c:layout>
      <c:overlay val="1"/>
      <c:txPr>
        <a:bodyPr/>
        <a:lstStyle/>
        <a:p>
          <a:pPr>
            <a:defRPr sz="1200" b="1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>
          <a:solidFill>
            <a:schemeClr val="bg2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52870-88F4-43A6-BEB9-A0D15DE07D7E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A6CD2-B612-4904-8C24-332ABF774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7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0D23-85BB-5C7B-3A86-AEA3A000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2FB01-A2B0-45A0-3DAD-1485A8596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A45BD-F6BA-D5A6-C161-FC9F5880E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08C37-A55A-4304-B4E9-D6AE36034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614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4719-4AE1-A995-7A43-CEEC48C88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D00BE-5906-BDBE-D268-86A75FCB9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087F8-47F2-B36F-C5BE-F032FE4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B28B1-852C-C30F-2DC6-E565BB87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54422-6821-357E-3E61-0DBDBC2A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9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FAFD0-B8F1-DF3D-0448-775E9931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5D84-433D-08D4-2A0B-AAC31277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DB64C-BD85-3BE2-158F-FCBDB555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66A56-522A-FCE5-CA44-4FA672DE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C8C8E-AA9A-317E-9F65-15B50897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9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3A77-295C-FB5B-9C1D-F292DEA0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ADB66-1A44-72DF-F8B2-DC9F3580C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6F20E-D0F4-3C88-1A49-18891A81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68FE0-B6FA-E480-C974-C8B4BA06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BBEB-1BD8-43F1-36FA-05E9FB6D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3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4421-2000-AF6F-3955-51B6D4F9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2B44-E942-67D7-BD3D-2AB656E07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A1B6A-A8CD-A89E-D6BE-55181EE15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BAAA2-F6C8-3B8B-A381-262CB3C8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A72F6-A752-F2BA-A9A2-9979A3E4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DA107-4447-8EB1-814F-32763503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9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78B0-148C-9AED-EFB1-B0D74FD4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16050-4A5E-C7C4-728F-9CD68C608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57640-A481-8F90-A3AF-A099516F2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FB8F1-DC51-DD41-BFBB-62DD85DBF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C2886-4CF2-6229-1B41-4C1AA5704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145F2-335A-B10C-30BF-21E68B10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58C7E-79B0-D4AA-0B18-702A224D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A8DAA-7B15-BC1B-9B8D-EC8B4469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0E25-181A-0221-D3B5-8E7F2678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862F5-A998-6566-ADFF-C17D2A7B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FB6D3-5794-17A1-A463-59AF60CF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22977-10B4-2551-D2C3-394C0ABD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4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B3748-DF67-7882-0131-FA4334FC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3D19B-6623-A430-C591-88B209DB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ABDB-5BB3-B823-6C15-7645C813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4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858E-509D-7981-26EF-B3A5F541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DCF7-24BD-5B74-C650-AF5D82EB3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38C5A-E456-9DB7-2284-A23FD2032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A850D-B462-4FAE-D980-B9B9ED71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362A3-54F3-C693-5B29-96E957E7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39062-B16A-893D-7FDA-20E8ECD0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9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F94C-B254-2044-3460-7EB59D4E5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4636C2-C465-01B5-B7FA-76F7278879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339C7-B866-EFBB-02F0-9BAED5BD2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CE8F3-DD20-31A9-99B9-339FBF3E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1E2CE-4CCD-924E-6D85-72FF30639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02D4A-4171-E98D-5C4C-2E412A45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F789-C7A6-6D49-5C04-4F36EC4C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271A8-F7D2-4236-9DA4-85990EB9C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ACCB1-D329-707C-539C-B4A68C2D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3931-80B6-1DC1-2421-2C4D51EC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90486-F515-AA8B-A8BA-6A825AE7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E7AA1-AB7C-AA6A-A69A-A090DCD08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FB230-FF4D-EF6F-0AF4-10F29414D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E5C3D-9841-6585-E1F8-9BBD4D9D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26BE-938E-818A-727C-E09124A5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D943-15E2-271E-B25D-57F0CF89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98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886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BAB472-4D8D-E736-AAD3-AC0971196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871A7-069D-0234-42EC-153044B57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80F06-DD54-39FF-686B-1A098A61E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D1EC9-0AD3-4F4E-91FA-38C2B9267C9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0BA3B-BC4B-CB33-CB2E-9CA7CB33F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10B20-E227-DDB8-FCB2-FD9A4F742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A2B0A-FF5E-4DD3-808F-0442F9736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0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4FF7-6BE2-1F90-29CF-A3CB0AD2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83A2925-E968-850F-761D-CF499198EFEA}"/>
              </a:ext>
            </a:extLst>
          </p:cNvPr>
          <p:cNvSpPr txBox="1"/>
          <p:nvPr/>
        </p:nvSpPr>
        <p:spPr>
          <a:xfrm>
            <a:off x="-169314" y="2100640"/>
            <a:ext cx="3319157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r">
              <a:buNone/>
              <a:defRPr sz="21000" b="1" kern="0" spc="-3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>
                <a:latin typeface="Arial Narrow" panose="020B0606020202030204" pitchFamily="34" charset="0"/>
              </a:rPr>
              <a:t>VII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E4FA91-7197-52FD-848C-43B77D448A8A}"/>
              </a:ext>
            </a:extLst>
          </p:cNvPr>
          <p:cNvSpPr txBox="1"/>
          <p:nvPr/>
        </p:nvSpPr>
        <p:spPr>
          <a:xfrm>
            <a:off x="3892685" y="2614680"/>
            <a:ext cx="7144207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4800" b="1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Fixed Income Pricing Platform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36ED3A7-7DCD-E1FB-8E26-7FA6CC3ACDD0}"/>
              </a:ext>
            </a:extLst>
          </p:cNvPr>
          <p:cNvSpPr txBox="1"/>
          <p:nvPr/>
        </p:nvSpPr>
        <p:spPr>
          <a:xfrm>
            <a:off x="3918120" y="4147548"/>
            <a:ext cx="7144207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20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From single-thread code to an institutional pricing, cloud- based, pricing engine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E91618-EF8C-43D9-B16A-45CB8044A51C}"/>
              </a:ext>
            </a:extLst>
          </p:cNvPr>
          <p:cNvSpPr txBox="1"/>
          <p:nvPr/>
        </p:nvSpPr>
        <p:spPr>
          <a:xfrm>
            <a:off x="3951518" y="2384392"/>
            <a:ext cx="758232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b="1" kern="0" spc="30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44EB1-E826-E93A-B7D1-35C89E08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70" y="6510286"/>
            <a:ext cx="960830" cy="355863"/>
          </a:xfrm>
          <a:prstGeom prst="rect">
            <a:avLst/>
          </a:prstGeom>
          <a:noFill/>
          <a:ln/>
        </p:spPr>
      </p:pic>
      <p:pic>
        <p:nvPicPr>
          <p:cNvPr id="15" name="Image 2" descr="gen-dedup-248b879c220a23afdcfc3e8e22f5bed2.png">
            <a:extLst>
              <a:ext uri="{FF2B5EF4-FFF2-40B4-BE49-F238E27FC236}">
                <a16:creationId xmlns:a16="http://schemas.microsoft.com/office/drawing/2014/main" id="{4B686D39-F2D7-B157-079F-AFA074079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02" b="3502"/>
          <a:stretch/>
        </p:blipFill>
        <p:spPr>
          <a:xfrm>
            <a:off x="3427709" y="3193898"/>
            <a:ext cx="38405" cy="3047695"/>
          </a:xfrm>
          <a:prstGeom prst="rect">
            <a:avLst/>
          </a:prstGeom>
        </p:spPr>
      </p:pic>
      <p:sp>
        <p:nvSpPr>
          <p:cNvPr id="11" name="Shape 12">
            <a:extLst>
              <a:ext uri="{FF2B5EF4-FFF2-40B4-BE49-F238E27FC236}">
                <a16:creationId xmlns:a16="http://schemas.microsoft.com/office/drawing/2014/main" id="{F2C37ACE-8426-E15E-445B-DE5628F658C9}"/>
              </a:ext>
            </a:extLst>
          </p:cNvPr>
          <p:cNvSpPr/>
          <p:nvPr/>
        </p:nvSpPr>
        <p:spPr>
          <a:xfrm>
            <a:off x="3418610" y="6188973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E2946DF-61CB-B0AD-D8B9-C2E582E8B6E0}"/>
              </a:ext>
            </a:extLst>
          </p:cNvPr>
          <p:cNvSpPr/>
          <p:nvPr/>
        </p:nvSpPr>
        <p:spPr>
          <a:xfrm>
            <a:off x="3418610" y="5649928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7039FC98-ED08-8307-9FC2-3B529EE2E3A1}"/>
              </a:ext>
            </a:extLst>
          </p:cNvPr>
          <p:cNvSpPr/>
          <p:nvPr/>
        </p:nvSpPr>
        <p:spPr>
          <a:xfrm>
            <a:off x="3418610" y="5088306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97AC1B1-3CDE-6F2C-92D7-40E44E44DD15}"/>
              </a:ext>
            </a:extLst>
          </p:cNvPr>
          <p:cNvSpPr/>
          <p:nvPr/>
        </p:nvSpPr>
        <p:spPr>
          <a:xfrm>
            <a:off x="3418610" y="4554985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5960012-EBEB-CDD9-5005-8C46B8580C3C}"/>
              </a:ext>
            </a:extLst>
          </p:cNvPr>
          <p:cNvSpPr/>
          <p:nvPr/>
        </p:nvSpPr>
        <p:spPr>
          <a:xfrm>
            <a:off x="3418610" y="3949647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43B4F63-9CA7-589B-389F-F125856C6D17}"/>
              </a:ext>
            </a:extLst>
          </p:cNvPr>
          <p:cNvSpPr/>
          <p:nvPr/>
        </p:nvSpPr>
        <p:spPr>
          <a:xfrm>
            <a:off x="3418610" y="3372397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C0E5728C-0F5A-2EE6-DECB-BE1DB0913C4E}"/>
              </a:ext>
            </a:extLst>
          </p:cNvPr>
          <p:cNvSpPr/>
          <p:nvPr/>
        </p:nvSpPr>
        <p:spPr>
          <a:xfrm>
            <a:off x="3418610" y="2823662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40A0814E-063D-8575-830C-16815AEF5DE9}"/>
              </a:ext>
            </a:extLst>
          </p:cNvPr>
          <p:cNvSpPr/>
          <p:nvPr/>
        </p:nvSpPr>
        <p:spPr>
          <a:xfrm>
            <a:off x="3418610" y="2262040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6BEBB823-C469-CFCE-8E02-86968584E55B}"/>
              </a:ext>
            </a:extLst>
          </p:cNvPr>
          <p:cNvSpPr/>
          <p:nvPr/>
        </p:nvSpPr>
        <p:spPr>
          <a:xfrm>
            <a:off x="3418610" y="1728719"/>
            <a:ext cx="56603" cy="56603"/>
          </a:xfrm>
          <a:prstGeom prst="roundRect">
            <a:avLst>
              <a:gd name="adj" fmla="val 266667"/>
            </a:avLst>
          </a:prstGeom>
          <a:solidFill>
            <a:srgbClr val="0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3" descr="gen-dedup-59382ebf49c1ee115b2393e23767dcc3.png">
            <a:extLst>
              <a:ext uri="{FF2B5EF4-FFF2-40B4-BE49-F238E27FC236}">
                <a16:creationId xmlns:a16="http://schemas.microsoft.com/office/drawing/2014/main" id="{63F8FC0D-4539-2E33-BA24-135112F257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3427709" y="5097254"/>
            <a:ext cx="38405" cy="5715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9106C71-82AC-39CC-98F6-01C8CC0EE0C6}"/>
              </a:ext>
            </a:extLst>
          </p:cNvPr>
          <p:cNvSpPr/>
          <p:nvPr/>
        </p:nvSpPr>
        <p:spPr>
          <a:xfrm>
            <a:off x="-32795" y="952805"/>
            <a:ext cx="3847795" cy="4800600"/>
          </a:xfrm>
          <a:custGeom>
            <a:avLst/>
            <a:gdLst>
              <a:gd name="csX0" fmla="*/ 1447495 w 3847795"/>
              <a:gd name="csY0" fmla="*/ 0 h 4800600"/>
              <a:gd name="csX1" fmla="*/ 3847795 w 3847795"/>
              <a:gd name="csY1" fmla="*/ 2400300 h 4800600"/>
              <a:gd name="csX2" fmla="*/ 1447495 w 3847795"/>
              <a:gd name="csY2" fmla="*/ 4800600 h 4800600"/>
              <a:gd name="csX3" fmla="*/ 105465 w 3847795"/>
              <a:gd name="csY3" fmla="*/ 4390667 h 4800600"/>
              <a:gd name="csX4" fmla="*/ 0 w 3847795"/>
              <a:gd name="csY4" fmla="*/ 4311802 h 4800600"/>
              <a:gd name="csX5" fmla="*/ 0 w 3847795"/>
              <a:gd name="csY5" fmla="*/ 488799 h 4800600"/>
              <a:gd name="csX6" fmla="*/ 105465 w 3847795"/>
              <a:gd name="csY6" fmla="*/ 409934 h 4800600"/>
              <a:gd name="csX7" fmla="*/ 1447495 w 3847795"/>
              <a:gd name="csY7" fmla="*/ 0 h 480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47795" h="4800600">
                <a:moveTo>
                  <a:pt x="1447495" y="0"/>
                </a:moveTo>
                <a:cubicBezTo>
                  <a:pt x="2773144" y="0"/>
                  <a:pt x="3847795" y="1074651"/>
                  <a:pt x="3847795" y="2400300"/>
                </a:cubicBezTo>
                <a:cubicBezTo>
                  <a:pt x="3847795" y="3725949"/>
                  <a:pt x="2773144" y="4800600"/>
                  <a:pt x="1447495" y="4800600"/>
                </a:cubicBezTo>
                <a:cubicBezTo>
                  <a:pt x="950377" y="4800600"/>
                  <a:pt x="488555" y="4649477"/>
                  <a:pt x="105465" y="4390667"/>
                </a:cubicBezTo>
                <a:lnTo>
                  <a:pt x="0" y="4311802"/>
                </a:lnTo>
                <a:lnTo>
                  <a:pt x="0" y="488799"/>
                </a:lnTo>
                <a:lnTo>
                  <a:pt x="105465" y="409934"/>
                </a:lnTo>
                <a:cubicBezTo>
                  <a:pt x="488555" y="151123"/>
                  <a:pt x="950377" y="0"/>
                  <a:pt x="1447495" y="0"/>
                </a:cubicBezTo>
                <a:close/>
              </a:path>
            </a:pathLst>
          </a:custGeom>
          <a:noFill/>
          <a:ln w="12700">
            <a:solidFill>
              <a:srgbClr val="22D3EE"/>
            </a:solidFill>
            <a:prstDash val="solid"/>
          </a:ln>
        </p:spPr>
        <p:txBody>
          <a:bodyPr wrap="square">
            <a:noAutofit/>
          </a:bodyPr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23" name="PageNumber5">
            <a:extLst>
              <a:ext uri="{FF2B5EF4-FFF2-40B4-BE49-F238E27FC236}">
                <a16:creationId xmlns:a16="http://schemas.microsoft.com/office/drawing/2014/main" id="{92459E6E-F22D-4737-DD69-192992557176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88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621C7B1B-5BC7-DD2A-0C80-15B26C0BD68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Process Built on a Single, Highly Complex Database</a:t>
            </a:r>
            <a:endParaRPr lang="en-US" sz="2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1B0FBE89-6849-F122-5ABC-5535B9F99628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7" name="PageNumber5">
            <a:extLst>
              <a:ext uri="{FF2B5EF4-FFF2-40B4-BE49-F238E27FC236}">
                <a16:creationId xmlns:a16="http://schemas.microsoft.com/office/drawing/2014/main" id="{1DE47E63-154B-6802-5F9B-3450A1C66315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3375C-895A-4193-33AF-6957AD2C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966" y="1140106"/>
            <a:ext cx="4748514" cy="3165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514F69-3272-0D31-2E9A-83ADA453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23" t="10875" r="24122" b="69825"/>
          <a:stretch>
            <a:fillRect/>
          </a:stretch>
        </p:blipFill>
        <p:spPr>
          <a:xfrm>
            <a:off x="1331090" y="1643605"/>
            <a:ext cx="416688" cy="532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872137-583F-BFCB-0C29-7020B961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94" t="47121" r="34453" b="35676"/>
          <a:stretch>
            <a:fillRect/>
          </a:stretch>
        </p:blipFill>
        <p:spPr>
          <a:xfrm>
            <a:off x="1331090" y="2946536"/>
            <a:ext cx="324091" cy="4745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A35F95-96EC-D107-E176-E63E382E6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4" t="77447" r="14560" b="4092"/>
          <a:stretch>
            <a:fillRect/>
          </a:stretch>
        </p:blipFill>
        <p:spPr>
          <a:xfrm>
            <a:off x="1099596" y="3936950"/>
            <a:ext cx="555585" cy="509286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5CEFAB44-3DC7-36AD-2C5B-891D770C7974}"/>
              </a:ext>
            </a:extLst>
          </p:cNvPr>
          <p:cNvSpPr txBox="1"/>
          <p:nvPr/>
        </p:nvSpPr>
        <p:spPr>
          <a:xfrm>
            <a:off x="1929025" y="1862634"/>
            <a:ext cx="40800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across multiple tables, with slow processing time,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Hard to maintain, generate continuous updates, and with an embedded key-person risk</a:t>
            </a: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F9CD1D4-F660-D63D-0F92-BD196A72DAEE}"/>
              </a:ext>
            </a:extLst>
          </p:cNvPr>
          <p:cNvSpPr txBox="1"/>
          <p:nvPr/>
        </p:nvSpPr>
        <p:spPr>
          <a:xfrm>
            <a:off x="1929025" y="3233768"/>
            <a:ext cx="3448202" cy="474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thousand what-if scenarios would take far too long to process, generating bottlenecks on the network and impacting other areas of the platform</a:t>
            </a:r>
            <a:endParaRPr lang="en-US" sz="11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F2A1B39A-E960-7A3A-C57B-FCB099F7580B}"/>
              </a:ext>
            </a:extLst>
          </p:cNvPr>
          <p:cNvSpPr txBox="1"/>
          <p:nvPr/>
        </p:nvSpPr>
        <p:spPr>
          <a:xfrm>
            <a:off x="1929025" y="1568198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D4FF"/>
                </a:solidFill>
                <a:latin typeface="Arial" pitchFamily="34" charset="0"/>
                <a:cs typeface="Arial" pitchFamily="34" charset="-120"/>
              </a:rPr>
              <a:t>Over ~14,000 Lines of SQL and .NET Code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551B7614-39EB-BC3B-6446-77F12520B8BD}"/>
              </a:ext>
            </a:extLst>
          </p:cNvPr>
          <p:cNvSpPr txBox="1"/>
          <p:nvPr/>
        </p:nvSpPr>
        <p:spPr>
          <a:xfrm>
            <a:off x="1929025" y="2960910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Slow for High Volume Portfolios</a:t>
            </a:r>
            <a:endParaRPr lang="en-US" sz="12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3357B1C5-6FEE-4670-27C8-E1BD5F9D290C}"/>
              </a:ext>
            </a:extLst>
          </p:cNvPr>
          <p:cNvSpPr txBox="1"/>
          <p:nvPr/>
        </p:nvSpPr>
        <p:spPr>
          <a:xfrm>
            <a:off x="1929025" y="4010262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Scalability and Testing Capacity</a:t>
            </a:r>
            <a:endParaRPr lang="en-US" sz="1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CDAC3C7-4E68-35B4-3295-40A7D171A1C2}"/>
              </a:ext>
            </a:extLst>
          </p:cNvPr>
          <p:cNvSpPr txBox="1"/>
          <p:nvPr/>
        </p:nvSpPr>
        <p:spPr>
          <a:xfrm>
            <a:off x="1929025" y="4258327"/>
            <a:ext cx="3448202" cy="474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Lack of efficient processing times makes it hard to be tested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55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6F16-D9FB-3884-1C0E-5AD146AB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7DEB6B2B-3B55-5686-93C7-8799B9F47925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Full Coverage, Built for Scale</a:t>
            </a:r>
            <a:endParaRPr lang="en-US" sz="2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047FDA78-2328-4BA5-24E7-C42666AF2A1B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7" name="PageNumber5">
            <a:extLst>
              <a:ext uri="{FF2B5EF4-FFF2-40B4-BE49-F238E27FC236}">
                <a16:creationId xmlns:a16="http://schemas.microsoft.com/office/drawing/2014/main" id="{EE8658FC-86C0-42C6-A0E7-A37D7B9D6F4F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F31B45E-B8F5-A1D1-5AFF-162C526A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0" t="7412" r="83731" b="533"/>
          <a:stretch>
            <a:fillRect/>
          </a:stretch>
        </p:blipFill>
        <p:spPr>
          <a:xfrm>
            <a:off x="1615439" y="1768155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73007-5493-4423-487C-160001698814}"/>
              </a:ext>
            </a:extLst>
          </p:cNvPr>
          <p:cNvSpPr txBox="1"/>
          <p:nvPr/>
        </p:nvSpPr>
        <p:spPr>
          <a:xfrm>
            <a:off x="786655" y="3084731"/>
            <a:ext cx="256039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b="1" i="0" dirty="0">
                <a:solidFill>
                  <a:srgbClr val="F4F7FB"/>
                </a:solidFill>
                <a:latin typeface="Aptos"/>
              </a:rPr>
              <a:t>All Fixed Income Instrument Classes</a:t>
            </a:r>
            <a:endParaRPr b="1" i="0" dirty="0">
              <a:solidFill>
                <a:srgbClr val="F4F7FB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FFDCB-63E3-7427-DFA9-43E91B40F0BB}"/>
              </a:ext>
            </a:extLst>
          </p:cNvPr>
          <p:cNvSpPr txBox="1"/>
          <p:nvPr/>
        </p:nvSpPr>
        <p:spPr>
          <a:xfrm>
            <a:off x="1152452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Bonds, MBS, ABS,
Derivatives,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9AE26D-C5BA-2A9D-B282-1CD1CD7AF4FA}"/>
              </a:ext>
            </a:extLst>
          </p:cNvPr>
          <p:cNvSpPr txBox="1"/>
          <p:nvPr/>
        </p:nvSpPr>
        <p:spPr>
          <a:xfrm>
            <a:off x="3849933" y="308473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 dirty="0">
                <a:solidFill>
                  <a:srgbClr val="F4F7FB"/>
                </a:solidFill>
                <a:latin typeface="Aptos"/>
              </a:rPr>
              <a:t>Unified
Pricing Engine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B3C40-5CA5-5A08-5362-070D5404382A}"/>
              </a:ext>
            </a:extLst>
          </p:cNvPr>
          <p:cNvSpPr txBox="1"/>
          <p:nvPr/>
        </p:nvSpPr>
        <p:spPr>
          <a:xfrm>
            <a:off x="3804213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Consistent, transparent
and testable pricing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C7C96B-5970-03CD-D334-E3CA622660D1}"/>
              </a:ext>
            </a:extLst>
          </p:cNvPr>
          <p:cNvSpPr txBox="1"/>
          <p:nvPr/>
        </p:nvSpPr>
        <p:spPr>
          <a:xfrm>
            <a:off x="6501693" y="308473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F4F7FB"/>
                </a:solidFill>
                <a:latin typeface="Aptos"/>
              </a:rPr>
              <a:t>Cloud
Execution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BEC426-05E0-1897-CEC8-BAFE964F21A6}"/>
              </a:ext>
            </a:extLst>
          </p:cNvPr>
          <p:cNvSpPr txBox="1"/>
          <p:nvPr/>
        </p:nvSpPr>
        <p:spPr>
          <a:xfrm>
            <a:off x="6455973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Parallel computing
for scenario analysis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B5A2DA-5C09-5F69-03B2-4E389D15F56A}"/>
              </a:ext>
            </a:extLst>
          </p:cNvPr>
          <p:cNvSpPr txBox="1"/>
          <p:nvPr/>
        </p:nvSpPr>
        <p:spPr>
          <a:xfrm>
            <a:off x="9153453" y="3084731"/>
            <a:ext cx="1737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F4F7FB"/>
                </a:solidFill>
                <a:latin typeface="Aptos"/>
              </a:rPr>
              <a:t>Portfolio
Risk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2F7173-72B1-D303-B1AF-D0ADB499C2BB}"/>
              </a:ext>
            </a:extLst>
          </p:cNvPr>
          <p:cNvSpPr txBox="1"/>
          <p:nvPr/>
        </p:nvSpPr>
        <p:spPr>
          <a:xfrm>
            <a:off x="9107733" y="3724811"/>
            <a:ext cx="1828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A0B2C4"/>
                </a:solidFill>
                <a:latin typeface="Aptos"/>
              </a:rPr>
              <a:t>Portfolio-level risk
once coverage is complete</a:t>
            </a:r>
          </a:p>
        </p:txBody>
      </p:sp>
      <p:sp>
        <p:nvSpPr>
          <p:cNvPr id="34" name="Rounded Rectangle 23">
            <a:extLst>
              <a:ext uri="{FF2B5EF4-FFF2-40B4-BE49-F238E27FC236}">
                <a16:creationId xmlns:a16="http://schemas.microsoft.com/office/drawing/2014/main" id="{9B3AB946-BCD5-6016-C7C6-42C588903C3A}"/>
              </a:ext>
            </a:extLst>
          </p:cNvPr>
          <p:cNvSpPr/>
          <p:nvPr/>
        </p:nvSpPr>
        <p:spPr>
          <a:xfrm>
            <a:off x="1234440" y="4597731"/>
            <a:ext cx="9875520" cy="1051560"/>
          </a:xfrm>
          <a:prstGeom prst="roundRect">
            <a:avLst/>
          </a:prstGeom>
          <a:solidFill>
            <a:srgbClr val="0F2239"/>
          </a:solidFill>
          <a:ln w="12700">
            <a:solidFill>
              <a:srgbClr val="27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BFC99C-0BE9-A584-598E-105B023A8826}"/>
              </a:ext>
            </a:extLst>
          </p:cNvPr>
          <p:cNvSpPr txBox="1"/>
          <p:nvPr/>
        </p:nvSpPr>
        <p:spPr>
          <a:xfrm>
            <a:off x="150876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Reproducible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9C66D-EE26-50DA-F676-C9B1BA82ABDD}"/>
              </a:ext>
            </a:extLst>
          </p:cNvPr>
          <p:cNvSpPr txBox="1"/>
          <p:nvPr/>
        </p:nvSpPr>
        <p:spPr>
          <a:xfrm>
            <a:off x="388620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Testable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B34BC2-6124-9336-729E-249CE37730A4}"/>
              </a:ext>
            </a:extLst>
          </p:cNvPr>
          <p:cNvSpPr txBox="1"/>
          <p:nvPr/>
        </p:nvSpPr>
        <p:spPr>
          <a:xfrm>
            <a:off x="626364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Parallelizable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0604A6-0117-F59A-E2D4-E278DE6182CF}"/>
              </a:ext>
            </a:extLst>
          </p:cNvPr>
          <p:cNvSpPr txBox="1"/>
          <p:nvPr/>
        </p:nvSpPr>
        <p:spPr>
          <a:xfrm>
            <a:off x="8641080" y="4853763"/>
            <a:ext cx="1920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2C9E5"/>
                </a:solidFill>
                <a:latin typeface="Aptos"/>
              </a:rPr>
              <a:t>Portfolio-aware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4ADD1-C155-E9B5-B5B6-236E0E7B7BBE}"/>
              </a:ext>
            </a:extLst>
          </p:cNvPr>
          <p:cNvSpPr txBox="1"/>
          <p:nvPr/>
        </p:nvSpPr>
        <p:spPr>
          <a:xfrm>
            <a:off x="1508760" y="5237811"/>
            <a:ext cx="9098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200" b="0" i="0" dirty="0">
                <a:solidFill>
                  <a:srgbClr val="D6DFE8"/>
                </a:solidFill>
                <a:latin typeface="Aptos"/>
              </a:rPr>
              <a:t>A single architecture designed to price </a:t>
            </a:r>
            <a:r>
              <a:rPr lang="en-US" sz="1200" dirty="0">
                <a:solidFill>
                  <a:srgbClr val="D6DFE8"/>
                </a:solidFill>
                <a:latin typeface="Aptos"/>
              </a:rPr>
              <a:t>every fixed-income instrument class, exposing the same logic across spreadsheets, the command </a:t>
            </a:r>
            <a:r>
              <a:rPr lang="en-US" sz="1200" b="0" i="0" dirty="0">
                <a:solidFill>
                  <a:srgbClr val="D6DFE8"/>
                </a:solidFill>
                <a:latin typeface="Aptos"/>
              </a:rPr>
              <a:t>line, and cloud services.</a:t>
            </a:r>
            <a:endParaRPr sz="1200" b="0" i="0" dirty="0">
              <a:solidFill>
                <a:srgbClr val="D6DFE8"/>
              </a:solidFill>
              <a:latin typeface="Aptos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2213CF4-9A11-527C-9FE7-191F8396D8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5" t="6756" r="56666" b="1189"/>
          <a:stretch>
            <a:fillRect/>
          </a:stretch>
        </p:blipFill>
        <p:spPr>
          <a:xfrm>
            <a:off x="4267200" y="1768155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540D81A-7ADC-B92F-FCAA-B01D2BEA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245" t="6069" r="2605" b="1877"/>
          <a:stretch>
            <a:fillRect/>
          </a:stretch>
        </p:blipFill>
        <p:spPr>
          <a:xfrm>
            <a:off x="9570720" y="1738919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76EAEEF-3042-91AC-D8ED-75902E9DC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96" t="6029" r="29454" b="1916"/>
          <a:stretch>
            <a:fillRect/>
          </a:stretch>
        </p:blipFill>
        <p:spPr>
          <a:xfrm>
            <a:off x="6939987" y="1763812"/>
            <a:ext cx="902826" cy="933016"/>
          </a:xfrm>
          <a:custGeom>
            <a:avLst/>
            <a:gdLst>
              <a:gd name="csX0" fmla="*/ 451413 w 902826"/>
              <a:gd name="csY0" fmla="*/ 0 h 933016"/>
              <a:gd name="csX1" fmla="*/ 902826 w 902826"/>
              <a:gd name="csY1" fmla="*/ 466508 h 933016"/>
              <a:gd name="csX2" fmla="*/ 451413 w 902826"/>
              <a:gd name="csY2" fmla="*/ 933016 h 933016"/>
              <a:gd name="csX3" fmla="*/ 0 w 902826"/>
              <a:gd name="csY3" fmla="*/ 466508 h 933016"/>
              <a:gd name="csX4" fmla="*/ 451413 w 902826"/>
              <a:gd name="csY4" fmla="*/ 0 h 93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2826" h="933016">
                <a:moveTo>
                  <a:pt x="451413" y="0"/>
                </a:moveTo>
                <a:cubicBezTo>
                  <a:pt x="700722" y="0"/>
                  <a:pt x="902826" y="208863"/>
                  <a:pt x="902826" y="466508"/>
                </a:cubicBezTo>
                <a:cubicBezTo>
                  <a:pt x="902826" y="724153"/>
                  <a:pt x="700722" y="933016"/>
                  <a:pt x="451413" y="933016"/>
                </a:cubicBezTo>
                <a:cubicBezTo>
                  <a:pt x="202104" y="933016"/>
                  <a:pt x="0" y="724153"/>
                  <a:pt x="0" y="466508"/>
                </a:cubicBezTo>
                <a:cubicBezTo>
                  <a:pt x="0" y="208863"/>
                  <a:pt x="202104" y="0"/>
                  <a:pt x="4514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4663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A5AA06CD-8400-3B67-6761-C560C5E30DE8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Progress</a:t>
            </a:r>
            <a:endParaRPr lang="en-US" sz="240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FB4AD105-12F5-FACC-F507-80741450D3BC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7" name="PageNumber5">
            <a:extLst>
              <a:ext uri="{FF2B5EF4-FFF2-40B4-BE49-F238E27FC236}">
                <a16:creationId xmlns:a16="http://schemas.microsoft.com/office/drawing/2014/main" id="{93AF0AF1-78F2-A5A4-4993-17D1E3E0185C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1">
            <a:extLst>
              <a:ext uri="{FF2B5EF4-FFF2-40B4-BE49-F238E27FC236}">
                <a16:creationId xmlns:a16="http://schemas.microsoft.com/office/drawing/2014/main" id="{866E570C-25C1-AD9E-813F-A99D9BB412F4}"/>
              </a:ext>
            </a:extLst>
          </p:cNvPr>
          <p:cNvSpPr/>
          <p:nvPr/>
        </p:nvSpPr>
        <p:spPr>
          <a:xfrm>
            <a:off x="61976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B0621C-2052-B688-B354-40543389CAAD}"/>
              </a:ext>
            </a:extLst>
          </p:cNvPr>
          <p:cNvSpPr txBox="1"/>
          <p:nvPr/>
        </p:nvSpPr>
        <p:spPr>
          <a:xfrm>
            <a:off x="16459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0DAF6"/>
                </a:solidFill>
                <a:latin typeface="Aptos"/>
              </a:rPr>
              <a:t>6 / 13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752060-F306-2782-B475-72D40711026E}"/>
              </a:ext>
            </a:extLst>
          </p:cNvPr>
          <p:cNvSpPr txBox="1"/>
          <p:nvPr/>
        </p:nvSpPr>
        <p:spPr>
          <a:xfrm>
            <a:off x="21945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Categories
Complete</a:t>
            </a:r>
          </a:p>
        </p:txBody>
      </p:sp>
      <p:sp>
        <p:nvSpPr>
          <p:cNvPr id="53" name="Rounded Rectangle 4">
            <a:extLst>
              <a:ext uri="{FF2B5EF4-FFF2-40B4-BE49-F238E27FC236}">
                <a16:creationId xmlns:a16="http://schemas.microsoft.com/office/drawing/2014/main" id="{8A369182-7783-4E00-F23A-F791106933A2}"/>
              </a:ext>
            </a:extLst>
          </p:cNvPr>
          <p:cNvSpPr/>
          <p:nvPr/>
        </p:nvSpPr>
        <p:spPr>
          <a:xfrm>
            <a:off x="363728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638DBD-835F-FC09-7FF7-9E23374C2AAC}"/>
              </a:ext>
            </a:extLst>
          </p:cNvPr>
          <p:cNvSpPr txBox="1"/>
          <p:nvPr/>
        </p:nvSpPr>
        <p:spPr>
          <a:xfrm>
            <a:off x="318211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0DAF6"/>
                </a:solidFill>
                <a:latin typeface="Aptos"/>
              </a:rPr>
              <a:t>949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630CE2-B040-0BA8-7EEB-AB4126FF03D4}"/>
              </a:ext>
            </a:extLst>
          </p:cNvPr>
          <p:cNvSpPr txBox="1"/>
          <p:nvPr/>
        </p:nvSpPr>
        <p:spPr>
          <a:xfrm>
            <a:off x="323697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Securities
in scope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70A29BA2-3BED-1C0F-AE3D-A39CAED8FBAB}"/>
              </a:ext>
            </a:extLst>
          </p:cNvPr>
          <p:cNvSpPr/>
          <p:nvPr/>
        </p:nvSpPr>
        <p:spPr>
          <a:xfrm>
            <a:off x="665480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DC963B-1C46-6924-E2E0-E2EF180222E4}"/>
              </a:ext>
            </a:extLst>
          </p:cNvPr>
          <p:cNvSpPr txBox="1"/>
          <p:nvPr/>
        </p:nvSpPr>
        <p:spPr>
          <a:xfrm>
            <a:off x="619963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0DAF6"/>
                </a:solidFill>
                <a:latin typeface="Aptos"/>
              </a:rPr>
              <a:t>766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074835-1B18-F694-FCA1-76CE822840C3}"/>
              </a:ext>
            </a:extLst>
          </p:cNvPr>
          <p:cNvSpPr txBox="1"/>
          <p:nvPr/>
        </p:nvSpPr>
        <p:spPr>
          <a:xfrm>
            <a:off x="625449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Priceable by
new engine</a:t>
            </a:r>
          </a:p>
        </p:txBody>
      </p:sp>
      <p:sp>
        <p:nvSpPr>
          <p:cNvPr id="65" name="Rounded Rectangle 10">
            <a:extLst>
              <a:ext uri="{FF2B5EF4-FFF2-40B4-BE49-F238E27FC236}">
                <a16:creationId xmlns:a16="http://schemas.microsoft.com/office/drawing/2014/main" id="{5F1B77E9-B141-2F18-247B-98BBD847756C}"/>
              </a:ext>
            </a:extLst>
          </p:cNvPr>
          <p:cNvSpPr/>
          <p:nvPr/>
        </p:nvSpPr>
        <p:spPr>
          <a:xfrm>
            <a:off x="9672320" y="1706754"/>
            <a:ext cx="1723136" cy="1622434"/>
          </a:xfrm>
          <a:prstGeom prst="roundRect">
            <a:avLst/>
          </a:prstGeom>
          <a:solidFill>
            <a:srgbClr val="0A314C"/>
          </a:solidFill>
          <a:ln w="19050">
            <a:solidFill>
              <a:srgbClr val="0A5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D12BC6-AD7B-61E9-DFE4-20DEB74CB656}"/>
              </a:ext>
            </a:extLst>
          </p:cNvPr>
          <p:cNvSpPr txBox="1"/>
          <p:nvPr/>
        </p:nvSpPr>
        <p:spPr>
          <a:xfrm>
            <a:off x="9217152" y="1745811"/>
            <a:ext cx="263347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0DAF6"/>
                </a:solidFill>
                <a:latin typeface="Aptos"/>
              </a:rPr>
              <a:t>40 seconds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1542DC-93EC-59A5-2C42-28A1D21D14A9}"/>
              </a:ext>
            </a:extLst>
          </p:cNvPr>
          <p:cNvSpPr txBox="1"/>
          <p:nvPr/>
        </p:nvSpPr>
        <p:spPr>
          <a:xfrm>
            <a:off x="9272016" y="2504763"/>
            <a:ext cx="252374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Full book reprices
on Azure
(measured)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562C633-E9F8-3910-1A33-B9F0B382FE69}"/>
              </a:ext>
            </a:extLst>
          </p:cNvPr>
          <p:cNvSpPr/>
          <p:nvPr/>
        </p:nvSpPr>
        <p:spPr>
          <a:xfrm>
            <a:off x="484903" y="4121974"/>
            <a:ext cx="91440" cy="91440"/>
          </a:xfrm>
          <a:prstGeom prst="ellipse">
            <a:avLst/>
          </a:prstGeom>
          <a:solidFill>
            <a:srgbClr val="00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221BA2-836C-C5B4-92B3-E5626C9ABA8E}"/>
              </a:ext>
            </a:extLst>
          </p:cNvPr>
          <p:cNvSpPr txBox="1"/>
          <p:nvPr/>
        </p:nvSpPr>
        <p:spPr>
          <a:xfrm>
            <a:off x="786655" y="3976941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dirty="0">
                <a:solidFill>
                  <a:srgbClr val="EFF4F9"/>
                </a:solidFill>
                <a:latin typeface="Aptos"/>
              </a:rPr>
              <a:t>JSON dictionaries for every input and output — enables parallel computing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99D35AE-E080-0DC3-BF84-99C7B695B4E9}"/>
              </a:ext>
            </a:extLst>
          </p:cNvPr>
          <p:cNvSpPr/>
          <p:nvPr/>
        </p:nvSpPr>
        <p:spPr>
          <a:xfrm>
            <a:off x="484903" y="4835205"/>
            <a:ext cx="91440" cy="91440"/>
          </a:xfrm>
          <a:prstGeom prst="ellipse">
            <a:avLst/>
          </a:prstGeom>
          <a:solidFill>
            <a:srgbClr val="00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D45148-987A-D2CB-B112-B6B47C361332}"/>
              </a:ext>
            </a:extLst>
          </p:cNvPr>
          <p:cNvSpPr txBox="1"/>
          <p:nvPr/>
        </p:nvSpPr>
        <p:spPr>
          <a:xfrm>
            <a:off x="786655" y="4690173"/>
            <a:ext cx="10789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dirty="0">
                <a:solidFill>
                  <a:srgbClr val="EFF4F9"/>
                </a:solidFill>
                <a:latin typeface="Aptos"/>
              </a:rPr>
              <a:t>Code already runs unchanged on Azure</a:t>
            </a:r>
            <a:r>
              <a:rPr lang="en-US" sz="1800" dirty="0">
                <a:solidFill>
                  <a:srgbClr val="EFF4F9"/>
                </a:solidFill>
                <a:latin typeface="Aptos"/>
              </a:rPr>
              <a:t>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(Further testing required)</a:t>
            </a:r>
            <a:endParaRPr sz="1800" dirty="0">
              <a:solidFill>
                <a:schemeClr val="bg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F7593AC-A975-D4A3-1312-2A4F6BAA046D}"/>
              </a:ext>
            </a:extLst>
          </p:cNvPr>
          <p:cNvSpPr/>
          <p:nvPr/>
        </p:nvSpPr>
        <p:spPr>
          <a:xfrm>
            <a:off x="484903" y="5548438"/>
            <a:ext cx="91440" cy="91440"/>
          </a:xfrm>
          <a:prstGeom prst="ellipse">
            <a:avLst/>
          </a:prstGeom>
          <a:solidFill>
            <a:srgbClr val="00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B90AA9-B0F9-B9E3-46E3-CE6B86F70A24}"/>
              </a:ext>
            </a:extLst>
          </p:cNvPr>
          <p:cNvSpPr txBox="1"/>
          <p:nvPr/>
        </p:nvSpPr>
        <p:spPr>
          <a:xfrm>
            <a:off x="786655" y="5403405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>
                <a:solidFill>
                  <a:srgbClr val="EFF4F9"/>
                </a:solidFill>
                <a:latin typeface="Aptos"/>
              </a:rPr>
              <a:t>Next: focus on mortgage-backed securities and other instruments, then hand to Ryse’s
engineer for parallel-computing work</a:t>
            </a:r>
          </a:p>
        </p:txBody>
      </p:sp>
    </p:spTree>
    <p:extLst>
      <p:ext uri="{BB962C8B-B14F-4D97-AF65-F5344CB8AC3E}">
        <p14:creationId xmlns:p14="http://schemas.microsoft.com/office/powerpoint/2010/main" val="226583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87343384-0CAA-A407-7ACF-16151FDB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8" t="3368" b="78569"/>
          <a:stretch>
            <a:fillRect/>
          </a:stretch>
        </p:blipFill>
        <p:spPr>
          <a:xfrm>
            <a:off x="776207" y="1288788"/>
            <a:ext cx="496100" cy="513110"/>
          </a:xfrm>
          <a:custGeom>
            <a:avLst/>
            <a:gdLst>
              <a:gd name="csX0" fmla="*/ 149352 w 288802"/>
              <a:gd name="csY0" fmla="*/ 0 h 298704"/>
              <a:gd name="csX1" fmla="*/ 286967 w 288802"/>
              <a:gd name="csY1" fmla="*/ 91217 h 298704"/>
              <a:gd name="csX2" fmla="*/ 288802 w 288802"/>
              <a:gd name="csY2" fmla="*/ 100306 h 298704"/>
              <a:gd name="csX3" fmla="*/ 288802 w 288802"/>
              <a:gd name="csY3" fmla="*/ 198399 h 298704"/>
              <a:gd name="csX4" fmla="*/ 286967 w 288802"/>
              <a:gd name="csY4" fmla="*/ 207487 h 298704"/>
              <a:gd name="csX5" fmla="*/ 149352 w 288802"/>
              <a:gd name="csY5" fmla="*/ 298704 h 298704"/>
              <a:gd name="csX6" fmla="*/ 0 w 288802"/>
              <a:gd name="csY6" fmla="*/ 149352 h 298704"/>
              <a:gd name="csX7" fmla="*/ 149352 w 288802"/>
              <a:gd name="csY7" fmla="*/ 0 h 29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8802" h="298704">
                <a:moveTo>
                  <a:pt x="149352" y="0"/>
                </a:moveTo>
                <a:cubicBezTo>
                  <a:pt x="211216" y="0"/>
                  <a:pt x="264295" y="37613"/>
                  <a:pt x="286967" y="91217"/>
                </a:cubicBezTo>
                <a:lnTo>
                  <a:pt x="288802" y="100306"/>
                </a:lnTo>
                <a:lnTo>
                  <a:pt x="288802" y="198399"/>
                </a:lnTo>
                <a:lnTo>
                  <a:pt x="286967" y="207487"/>
                </a:lnTo>
                <a:cubicBezTo>
                  <a:pt x="264295" y="261091"/>
                  <a:pt x="211216" y="298704"/>
                  <a:pt x="149352" y="298704"/>
                </a:cubicBezTo>
                <a:cubicBezTo>
                  <a:pt x="66867" y="298704"/>
                  <a:pt x="0" y="231837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sp>
        <p:nvSpPr>
          <p:cNvPr id="5" name="Text 10">
            <a:extLst>
              <a:ext uri="{FF2B5EF4-FFF2-40B4-BE49-F238E27FC236}">
                <a16:creationId xmlns:a16="http://schemas.microsoft.com/office/drawing/2014/main" id="{24594CC9-AB18-FF7A-BE57-35F4FC7CDCA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Consistent Results Across Every Interface.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19FB0C81-A516-D371-AFF7-A6D4E6F5E689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1CF0B6EF-E9FB-1D7D-4109-4BCFD316FD63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23023F-B6BF-1667-3089-0D54591A5777}"/>
              </a:ext>
            </a:extLst>
          </p:cNvPr>
          <p:cNvSpPr txBox="1"/>
          <p:nvPr/>
        </p:nvSpPr>
        <p:spPr>
          <a:xfrm>
            <a:off x="1280159" y="1297992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i="0" dirty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Calculates Spread &amp; Risk</a:t>
            </a:r>
            <a:endParaRPr b="1" i="0" dirty="0">
              <a:solidFill>
                <a:srgbClr val="22C9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C83CF7-F7CA-076D-B062-549D79ACCE1C}"/>
              </a:ext>
            </a:extLst>
          </p:cNvPr>
          <p:cNvSpPr txBox="1"/>
          <p:nvPr/>
        </p:nvSpPr>
        <p:spPr>
          <a:xfrm>
            <a:off x="1280160" y="1572312"/>
            <a:ext cx="49977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a bond, today’s rate environment, and market price, calculates the implied spread and sensitivity to rate movements.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807B8F-F01B-10B3-CF62-03F031FCA0F7}"/>
              </a:ext>
            </a:extLst>
          </p:cNvPr>
          <p:cNvSpPr txBox="1"/>
          <p:nvPr/>
        </p:nvSpPr>
        <p:spPr>
          <a:xfrm>
            <a:off x="1280159" y="2289048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Runs three ways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3FBE4E-2CD7-6B36-0A1E-28D77D3511B0}"/>
              </a:ext>
            </a:extLst>
          </p:cNvPr>
          <p:cNvSpPr txBox="1"/>
          <p:nvPr/>
        </p:nvSpPr>
        <p:spPr>
          <a:xfrm>
            <a:off x="1280160" y="2563368"/>
            <a:ext cx="49977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Spreadsheet, command line, or API — all using the same calculation engine.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238AE8-D802-9BE9-CD9D-644135A82957}"/>
              </a:ext>
            </a:extLst>
          </p:cNvPr>
          <p:cNvSpPr txBox="1"/>
          <p:nvPr/>
        </p:nvSpPr>
        <p:spPr>
          <a:xfrm>
            <a:off x="1280159" y="3221736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Reproducible to the byte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575034-F98B-5FFA-E336-6CB4B3064E63}"/>
              </a:ext>
            </a:extLst>
          </p:cNvPr>
          <p:cNvSpPr txBox="1"/>
          <p:nvPr/>
        </p:nvSpPr>
        <p:spPr>
          <a:xfrm>
            <a:off x="1280160" y="3496055"/>
            <a:ext cx="499770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the same inputs again and obtain exactly the same results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AFFD61-642A-D37F-E150-CB6E6DE081B3}"/>
              </a:ext>
            </a:extLst>
          </p:cNvPr>
          <p:cNvSpPr txBox="1"/>
          <p:nvPr/>
        </p:nvSpPr>
        <p:spPr>
          <a:xfrm>
            <a:off x="1280159" y="4154424"/>
            <a:ext cx="31944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Validated on a real portfolio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B09409-DCAF-B24F-CE00-7975EBAD5089}"/>
              </a:ext>
            </a:extLst>
          </p:cNvPr>
          <p:cNvSpPr txBox="1"/>
          <p:nvPr/>
        </p:nvSpPr>
        <p:spPr>
          <a:xfrm>
            <a:off x="1280160" y="4428744"/>
            <a:ext cx="49977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Tested against a pension fund fixed income portfolio from March 2009, where benchmark results were already known.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C3F8486-3103-099F-9AE1-8AB14ED2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96" t="30831" r="1607" b="51106"/>
          <a:stretch>
            <a:fillRect/>
          </a:stretch>
        </p:blipFill>
        <p:spPr>
          <a:xfrm>
            <a:off x="772653" y="2242805"/>
            <a:ext cx="513110" cy="513110"/>
          </a:xfrm>
          <a:custGeom>
            <a:avLst/>
            <a:gdLst>
              <a:gd name="csX0" fmla="*/ 149352 w 298704"/>
              <a:gd name="csY0" fmla="*/ 0 h 298704"/>
              <a:gd name="csX1" fmla="*/ 298704 w 298704"/>
              <a:gd name="csY1" fmla="*/ 149352 h 298704"/>
              <a:gd name="csX2" fmla="*/ 149352 w 298704"/>
              <a:gd name="csY2" fmla="*/ 298704 h 298704"/>
              <a:gd name="csX3" fmla="*/ 0 w 298704"/>
              <a:gd name="csY3" fmla="*/ 149352 h 298704"/>
              <a:gd name="csX4" fmla="*/ 149352 w 298704"/>
              <a:gd name="csY4" fmla="*/ 0 h 29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8704" h="298704">
                <a:moveTo>
                  <a:pt x="149352" y="0"/>
                </a:moveTo>
                <a:cubicBezTo>
                  <a:pt x="231837" y="0"/>
                  <a:pt x="298704" y="66867"/>
                  <a:pt x="298704" y="149352"/>
                </a:cubicBezTo>
                <a:cubicBezTo>
                  <a:pt x="298704" y="231837"/>
                  <a:pt x="231837" y="298704"/>
                  <a:pt x="149352" y="298704"/>
                </a:cubicBezTo>
                <a:cubicBezTo>
                  <a:pt x="66867" y="298704"/>
                  <a:pt x="0" y="231837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30061BB-4603-080D-FADB-6860FE39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31" t="59584" b="22353"/>
          <a:stretch>
            <a:fillRect/>
          </a:stretch>
        </p:blipFill>
        <p:spPr>
          <a:xfrm>
            <a:off x="779630" y="3229849"/>
            <a:ext cx="479716" cy="513110"/>
          </a:xfrm>
          <a:custGeom>
            <a:avLst/>
            <a:gdLst>
              <a:gd name="csX0" fmla="*/ 149352 w 279264"/>
              <a:gd name="csY0" fmla="*/ 0 h 298704"/>
              <a:gd name="csX1" fmla="*/ 254960 w 279264"/>
              <a:gd name="csY1" fmla="*/ 43744 h 298704"/>
              <a:gd name="csX2" fmla="*/ 279264 w 279264"/>
              <a:gd name="csY2" fmla="*/ 79792 h 298704"/>
              <a:gd name="csX3" fmla="*/ 279264 w 279264"/>
              <a:gd name="csY3" fmla="*/ 218912 h 298704"/>
              <a:gd name="csX4" fmla="*/ 254960 w 279264"/>
              <a:gd name="csY4" fmla="*/ 254960 h 298704"/>
              <a:gd name="csX5" fmla="*/ 149352 w 279264"/>
              <a:gd name="csY5" fmla="*/ 298704 h 298704"/>
              <a:gd name="csX6" fmla="*/ 0 w 279264"/>
              <a:gd name="csY6" fmla="*/ 149352 h 298704"/>
              <a:gd name="csX7" fmla="*/ 149352 w 279264"/>
              <a:gd name="csY7" fmla="*/ 0 h 298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9264" h="298704">
                <a:moveTo>
                  <a:pt x="149352" y="0"/>
                </a:moveTo>
                <a:cubicBezTo>
                  <a:pt x="190594" y="0"/>
                  <a:pt x="227932" y="16717"/>
                  <a:pt x="254960" y="43744"/>
                </a:cubicBezTo>
                <a:lnTo>
                  <a:pt x="279264" y="79792"/>
                </a:lnTo>
                <a:lnTo>
                  <a:pt x="279264" y="218912"/>
                </a:lnTo>
                <a:lnTo>
                  <a:pt x="254960" y="254960"/>
                </a:lnTo>
                <a:cubicBezTo>
                  <a:pt x="227932" y="281987"/>
                  <a:pt x="190594" y="298704"/>
                  <a:pt x="149352" y="298704"/>
                </a:cubicBezTo>
                <a:cubicBezTo>
                  <a:pt x="66867" y="298704"/>
                  <a:pt x="0" y="231837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A3DDB37-D718-2236-E6D1-226C8D2AC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55" t="83914"/>
          <a:stretch>
            <a:fillRect/>
          </a:stretch>
        </p:blipFill>
        <p:spPr>
          <a:xfrm>
            <a:off x="781988" y="4215510"/>
            <a:ext cx="488792" cy="456948"/>
          </a:xfrm>
          <a:custGeom>
            <a:avLst/>
            <a:gdLst>
              <a:gd name="csX0" fmla="*/ 149352 w 284549"/>
              <a:gd name="csY0" fmla="*/ 0 h 266010"/>
              <a:gd name="csX1" fmla="*/ 254960 w 284549"/>
              <a:gd name="csY1" fmla="*/ 43744 h 266010"/>
              <a:gd name="csX2" fmla="*/ 284549 w 284549"/>
              <a:gd name="csY2" fmla="*/ 87631 h 266010"/>
              <a:gd name="csX3" fmla="*/ 284549 w 284549"/>
              <a:gd name="csY3" fmla="*/ 211073 h 266010"/>
              <a:gd name="csX4" fmla="*/ 254960 w 284549"/>
              <a:gd name="csY4" fmla="*/ 254960 h 266010"/>
              <a:gd name="csX5" fmla="*/ 238570 w 284549"/>
              <a:gd name="csY5" fmla="*/ 266010 h 266010"/>
              <a:gd name="csX6" fmla="*/ 60134 w 284549"/>
              <a:gd name="csY6" fmla="*/ 266010 h 266010"/>
              <a:gd name="csX7" fmla="*/ 43744 w 284549"/>
              <a:gd name="csY7" fmla="*/ 254960 h 266010"/>
              <a:gd name="csX8" fmla="*/ 0 w 284549"/>
              <a:gd name="csY8" fmla="*/ 149352 h 266010"/>
              <a:gd name="csX9" fmla="*/ 149352 w 284549"/>
              <a:gd name="csY9" fmla="*/ 0 h 266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84549" h="266010">
                <a:moveTo>
                  <a:pt x="149352" y="0"/>
                </a:moveTo>
                <a:cubicBezTo>
                  <a:pt x="190594" y="0"/>
                  <a:pt x="227932" y="16717"/>
                  <a:pt x="254960" y="43744"/>
                </a:cubicBezTo>
                <a:lnTo>
                  <a:pt x="284549" y="87631"/>
                </a:lnTo>
                <a:lnTo>
                  <a:pt x="284549" y="211073"/>
                </a:lnTo>
                <a:lnTo>
                  <a:pt x="254960" y="254960"/>
                </a:lnTo>
                <a:lnTo>
                  <a:pt x="238570" y="266010"/>
                </a:lnTo>
                <a:lnTo>
                  <a:pt x="60134" y="266010"/>
                </a:lnTo>
                <a:lnTo>
                  <a:pt x="43744" y="254960"/>
                </a:lnTo>
                <a:cubicBezTo>
                  <a:pt x="16717" y="227933"/>
                  <a:pt x="0" y="190595"/>
                  <a:pt x="0" y="149352"/>
                </a:cubicBezTo>
                <a:cubicBezTo>
                  <a:pt x="0" y="66867"/>
                  <a:pt x="66867" y="0"/>
                  <a:pt x="149352" y="0"/>
                </a:cubicBezTo>
                <a:close/>
              </a:path>
            </a:pathLst>
          </a:custGeom>
        </p:spPr>
      </p:pic>
      <p:sp>
        <p:nvSpPr>
          <p:cNvPr id="69" name="Rounded Rectangle 16">
            <a:extLst>
              <a:ext uri="{FF2B5EF4-FFF2-40B4-BE49-F238E27FC236}">
                <a16:creationId xmlns:a16="http://schemas.microsoft.com/office/drawing/2014/main" id="{13714E26-36DF-004A-24B1-8E60BE3E5119}"/>
              </a:ext>
            </a:extLst>
          </p:cNvPr>
          <p:cNvSpPr/>
          <p:nvPr/>
        </p:nvSpPr>
        <p:spPr>
          <a:xfrm>
            <a:off x="6693408" y="1204930"/>
            <a:ext cx="3171952" cy="3547872"/>
          </a:xfrm>
          <a:prstGeom prst="roundRect">
            <a:avLst>
              <a:gd name="adj" fmla="val 8362"/>
            </a:avLst>
          </a:prstGeom>
          <a:solidFill>
            <a:srgbClr val="0F2239"/>
          </a:solidFill>
          <a:ln w="12700">
            <a:solidFill>
              <a:srgbClr val="27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4969A0-74EA-3256-DF0F-A8204F2F6D34}"/>
              </a:ext>
            </a:extLst>
          </p:cNvPr>
          <p:cNvSpPr txBox="1"/>
          <p:nvPr/>
        </p:nvSpPr>
        <p:spPr>
          <a:xfrm>
            <a:off x="7022592" y="150668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dirty="0">
                <a:solidFill>
                  <a:srgbClr val="F4F7FB"/>
                </a:solidFill>
                <a:latin typeface="Consolas"/>
              </a:rPr>
              <a:t>&gt; price(bond)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808BF8-C907-4172-81BD-5C885503A58B}"/>
              </a:ext>
            </a:extLst>
          </p:cNvPr>
          <p:cNvSpPr txBox="1"/>
          <p:nvPr/>
        </p:nvSpPr>
        <p:spPr>
          <a:xfrm>
            <a:off x="7022592" y="2055322"/>
            <a:ext cx="2651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E3EAF1"/>
                </a:solidFill>
                <a:latin typeface="Consolas"/>
              </a:rPr>
              <a:t>Price       98.42
Spread      125 bps
Duration    5.8
Convexity   0.42</a:t>
            </a:r>
          </a:p>
        </p:txBody>
      </p:sp>
      <p:cxnSp>
        <p:nvCxnSpPr>
          <p:cNvPr id="72" name="Connector 19">
            <a:extLst>
              <a:ext uri="{FF2B5EF4-FFF2-40B4-BE49-F238E27FC236}">
                <a16:creationId xmlns:a16="http://schemas.microsoft.com/office/drawing/2014/main" id="{835B94EC-C1E0-C865-2089-4136AFB39E16}"/>
              </a:ext>
            </a:extLst>
          </p:cNvPr>
          <p:cNvCxnSpPr>
            <a:cxnSpLocks/>
          </p:cNvCxnSpPr>
          <p:nvPr/>
        </p:nvCxnSpPr>
        <p:spPr>
          <a:xfrm>
            <a:off x="7022592" y="3820114"/>
            <a:ext cx="2517648" cy="0"/>
          </a:xfrm>
          <a:prstGeom prst="line">
            <a:avLst/>
          </a:prstGeom>
          <a:ln w="10160">
            <a:solidFill>
              <a:srgbClr val="275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8FA5886-79FB-1EA1-E6D0-86AF4DB5BE09}"/>
              </a:ext>
            </a:extLst>
          </p:cNvPr>
          <p:cNvSpPr txBox="1"/>
          <p:nvPr/>
        </p:nvSpPr>
        <p:spPr>
          <a:xfrm>
            <a:off x="7022592" y="4048714"/>
            <a:ext cx="257860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2C9E5"/>
                </a:solidFill>
                <a:latin typeface="Aptos"/>
              </a:rPr>
              <a:t>Same calculation engine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F3F5DD-8912-0D74-0091-34ADA0DA1D5F}"/>
              </a:ext>
            </a:extLst>
          </p:cNvPr>
          <p:cNvSpPr txBox="1"/>
          <p:nvPr/>
        </p:nvSpPr>
        <p:spPr>
          <a:xfrm>
            <a:off x="7022592" y="4368754"/>
            <a:ext cx="263956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D6DFE8"/>
                </a:solidFill>
                <a:latin typeface="Aptos"/>
              </a:rPr>
              <a:t>Excel  •  CLI  •  API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DFF50A-C7B6-9C70-C616-1D264EBFA873}"/>
              </a:ext>
            </a:extLst>
          </p:cNvPr>
          <p:cNvSpPr txBox="1"/>
          <p:nvPr/>
        </p:nvSpPr>
        <p:spPr>
          <a:xfrm>
            <a:off x="7446264" y="1239982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22C9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Illustrative Output</a:t>
            </a:r>
            <a:endParaRPr sz="1400" b="1" i="0" dirty="0">
              <a:solidFill>
                <a:srgbClr val="22C9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35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9499-820F-DC21-E890-45180DA6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0">
            <a:extLst>
              <a:ext uri="{FF2B5EF4-FFF2-40B4-BE49-F238E27FC236}">
                <a16:creationId xmlns:a16="http://schemas.microsoft.com/office/drawing/2014/main" id="{B62C092B-05FB-3C27-50A1-67746A3045E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2,260 Securities, 81% of the Portfolio Is Complete or Engine-Ready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8DB5C528-DD34-8501-100E-296C617F6212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A20C914C-304D-580E-A80A-94292644FD0A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nector 16">
            <a:extLst>
              <a:ext uri="{FF2B5EF4-FFF2-40B4-BE49-F238E27FC236}">
                <a16:creationId xmlns:a16="http://schemas.microsoft.com/office/drawing/2014/main" id="{0320911F-B006-F6BE-3A7C-CC28CF07E62B}"/>
              </a:ext>
            </a:extLst>
          </p:cNvPr>
          <p:cNvCxnSpPr/>
          <p:nvPr/>
        </p:nvCxnSpPr>
        <p:spPr>
          <a:xfrm>
            <a:off x="804672" y="3730752"/>
            <a:ext cx="10561320" cy="0"/>
          </a:xfrm>
          <a:prstGeom prst="line">
            <a:avLst/>
          </a:prstGeom>
          <a:ln w="10160">
            <a:solidFill>
              <a:srgbClr val="22C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9822CD-6241-020E-B495-0F59ACFA25CE}"/>
              </a:ext>
            </a:extLst>
          </p:cNvPr>
          <p:cNvSpPr txBox="1"/>
          <p:nvPr/>
        </p:nvSpPr>
        <p:spPr>
          <a:xfrm>
            <a:off x="868680" y="4050791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C9E5"/>
                </a:solidFill>
                <a:latin typeface="Aptos"/>
              </a:rPr>
              <a:t>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BFE0C-7372-2368-3009-2BA874F7790D}"/>
              </a:ext>
            </a:extLst>
          </p:cNvPr>
          <p:cNvSpPr txBox="1"/>
          <p:nvPr/>
        </p:nvSpPr>
        <p:spPr>
          <a:xfrm>
            <a:off x="1170432" y="4091939"/>
            <a:ext cx="9784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D6DF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2,260 securities across thirteen categories. Six categories are complete, representing 42% of the portfolio</a:t>
            </a:r>
            <a:endParaRPr sz="1200" b="0" i="0" dirty="0">
              <a:solidFill>
                <a:srgbClr val="D6DF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C9B5A-7177-88A5-75DA-69975A486935}"/>
              </a:ext>
            </a:extLst>
          </p:cNvPr>
          <p:cNvSpPr txBox="1"/>
          <p:nvPr/>
        </p:nvSpPr>
        <p:spPr>
          <a:xfrm>
            <a:off x="868680" y="4690872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2C9E5"/>
                </a:solidFill>
                <a:latin typeface="Aptos"/>
              </a:rPr>
              <a:t>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3A9ED-FD31-AF04-797F-F8A6C30991D3}"/>
              </a:ext>
            </a:extLst>
          </p:cNvPr>
          <p:cNvSpPr txBox="1"/>
          <p:nvPr/>
        </p:nvSpPr>
        <p:spPr>
          <a:xfrm>
            <a:off x="1170432" y="4721352"/>
            <a:ext cx="9784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>
              <a:defRPr sz="1050" b="0" i="0">
                <a:solidFill>
                  <a:srgbClr val="D6DFE8"/>
                </a:solidFill>
                <a:latin typeface="Aptos"/>
              </a:defRPr>
            </a:lvl1pPr>
          </a:lstStyle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Of the 949 securities in completed categories, 766 are priced by the new engine. The remaining 183 are individually identified, with most lacking required bond terms in the source records.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/>
        </p:nvGraphicFramePr>
        <p:xfrm>
          <a:off x="1631400" y="1365282"/>
          <a:ext cx="6547400" cy="2046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6596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251E-ED1F-9904-0039-C1BE6917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0">
            <a:extLst>
              <a:ext uri="{FF2B5EF4-FFF2-40B4-BE49-F238E27FC236}">
                <a16:creationId xmlns:a16="http://schemas.microsoft.com/office/drawing/2014/main" id="{11DB4F2D-8E73-6AE0-5DEC-BB6499C58552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Progress by Instrument Class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8A3B7BB2-FFB1-D67A-469F-441B9867DAC8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ED71B136-D5BB-4E4E-3FAE-5EDFB1D77ECE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F267DEA-8126-2AC2-5EB4-7F219A55B2B2}"/>
              </a:ext>
            </a:extLst>
          </p:cNvPr>
          <p:cNvGraphicFramePr>
            <a:graphicFrameLocks noGrp="1"/>
          </p:cNvGraphicFramePr>
          <p:nvPr/>
        </p:nvGraphicFramePr>
        <p:xfrm>
          <a:off x="2198153" y="1206365"/>
          <a:ext cx="5970487" cy="5021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326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ACAE8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CAE8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CAE8"/>
                          </a:solidFill>
                          <a:latin typeface="Aptos"/>
                        </a:rPr>
                        <a:t>Lines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CAE8"/>
                          </a:solidFill>
                          <a:latin typeface="Aptos"/>
                        </a:rPr>
                        <a:t>Securities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CAE8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Corporate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811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732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Government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153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147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Government Agencies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Index-Linked Government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Guaranteed Fixed Income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Municipal / Provincial Bonds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65639" marR="49229" marT="24615" marB="164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Government Mortgage-Backed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888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882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E9BF5"/>
                          </a:solidFill>
                          <a:latin typeface="Aptos"/>
                        </a:rPr>
                        <a:t>Engine built — next</a:t>
                      </a:r>
                    </a:p>
                  </a:txBody>
                  <a:tcPr marL="65639" marR="49229" marT="24615" marB="16409" anchor="ctr">
                    <a:solidFill>
                      <a:srgbClr val="194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EFF4F9"/>
                          </a:solidFill>
                          <a:latin typeface="Aptos"/>
                        </a:rPr>
                        <a:t>Non-Government C.M.O.s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265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264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chemeClr val="bg2"/>
                          </a:solidFill>
                          <a:latin typeface="Aptos"/>
                        </a:rPr>
                        <a:t>Scoped, not started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Asset-Backed Securities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chemeClr val="bg2"/>
                          </a:solidFill>
                          <a:latin typeface="Aptos"/>
                        </a:rPr>
                        <a:t>Scoped, not started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Commercial Mortgage-Backed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69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chemeClr val="bg2"/>
                          </a:solidFill>
                          <a:latin typeface="Aptos"/>
                        </a:rPr>
                        <a:t>Scoped, not started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FI Derivatives — Futures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chemeClr val="bg2"/>
                          </a:solidFill>
                          <a:latin typeface="Aptos"/>
                        </a:rPr>
                        <a:t>Scoped, not started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FI Derivatives — Options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chemeClr val="bg2"/>
                          </a:solidFill>
                          <a:latin typeface="Aptos"/>
                        </a:rPr>
                        <a:t>Scoped, not started</a:t>
                      </a:r>
                    </a:p>
                  </a:txBody>
                  <a:tcPr marL="65639" marR="49229" marT="24615" marB="16409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11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Other Fixed Income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EFF4F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A6B4C3"/>
                          </a:solidFill>
                          <a:latin typeface="Aptos"/>
                        </a:rPr>
                        <a:t>Out of scope</a:t>
                      </a:r>
                    </a:p>
                  </a:txBody>
                  <a:tcPr marL="65639" marR="49229" marT="24615" marB="16409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326">
                <a:tc>
                  <a:txBody>
                    <a:bodyPr/>
                    <a:lstStyle/>
                    <a:p>
                      <a:pPr algn="ctr"/>
                      <a:endParaRPr sz="2800"/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FF4F9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FF4F9"/>
                          </a:solidFill>
                          <a:latin typeface="Aptos"/>
                        </a:rPr>
                        <a:t>2,366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FF4F9"/>
                          </a:solidFill>
                          <a:latin typeface="Aptos"/>
                        </a:rPr>
                        <a:t>2,260</a:t>
                      </a:r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800" dirty="0"/>
                    </a:p>
                  </a:txBody>
                  <a:tcPr marL="65639" marR="49229" marT="24615" marB="16409" anchor="ctr">
                    <a:solidFill>
                      <a:srgbClr val="163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4347-C3EC-02C5-60CE-9DA65797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0">
            <a:extLst>
              <a:ext uri="{FF2B5EF4-FFF2-40B4-BE49-F238E27FC236}">
                <a16:creationId xmlns:a16="http://schemas.microsoft.com/office/drawing/2014/main" id="{B35A3BDD-7D8C-115A-7B8F-6907AC68417E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Checks Validate the New Engine</a:t>
            </a:r>
            <a:endParaRPr lang="en-US" sz="24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9696F3DE-4D0C-1A98-3E8F-C4B41312AB68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sp>
        <p:nvSpPr>
          <p:cNvPr id="9" name="PageNumber5">
            <a:extLst>
              <a:ext uri="{FF2B5EF4-FFF2-40B4-BE49-F238E27FC236}">
                <a16:creationId xmlns:a16="http://schemas.microsoft.com/office/drawing/2014/main" id="{32B3BC3B-84BA-4A2E-4147-DA89E81316D4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271E9333-FE89-B144-8D5E-10A6702F6786}"/>
              </a:ext>
            </a:extLst>
          </p:cNvPr>
          <p:cNvSpPr/>
          <p:nvPr/>
        </p:nvSpPr>
        <p:spPr>
          <a:xfrm>
            <a:off x="502920" y="1143000"/>
            <a:ext cx="3611880" cy="4434840"/>
          </a:xfrm>
          <a:prstGeom prst="roundRect">
            <a:avLst/>
          </a:prstGeom>
          <a:solidFill>
            <a:srgbClr val="0C344F"/>
          </a:solidFill>
          <a:ln w="15875">
            <a:solidFill>
              <a:srgbClr val="15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A5BA4-B37A-321A-E629-74DC1F376329}"/>
              </a:ext>
            </a:extLst>
          </p:cNvPr>
          <p:cNvSpPr txBox="1"/>
          <p:nvPr/>
        </p:nvSpPr>
        <p:spPr>
          <a:xfrm>
            <a:off x="1252728" y="130759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9CCE7"/>
                </a:solidFill>
                <a:latin typeface="Aptos"/>
              </a:rPr>
              <a:t>Sanity Check</a:t>
            </a:r>
            <a:endParaRPr sz="1500" b="1" dirty="0">
              <a:solidFill>
                <a:srgbClr val="19CCE7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D9F26-F3F6-A05E-4026-1D4226B9FFD5}"/>
              </a:ext>
            </a:extLst>
          </p:cNvPr>
          <p:cNvSpPr txBox="1"/>
          <p:nvPr/>
        </p:nvSpPr>
        <p:spPr>
          <a:xfrm>
            <a:off x="704088" y="1947672"/>
            <a:ext cx="3209544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F1F6F9"/>
                </a:solidFill>
                <a:latin typeface="Aptos"/>
              </a:rPr>
              <a:t>For a government's own bond, there should be no spread — it is the government curve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498CF2-9E9A-3BA6-9C30-F245695CA513}"/>
              </a:ext>
            </a:extLst>
          </p:cNvPr>
          <p:cNvSpPr txBox="1"/>
          <p:nvPr/>
        </p:nvSpPr>
        <p:spPr>
          <a:xfrm>
            <a:off x="704088" y="2792035"/>
            <a:ext cx="32095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DDE6ED"/>
                </a:solidFill>
                <a:latin typeface="Aptos"/>
              </a:rPr>
              <a:t>Japan's come out at 0.0 basis points, the UK's at 4.4 — the thermometer reads right in ice water</a:t>
            </a:r>
            <a:endParaRPr sz="1400" b="0" dirty="0">
              <a:solidFill>
                <a:srgbClr val="DDE6ED"/>
              </a:solidFill>
              <a:latin typeface="Apto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D37EA-3046-7652-4975-1558D8544B6E}"/>
              </a:ext>
            </a:extLst>
          </p:cNvPr>
          <p:cNvSpPr txBox="1"/>
          <p:nvPr/>
        </p:nvSpPr>
        <p:spPr>
          <a:xfrm>
            <a:off x="704088" y="4846320"/>
            <a:ext cx="320954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CCE7"/>
                </a:solidFill>
                <a:latin typeface="Aptos"/>
              </a:rPr>
              <a:t>Japan: 0.00%
UK: 0.04%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F2D77283-9D2C-D667-99E3-742B43D1FA94}"/>
              </a:ext>
            </a:extLst>
          </p:cNvPr>
          <p:cNvSpPr/>
          <p:nvPr/>
        </p:nvSpPr>
        <p:spPr>
          <a:xfrm>
            <a:off x="4315968" y="1143000"/>
            <a:ext cx="3611880" cy="4434840"/>
          </a:xfrm>
          <a:prstGeom prst="roundRect">
            <a:avLst/>
          </a:prstGeom>
          <a:solidFill>
            <a:srgbClr val="0C344F"/>
          </a:solidFill>
          <a:ln w="15875">
            <a:solidFill>
              <a:srgbClr val="15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5EC84E-94C6-4543-488E-021D3A2D35A4}"/>
              </a:ext>
            </a:extLst>
          </p:cNvPr>
          <p:cNvSpPr txBox="1"/>
          <p:nvPr/>
        </p:nvSpPr>
        <p:spPr>
          <a:xfrm>
            <a:off x="5065776" y="130759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9CCE7"/>
                </a:solidFill>
                <a:latin typeface="Aptos"/>
              </a:rPr>
              <a:t>Independent Check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FE0DA6-96DA-B3D3-32AC-138C99675974}"/>
              </a:ext>
            </a:extLst>
          </p:cNvPr>
          <p:cNvSpPr txBox="1"/>
          <p:nvPr/>
        </p:nvSpPr>
        <p:spPr>
          <a:xfrm>
            <a:off x="4517136" y="1947672"/>
            <a:ext cx="320954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1F6F9"/>
                </a:solidFill>
                <a:latin typeface="Aptos"/>
              </a:rPr>
              <a:t>Match an external s</a:t>
            </a:r>
            <a:r>
              <a:rPr lang="en-US" sz="1500" b="1" dirty="0">
                <a:solidFill>
                  <a:srgbClr val="F1F6F9"/>
                </a:solidFill>
                <a:latin typeface="Aptos"/>
              </a:rPr>
              <a:t>ystem</a:t>
            </a:r>
            <a:endParaRPr sz="1500" b="1" dirty="0">
              <a:solidFill>
                <a:srgbClr val="F1F6F9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EE3931-68E9-9F75-EBF7-CAB29B4FFC49}"/>
              </a:ext>
            </a:extLst>
          </p:cNvPr>
          <p:cNvSpPr txBox="1"/>
          <p:nvPr/>
        </p:nvSpPr>
        <p:spPr>
          <a:xfrm>
            <a:off x="4517136" y="2587752"/>
            <a:ext cx="3209544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DDE6ED"/>
                </a:solidFill>
                <a:latin typeface="Aptos"/>
              </a:rPr>
              <a:t>Where the client's custodian independently reports a risk figure, our system agrees — four of five agency bonds, with sensitivities of one to nine years, match within 0.75 years.</a:t>
            </a:r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3E61EF5A-A076-8035-BB81-731C9EF55EB8}"/>
              </a:ext>
            </a:extLst>
          </p:cNvPr>
          <p:cNvSpPr/>
          <p:nvPr/>
        </p:nvSpPr>
        <p:spPr>
          <a:xfrm>
            <a:off x="8129016" y="1143000"/>
            <a:ext cx="3611880" cy="4434840"/>
          </a:xfrm>
          <a:prstGeom prst="roundRect">
            <a:avLst/>
          </a:prstGeom>
          <a:solidFill>
            <a:srgbClr val="0C344F"/>
          </a:solidFill>
          <a:ln w="15875">
            <a:solidFill>
              <a:srgbClr val="156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41E0B1-629B-0A9A-4303-4279E5B67869}"/>
              </a:ext>
            </a:extLst>
          </p:cNvPr>
          <p:cNvSpPr txBox="1"/>
          <p:nvPr/>
        </p:nvSpPr>
        <p:spPr>
          <a:xfrm>
            <a:off x="8878824" y="130759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9CCE7"/>
                </a:solidFill>
                <a:latin typeface="Aptos"/>
              </a:rPr>
              <a:t>Validation Check</a:t>
            </a:r>
            <a:endParaRPr sz="1500" b="1" dirty="0">
              <a:solidFill>
                <a:srgbClr val="19CCE7"/>
              </a:solidFill>
              <a:latin typeface="Apto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9D83A1-3799-BB4D-1E6B-34D71860DD67}"/>
              </a:ext>
            </a:extLst>
          </p:cNvPr>
          <p:cNvSpPr txBox="1"/>
          <p:nvPr/>
        </p:nvSpPr>
        <p:spPr>
          <a:xfrm>
            <a:off x="8330184" y="1947672"/>
            <a:ext cx="320954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6F9"/>
                </a:solidFill>
                <a:latin typeface="Aptos"/>
              </a:rPr>
              <a:t>Recompute known values.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EC43AC-4708-B5B0-1B2F-1917A891D751}"/>
              </a:ext>
            </a:extLst>
          </p:cNvPr>
          <p:cNvSpPr txBox="1"/>
          <p:nvPr/>
        </p:nvSpPr>
        <p:spPr>
          <a:xfrm>
            <a:off x="8330184" y="2587752"/>
            <a:ext cx="3209544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DDE6ED"/>
                </a:solidFill>
                <a:latin typeface="Aptos"/>
              </a:rPr>
              <a:t>The team rebuilt the client's inflation adjustments from published government data: thirteen US inflation-linked bonds, matching to six parts in a million.</a:t>
            </a:r>
            <a:endParaRPr sz="1400" b="0" dirty="0">
              <a:solidFill>
                <a:srgbClr val="DDE6ED"/>
              </a:solidFill>
              <a:latin typeface="Aptos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2B6F6D38-D297-3DBD-E545-B8A99662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86" y="1224264"/>
            <a:ext cx="435300" cy="53241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DAA3E78-AEAE-74E6-788E-0A5CD6885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520" y="1307592"/>
            <a:ext cx="518256" cy="53848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E106ECD-57F1-6139-6EF3-4890621B8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50" y="1322166"/>
            <a:ext cx="544174" cy="44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6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0712AAD-5335-0263-A9E8-53C4D35C7DD0}"/>
              </a:ext>
            </a:extLst>
          </p:cNvPr>
          <p:cNvSpPr/>
          <p:nvPr/>
        </p:nvSpPr>
        <p:spPr>
          <a:xfrm>
            <a:off x="786655" y="110974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0C70C-3DFB-F2FF-60D6-31070B8D576C}"/>
              </a:ext>
            </a:extLst>
          </p:cNvPr>
          <p:cNvSpPr txBox="1"/>
          <p:nvPr/>
        </p:nvSpPr>
        <p:spPr>
          <a:xfrm>
            <a:off x="1627903" y="1091456"/>
            <a:ext cx="38395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mortgage-backed book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938C3-AEFF-1BDC-440E-F1617D88D1F1}"/>
              </a:ext>
            </a:extLst>
          </p:cNvPr>
          <p:cNvSpPr txBox="1"/>
          <p:nvPr/>
        </p:nvSpPr>
        <p:spPr>
          <a:xfrm>
            <a:off x="1627903" y="1466360"/>
            <a:ext cx="5579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 is built and tested; needs terms data, not development.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718FFD-C067-05FC-2C06-178F5E4BE7C2}"/>
              </a:ext>
            </a:extLst>
          </p:cNvPr>
          <p:cNvSpPr/>
          <p:nvPr/>
        </p:nvSpPr>
        <p:spPr>
          <a:xfrm>
            <a:off x="786655" y="252706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CD299D-5E23-8CA6-4DAE-18C945A2D114}"/>
              </a:ext>
            </a:extLst>
          </p:cNvPr>
          <p:cNvSpPr txBox="1"/>
          <p:nvPr/>
        </p:nvSpPr>
        <p:spPr>
          <a:xfrm>
            <a:off x="1627903" y="2508776"/>
            <a:ext cx="37497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Finish remaining pooled classes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AA00C6-A0A1-5C61-F673-0FC55B6EE6D3}"/>
              </a:ext>
            </a:extLst>
          </p:cNvPr>
          <p:cNvSpPr txBox="1"/>
          <p:nvPr/>
        </p:nvSpPr>
        <p:spPr>
          <a:xfrm>
            <a:off x="1627903" y="2883680"/>
            <a:ext cx="55798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Mortgage obligations, asset-backed and commercial mortgage-backed;
each reuses existing machinery.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27AC56-FAD6-5DB2-292B-93EEEDDE4DFE}"/>
              </a:ext>
            </a:extLst>
          </p:cNvPr>
          <p:cNvSpPr/>
          <p:nvPr/>
        </p:nvSpPr>
        <p:spPr>
          <a:xfrm>
            <a:off x="786655" y="394438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8BD25-253B-AAB8-079E-F5CA38854B22}"/>
              </a:ext>
            </a:extLst>
          </p:cNvPr>
          <p:cNvSpPr txBox="1"/>
          <p:nvPr/>
        </p:nvSpPr>
        <p:spPr>
          <a:xfrm>
            <a:off x="1627903" y="3926096"/>
            <a:ext cx="41216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as a service and run in parallel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7CAE0-3C3F-2ABB-BB65-D262AE9F7DC3}"/>
              </a:ext>
            </a:extLst>
          </p:cNvPr>
          <p:cNvSpPr txBox="1"/>
          <p:nvPr/>
        </p:nvSpPr>
        <p:spPr>
          <a:xfrm>
            <a:off x="1627903" y="4301000"/>
            <a:ext cx="557987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Ryse’s engineer. Defined work, not a rewrite — system already
answers one request at a time.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BDE64C-08B5-786B-CA69-CBC694830060}"/>
              </a:ext>
            </a:extLst>
          </p:cNvPr>
          <p:cNvSpPr/>
          <p:nvPr/>
        </p:nvSpPr>
        <p:spPr>
          <a:xfrm>
            <a:off x="786655" y="5361704"/>
            <a:ext cx="566928" cy="566928"/>
          </a:xfrm>
          <a:prstGeom prst="ellipse">
            <a:avLst/>
          </a:prstGeom>
          <a:noFill/>
          <a:ln w="25400">
            <a:solidFill>
              <a:srgbClr val="15C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5CF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ED969D-D0B2-9444-DA29-977A4036223F}"/>
              </a:ext>
            </a:extLst>
          </p:cNvPr>
          <p:cNvSpPr txBox="1"/>
          <p:nvPr/>
        </p:nvSpPr>
        <p:spPr>
          <a:xfrm>
            <a:off x="1627903" y="5343416"/>
            <a:ext cx="351891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to </a:t>
            </a:r>
            <a:r>
              <a:rPr sz="1800" b="1" dirty="0">
                <a:solidFill>
                  <a:srgbClr val="F4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 risk layer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217E2F-ACAB-2F99-DD2C-572FA10BB7B5}"/>
              </a:ext>
            </a:extLst>
          </p:cNvPr>
          <p:cNvSpPr txBox="1"/>
          <p:nvPr/>
        </p:nvSpPr>
        <p:spPr>
          <a:xfrm>
            <a:off x="1627903" y="5718320"/>
            <a:ext cx="5579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4D3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coverage is complete.</a:t>
            </a: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8F0B102-D6F7-C669-FAC8-7D5CF0ED660D}"/>
              </a:ext>
            </a:extLst>
          </p:cNvPr>
          <p:cNvSpPr txBox="1"/>
          <p:nvPr/>
        </p:nvSpPr>
        <p:spPr>
          <a:xfrm>
            <a:off x="765141" y="500949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Scale, Deliver</a:t>
            </a:r>
            <a:endParaRPr lang="en-US" sz="24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B58EAED-150A-A56F-9A3F-EAD9990A3E44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  <p:cxnSp>
        <p:nvCxnSpPr>
          <p:cNvPr id="46" name="Connector 16">
            <a:extLst>
              <a:ext uri="{FF2B5EF4-FFF2-40B4-BE49-F238E27FC236}">
                <a16:creationId xmlns:a16="http://schemas.microsoft.com/office/drawing/2014/main" id="{657367D3-5BA7-D7B8-9F06-A5B495653FB6}"/>
              </a:ext>
            </a:extLst>
          </p:cNvPr>
          <p:cNvCxnSpPr>
            <a:cxnSpLocks/>
          </p:cNvCxnSpPr>
          <p:nvPr/>
        </p:nvCxnSpPr>
        <p:spPr>
          <a:xfrm>
            <a:off x="7319772" y="1091456"/>
            <a:ext cx="0" cy="4919252"/>
          </a:xfrm>
          <a:prstGeom prst="line">
            <a:avLst/>
          </a:prstGeom>
          <a:ln w="10160">
            <a:solidFill>
              <a:srgbClr val="22C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587002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594360"/>
            <a:ext cx="2103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1FC6DE"/>
                </a:solidFill>
                <a:latin typeface="Aptos"/>
              </a:defRPr>
            </a:pPr>
            <a:r>
              <a:t>MBS</a:t>
            </a:r>
            <a:br/>
            <a:r>
              <a:t>ABS</a:t>
            </a:r>
            <a:br/>
            <a:r>
              <a:t>CMO</a:t>
            </a:r>
            <a:br/>
            <a:r>
              <a:t>CMBS</a:t>
            </a:r>
            <a:br/>
            <a:r>
              <a:t>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3240" y="13533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08FD0"/>
                </a:solidFill>
                <a:latin typeface="Aptos"/>
              </a:defRPr>
            </a:pPr>
            <a:r>
              <a:t>Structured Securities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0" y="1847088"/>
            <a:ext cx="8046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5F7FA"/>
                </a:solidFill>
                <a:latin typeface="Aptos"/>
              </a:defRPr>
            </a:pPr>
            <a:r>
              <a:t>Pricing &amp; Risk</a:t>
            </a:r>
            <a:br/>
            <a:r>
              <a:t>Modeling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672" y="324612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1BECD"/>
                </a:solidFill>
                <a:latin typeface="Aptos"/>
              </a:defRPr>
            </a:pPr>
            <a:r>
              <a:t>A phased approach: establish portfolio risk quickly, then enhance the model with Bloomberg and empirical cash-flow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Three Approaches — Different Levels of Detail, Cost and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246120" cy="44348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72768"/>
            <a:ext cx="2834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1  Reduced-Form Market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1BECD"/>
                </a:solidFill>
                <a:latin typeface="Aptos"/>
              </a:defRPr>
            </a:pPr>
            <a:r>
              <a:t>Ryse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1325880"/>
            <a:ext cx="3246120" cy="44348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72768"/>
            <a:ext cx="2834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2  Bloomberg + Empirical Enhancement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659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1BECD"/>
                </a:solidFill>
                <a:latin typeface="Aptos"/>
              </a:defRPr>
            </a:pPr>
            <a:r>
              <a:t>Next-round enhancement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0104" y="1325880"/>
            <a:ext cx="3246120" cy="44348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1572768"/>
            <a:ext cx="2834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3  Full Structural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19659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B1BECD"/>
                </a:solidFill>
                <a:latin typeface="Aptos"/>
              </a:defRPr>
            </a:pPr>
            <a:r>
              <a:t>Intex / deal-model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6888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Use custodian market price as the anchor.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Represent the security with simplified bond-equivalent cash flows.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Calibrate an implied spread, then shock rates and spreads.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Fastest path to portfolio VaR, ES and stress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246888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Build on the historical Bloomberg extraction already developed.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Add principal paydowns, WAL and other available structured analytics.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Improve prepayment, contraction and extension behavior empirically.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Moderate effort; improves the reduced-form model rather than replacing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2468880"/>
            <a:ext cx="2788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Model collateral, CPR/CDR, severity, recoveries and deal waterfalls.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Generate scenario-dependent tranche cash flows.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Highest structural fidelity.</a:t>
            </a:r>
          </a:p>
          <a:p>
            <a:pPr>
              <a:spcAft>
                <a:spcPts val="7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Highest licensing, implementation and operating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2531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5F7FA"/>
                </a:solidFill>
                <a:latin typeface="Aptos"/>
              </a:defRPr>
            </a:pPr>
            <a:r>
              <a:t>Recommendation: implement Level 1 now; use the existing engineering work and Bloomberg data to build Level 2; reserve Level 3 for cases requiring full deal-level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Quick Project — Put the Remaining Structured Securities Into Portfolio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Custodian</a:t>
            </a:r>
            <a:br/>
            <a:r>
              <a:t>Market Price</a:t>
            </a:r>
          </a:p>
        </p:txBody>
      </p:sp>
      <p:sp>
        <p:nvSpPr>
          <p:cNvPr id="7" name="Chevron 6"/>
          <p:cNvSpPr/>
          <p:nvPr/>
        </p:nvSpPr>
        <p:spPr>
          <a:xfrm>
            <a:off x="2276856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70048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Bloomberg</a:t>
            </a:r>
            <a:br/>
            <a:r>
              <a:t>Contractual Terms</a:t>
            </a:r>
          </a:p>
        </p:txBody>
      </p:sp>
      <p:sp>
        <p:nvSpPr>
          <p:cNvPr id="10" name="Chevron 9"/>
          <p:cNvSpPr/>
          <p:nvPr/>
        </p:nvSpPr>
        <p:spPr>
          <a:xfrm>
            <a:off x="4443983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37176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Bond-Equivalent</a:t>
            </a:r>
            <a:br/>
            <a:r>
              <a:t>Cash Flows</a:t>
            </a:r>
          </a:p>
        </p:txBody>
      </p:sp>
      <p:sp>
        <p:nvSpPr>
          <p:cNvPr id="13" name="Chevron 12"/>
          <p:cNvSpPr/>
          <p:nvPr/>
        </p:nvSpPr>
        <p:spPr>
          <a:xfrm>
            <a:off x="6611112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04304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7456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Calibrate</a:t>
            </a:r>
            <a:br/>
            <a:r>
              <a:t>Implied Spread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1755648"/>
            <a:ext cx="256032" cy="22860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71432" y="1417320"/>
            <a:ext cx="1691640" cy="932688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1627632"/>
            <a:ext cx="154533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5F7FA"/>
                </a:solidFill>
                <a:latin typeface="Aptos"/>
              </a:defRPr>
            </a:pPr>
            <a:r>
              <a:t>Shock Rates</a:t>
            </a:r>
            <a:br/>
            <a:r>
              <a:t>+ Spreads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788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Why this is the expedited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00400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The portfolio already has an observed custodian price.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No need to rebuild deal waterfalls before risk can be calculated.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Uses the same rate/spread simulation architecture already developed for fixed income.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Scales naturally to Monte Carlo and portfolio-level stress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788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What it captures — and what it does 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200400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The starting price reflects the market's aggregate assessment of structure, credit, liquidity and prepayment expectations.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Spread shocks capture changes in required market compensation for risk.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Cash flows do not yet respond explicitly to CPR, defaults, extension/contraction or waterfall rules.</a:t>
            </a:r>
          </a:p>
          <a:p>
            <a:pPr>
              <a:spcAft>
                <a:spcPts val="700"/>
              </a:spcAft>
              <a:defRPr sz="1220">
                <a:solidFill>
                  <a:srgbClr val="F5F7FA"/>
                </a:solidFill>
                <a:latin typeface="Aptos"/>
              </a:defRPr>
            </a:pPr>
            <a:r>
              <a:t>• Sensitivities are therefore bond-equivalent risk measures, not full structural analytics.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561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Objective: obtain a consistent, market-calibrated risk estimate now — without claiming to reproduce the security's full structural 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Step 1 — Use Market Price to Calibrate Today’s Implied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50" b="1">
                <a:solidFill>
                  <a:srgbClr val="F5F7FA"/>
                </a:solidFill>
                <a:latin typeface="Aptos"/>
              </a:defRPr>
            </a:pPr>
            <a:r>
              <a:t>The custodian price is the anchor. Ryse solves for the single spread that makes the simplified cash flows reproduce that observed price.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349240" cy="141732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1   Solve the market-implied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4709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Aptos"/>
              </a:defRPr>
            </a:pPr>
            <a:r>
              <a:t>P₀  =  Σₜ  CFₜ × DF(zₜ + s*)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1BECD"/>
                </a:solidFill>
                <a:latin typeface="Aptos"/>
              </a:defRPr>
            </a:pPr>
            <a:r>
              <a:t>Choose s* so that model price P₀ = custodian market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49240" cy="141732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07568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2   Reprice under each risk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542032"/>
            <a:ext cx="4709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  <a:latin typeface="Aptos"/>
              </a:defRPr>
            </a:pPr>
            <a:r>
              <a:t>Pᵢ  =  Σₜ  CFₜ × DF(zₜ,ᵢ + s* + Δsᵢ)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99232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1BECD"/>
                </a:solidFill>
                <a:latin typeface="Aptos"/>
              </a:defRPr>
            </a:pPr>
            <a:r>
              <a:t>Shock the Treasury curve and spread, then calculate a new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11880"/>
            <a:ext cx="6583680" cy="182880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C6DE"/>
                </a:solidFill>
                <a:latin typeface="Aptos"/>
              </a:defRPr>
            </a:pPr>
            <a:r>
              <a:t>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5F7FA"/>
                </a:solidFill>
                <a:latin typeface="Aptos"/>
              </a:defRPr>
            </a:pPr>
            <a:r>
              <a:t>P₀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187952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5F7FA"/>
                </a:solidFill>
                <a:latin typeface="Aptos"/>
              </a:defRPr>
            </a:pPr>
            <a:r>
              <a:t>observed custodian price / calibrated base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5F7FA"/>
                </a:solidFill>
                <a:latin typeface="Aptos"/>
              </a:defRPr>
            </a:pPr>
            <a:r>
              <a:t>CFₜ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434840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5F7FA"/>
                </a:solidFill>
                <a:latin typeface="Aptos"/>
              </a:defRPr>
            </a:pPr>
            <a:r>
              <a:t>simplified contractual cash flow at time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5F7FA"/>
                </a:solidFill>
                <a:latin typeface="Aptos"/>
              </a:defRPr>
            </a:pPr>
            <a:r>
              <a:t>zₜ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681727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5F7FA"/>
                </a:solidFill>
                <a:latin typeface="Aptos"/>
              </a:defRPr>
            </a:pPr>
            <a:r>
              <a:t>Treasury zero rate for maturity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28615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5F7FA"/>
                </a:solidFill>
                <a:latin typeface="Aptos"/>
              </a:defRPr>
            </a:pPr>
            <a:r>
              <a:t>s*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928615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5F7FA"/>
                </a:solidFill>
                <a:latin typeface="Aptos"/>
              </a:defRPr>
            </a:pPr>
            <a:r>
              <a:t>market-implied spread that reconciles the model to P₀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75503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5F7FA"/>
                </a:solidFill>
                <a:latin typeface="Aptos"/>
              </a:defRPr>
            </a:pPr>
            <a:r>
              <a:t>Δsᵢ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175503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F5F7FA"/>
                </a:solidFill>
                <a:latin typeface="Aptos"/>
              </a:defRPr>
            </a:pPr>
            <a:r>
              <a:t>spread shock in scenario 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3611880"/>
            <a:ext cx="4087368" cy="182880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822191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C6DE"/>
                </a:solidFill>
                <a:latin typeface="Aptos"/>
              </a:defRPr>
            </a:pPr>
            <a:r>
              <a:t>Risk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427939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  <a:latin typeface="Aptos"/>
              </a:defRPr>
            </a:pPr>
            <a:r>
              <a:t>ΔPᵢ = Pᵢ − P₀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73659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30" b="0">
                <a:solidFill>
                  <a:srgbClr val="F5F7FA"/>
                </a:solidFill>
                <a:latin typeface="Aptos"/>
              </a:defRPr>
            </a:pPr>
            <a:r>
              <a:t>The distribution of ΔP across scenarios produces VaR, Expected Shortfall and stress losses.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07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B1BECD"/>
                </a:solidFill>
                <a:latin typeface="Aptos"/>
              </a:defRPr>
            </a:pPr>
            <a:r>
              <a:t>Terminology: in the initial Ryse model this is best called an implied or bond-equivalent spread. A true OAS requires explicit modeling of option-dependent cash flows such as prepayments.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Step 2 — From Implied Spread to the Distribution of Portfolio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20" b="1">
                <a:solidFill>
                  <a:srgbClr val="F5F7FA"/>
                </a:solidFill>
                <a:latin typeface="Aptos"/>
              </a:defRPr>
            </a:pPr>
            <a:r>
              <a:t>Calibration gives Ryse today’s starting spread. Risk comes from simulating how both the Treasury curve and that spread can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965960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75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C6DE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70" b="1">
                <a:solidFill>
                  <a:srgbClr val="F5F7FA"/>
                </a:solidFill>
                <a:latin typeface="Aptos"/>
              </a:defRPr>
            </a:pPr>
            <a:r>
              <a:t>P₀ = 96.50</a:t>
            </a:r>
            <a:br/>
            <a:r>
              <a:t>s₀ = 180 bps</a:t>
            </a:r>
          </a:p>
        </p:txBody>
      </p:sp>
      <p:sp>
        <p:nvSpPr>
          <p:cNvPr id="9" name="Chevron 8"/>
          <p:cNvSpPr/>
          <p:nvPr/>
        </p:nvSpPr>
        <p:spPr>
          <a:xfrm>
            <a:off x="2423160" y="2304288"/>
            <a:ext cx="219456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828800"/>
            <a:ext cx="1965960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75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C6DE"/>
                </a:solidFill>
                <a:latin typeface="Aptos"/>
              </a:defRPr>
            </a:pPr>
            <a:r>
              <a:t>Scenario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67712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70" b="1">
                <a:solidFill>
                  <a:srgbClr val="F5F7FA"/>
                </a:solidFill>
                <a:latin typeface="Aptos"/>
              </a:defRPr>
            </a:pPr>
            <a:r>
              <a:t>Treasury curve</a:t>
            </a:r>
            <a:br/>
            <a:r>
              <a:t>zₜ → zₜ,ᵢ</a:t>
            </a:r>
          </a:p>
        </p:txBody>
      </p:sp>
      <p:sp>
        <p:nvSpPr>
          <p:cNvPr id="13" name="Chevron 12"/>
          <p:cNvSpPr/>
          <p:nvPr/>
        </p:nvSpPr>
        <p:spPr>
          <a:xfrm>
            <a:off x="4709160" y="2304288"/>
            <a:ext cx="219456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1828800"/>
            <a:ext cx="1965960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75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C6DE"/>
                </a:solidFill>
                <a:latin typeface="Aptos"/>
              </a:defRPr>
            </a:pPr>
            <a:r>
              <a:t>Scenario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267712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70" b="1">
                <a:solidFill>
                  <a:srgbClr val="F5F7FA"/>
                </a:solidFill>
                <a:latin typeface="Aptos"/>
              </a:defRPr>
            </a:pPr>
            <a:r>
              <a:t>Spread</a:t>
            </a:r>
            <a:br/>
            <a:r>
              <a:t>s₀ → s₀ + Δsᵢ</a:t>
            </a:r>
          </a:p>
        </p:txBody>
      </p:sp>
      <p:sp>
        <p:nvSpPr>
          <p:cNvPr id="17" name="Chevron 16"/>
          <p:cNvSpPr/>
          <p:nvPr/>
        </p:nvSpPr>
        <p:spPr>
          <a:xfrm>
            <a:off x="6995160" y="2304288"/>
            <a:ext cx="219456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828800"/>
            <a:ext cx="1965960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975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C6DE"/>
                </a:solidFill>
                <a:latin typeface="Aptos"/>
              </a:defRPr>
            </a:pPr>
            <a:r>
              <a:t>Reprice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267712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70" b="1">
                <a:solidFill>
                  <a:srgbClr val="F5F7FA"/>
                </a:solidFill>
                <a:latin typeface="Aptos"/>
              </a:defRPr>
            </a:pPr>
            <a:r>
              <a:t>Pᵢ = Σ CFₜ ×</a:t>
            </a:r>
            <a:br/>
            <a:r>
              <a:t>DF(zₜ,ᵢ + s₀ + Δsᵢ)</a:t>
            </a:r>
          </a:p>
        </p:txBody>
      </p:sp>
      <p:sp>
        <p:nvSpPr>
          <p:cNvPr id="21" name="Chevron 20"/>
          <p:cNvSpPr/>
          <p:nvPr/>
        </p:nvSpPr>
        <p:spPr>
          <a:xfrm>
            <a:off x="9281160" y="2304288"/>
            <a:ext cx="219456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55480" y="1828800"/>
            <a:ext cx="1965960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1975104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C6DE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2267712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70" b="1">
                <a:solidFill>
                  <a:srgbClr val="F5F7FA"/>
                </a:solidFill>
                <a:latin typeface="Aptos"/>
              </a:defRPr>
            </a:pPr>
            <a:r>
              <a:t>Rᵢ = (Pᵢ − P₀) / P₀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64992"/>
            <a:ext cx="6720840" cy="205740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584448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C6DE"/>
                </a:solidFill>
                <a:latin typeface="Aptos"/>
              </a:defRPr>
            </a:pPr>
            <a:r>
              <a:t>Illustrative Monte Carlo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05072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1BECD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005072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1BECD"/>
                </a:solidFill>
                <a:latin typeface="Aptos"/>
              </a:defRPr>
            </a:pPr>
            <a:r>
              <a:t>Rate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05072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1BECD"/>
                </a:solidFill>
                <a:latin typeface="Aptos"/>
              </a:defRPr>
            </a:pPr>
            <a:r>
              <a:t>Spread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005072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1BECD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005072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B1BECD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9768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29768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29768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180 bps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429768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96.50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29768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53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553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+25 bps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553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195 bps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553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94.20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5537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−2.4%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09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4809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+75 bps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809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230 bps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4809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89.60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809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−7.2%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06577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506577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+150 bps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06577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350 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506577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78.10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06577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F5F7FA"/>
                </a:solidFill>
                <a:latin typeface="Aptos"/>
              </a:defRPr>
            </a:pPr>
            <a:r>
              <a:t>−19.1%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35240" y="3364992"/>
            <a:ext cx="3886200" cy="205740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82127" y="358444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C6DE"/>
                </a:solidFill>
                <a:latin typeface="Aptos"/>
              </a:defRPr>
            </a:pPr>
            <a:r>
              <a:t>What Ryse gets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04164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20" b="1">
                <a:solidFill>
                  <a:srgbClr val="F5F7FA"/>
                </a:solidFill>
                <a:latin typeface="Aptos"/>
              </a:defRPr>
            </a:pPr>
            <a:r>
              <a:t>Distribution of ΔP / returns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440740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FC6D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4700016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30" b="1">
                <a:solidFill>
                  <a:srgbClr val="F5F7FA"/>
                </a:solidFill>
                <a:latin typeface="Aptos"/>
              </a:defRPr>
            </a:pPr>
            <a:r>
              <a:t>VaR  •  Expected Shortfall</a:t>
            </a:r>
            <a:br/>
            <a:r>
              <a:t>Stress Loss  •  Risk Contribution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56875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40" b="1">
                <a:solidFill>
                  <a:srgbClr val="F5F7FA"/>
                </a:solidFill>
                <a:latin typeface="Aptos"/>
              </a:defRPr>
            </a:pPr>
            <a:r>
              <a:t>The key idea: the spread is not the risk number. It is a state variable. Ryse simulates its movement, reprices the security in every scenario, and the resulting price distribution is the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The Same Calibration Produces DV01 and Credit-Spread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20" b="1">
                <a:solidFill>
                  <a:srgbClr val="F5F7FA"/>
                </a:solidFill>
                <a:latin typeface="Aptos"/>
              </a:defRPr>
            </a:pPr>
            <a:r>
              <a:t>Once the security is calibrated to its observed market price, Ryse can isolate the two principal market-risk channels: interest rates and credit spreads.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5349240" cy="3154680"/>
          </a:xfrm>
          <a:prstGeom prst="roundRect">
            <a:avLst/>
          </a:prstGeom>
          <a:solidFill>
            <a:srgbClr val="164865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Interest-Rate Risk — DV01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87752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t>DV01 ≈ [ P(z − 1 bp, s*) − P(z + 1 bp, s*) ]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18688"/>
            <a:ext cx="4709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70" b="0">
                <a:solidFill>
                  <a:srgbClr val="F5F7FA"/>
                </a:solidFill>
                <a:latin typeface="Aptos"/>
              </a:defRPr>
            </a:pPr>
            <a:r>
              <a:t>Hold the calibrated spread constant and move the Treasury curve by ±1 bp. The resulting price change measures the security’s bond-equivalent sensitivity to rates.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Rate shock  →  New price  →  DV01 / Duration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49240" cy="3154680"/>
          </a:xfrm>
          <a:prstGeom prst="round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Credit-Spread Risk — CS01 / Spread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587752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t>CS01 ≈ [ P(z, s* − 1 bp) − P(z, s* + 1 bp) ] /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3218688"/>
            <a:ext cx="4709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70" b="0">
                <a:solidFill>
                  <a:srgbClr val="F5F7FA"/>
                </a:solidFill>
                <a:latin typeface="Aptos"/>
              </a:defRPr>
            </a:pPr>
            <a:r>
              <a:t>Hold the Treasury curve constant and move the calibrated spread by ±1 bp. Larger spread widening scenarios show the impact of credit deterioration on market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16052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Spread shock  →  New price  →  CS01 / Spread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30952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Combined scenarios then drive portfolio risk: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50992"/>
            <a:ext cx="10561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ΔRates + ΔSpreads  →  Scenario Price Distribution  →  VaR • Expected Shortfall • Stress Loss • Risk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B1BECD"/>
                </a:solidFill>
                <a:latin typeface="Aptos"/>
              </a:defRPr>
            </a:pPr>
            <a:r>
              <a:t>Phase 1 measures these as bond-equivalent sensitivities; Phase 2 improves them as Bloomberg / empirical cash-flow behavior is incorporated.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Academic Foundation — Established Building Blocks for the Ryse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Ryse combines established reduced-form credit modeling, market-implied spread calibration and fixed-income sensitivity analysis. The implementation is a practical portfolio-risk framework—not a claim to reproduce a full deal-level structured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47088"/>
            <a:ext cx="3566160" cy="3310128"/>
          </a:xfrm>
          <a:prstGeom prst="roundRect">
            <a:avLst/>
          </a:prstGeom>
          <a:solidFill>
            <a:srgbClr val="164865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4825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1FC6DE"/>
                </a:solidFill>
                <a:latin typeface="Aptos"/>
              </a:defRPr>
            </a:pPr>
            <a:r>
              <a:t>Jarrow &amp; Turnbull (1995)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6829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B1BECD"/>
                </a:solidFill>
                <a:latin typeface="Aptos"/>
              </a:defRPr>
            </a:pPr>
            <a:r>
              <a:t>Credit-risk valuation / hedging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60" b="0">
                <a:solidFill>
                  <a:srgbClr val="F5F7FA"/>
                </a:solidFill>
                <a:latin typeface="Aptos"/>
              </a:defRPr>
            </a:pPr>
            <a:r>
              <a:t>Arbitrage-free framework for pricing and hedging securities exposed to credit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F5F7FA"/>
                </a:solidFill>
                <a:latin typeface="Aptos"/>
              </a:defRPr>
            </a:pPr>
            <a:r>
              <a:t>Supports market-consistent representation of credit risk without requiring a full structural model of the issuer.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87CD7D"/>
                </a:solidFill>
                <a:latin typeface="Aptos"/>
              </a:defRPr>
            </a:pPr>
            <a:r>
              <a:t>Ryse link: rate + credit-spread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47088"/>
            <a:ext cx="3566160" cy="3310128"/>
          </a:xfrm>
          <a:prstGeom prst="roundRect">
            <a:avLst/>
          </a:prstGeom>
          <a:solidFill>
            <a:srgbClr val="164865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04825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1FC6DE"/>
                </a:solidFill>
                <a:latin typeface="Aptos"/>
              </a:defRPr>
            </a:pPr>
            <a:r>
              <a:t>Duffie &amp; Singleton (1999)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6829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B1BECD"/>
                </a:solidFill>
                <a:latin typeface="Aptos"/>
              </a:defRPr>
            </a:pPr>
            <a:r>
              <a:t>Reduced-form defaultable bonds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7977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60" b="0">
                <a:solidFill>
                  <a:srgbClr val="F5F7FA"/>
                </a:solidFill>
                <a:latin typeface="Aptos"/>
              </a:defRPr>
            </a:pPr>
            <a:r>
              <a:t>Reduced-form models for valuing defaultable claims and the term structure of credit spreads.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566160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F5F7FA"/>
                </a:solidFill>
                <a:latin typeface="Aptos"/>
              </a:defRPr>
            </a:pPr>
            <a:r>
              <a:t>Strong foundation for using market-implied spread information as a reduced-form representation of credit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6177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87CD7D"/>
                </a:solidFill>
                <a:latin typeface="Aptos"/>
              </a:defRPr>
            </a:pPr>
            <a:r>
              <a:t>Ryse link: implied spread + CS01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847088"/>
            <a:ext cx="3566160" cy="3310128"/>
          </a:xfrm>
          <a:prstGeom prst="round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204825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1FC6DE"/>
                </a:solidFill>
                <a:latin typeface="Aptos"/>
              </a:defRPr>
            </a:pPr>
            <a:r>
              <a:t>MBS / OAS Literature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36829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B1BECD"/>
                </a:solidFill>
                <a:latin typeface="Aptos"/>
              </a:defRPr>
            </a:pPr>
            <a:r>
              <a:t>Dyer (2019); Green (2014)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77977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60" b="0">
                <a:solidFill>
                  <a:srgbClr val="F5F7FA"/>
                </a:solidFill>
                <a:latin typeface="Aptos"/>
              </a:defRPr>
            </a:pPr>
            <a:r>
              <a:t>MBS/ABS valuation addresses uncertain principal cash flows, prepayments and interest-rate paths; OAS can use Monte Carlo.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566160"/>
            <a:ext cx="3108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0">
                <a:solidFill>
                  <a:srgbClr val="F5F7FA"/>
                </a:solidFill>
                <a:latin typeface="Aptos"/>
              </a:defRPr>
            </a:pPr>
            <a:r>
              <a:t>Natural extension beyond Phase 1: cash flows and effective life change with rates and prepayment behavior.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46177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87CD7D"/>
                </a:solidFill>
                <a:latin typeface="Aptos"/>
              </a:defRPr>
            </a:pPr>
            <a:r>
              <a:t>Ryse link: Phase 2 / true OAS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13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FC6DE"/>
                </a:solidFill>
                <a:latin typeface="Aptos"/>
              </a:defRPr>
            </a:pPr>
            <a:r>
              <a:t>How this supports the proposed implementation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3328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0" b="1">
                <a:solidFill>
                  <a:srgbClr val="F5F7FA"/>
                </a:solidFill>
                <a:latin typeface="Aptos"/>
              </a:defRPr>
            </a:pPr>
            <a:r>
              <a:t>Observed Price → Market-Implied Spread → DV01 / CS01 → Rate &amp; Spread Scenarios → Price Distribution → VaR / Expected Shortfall / Stress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Selected References — Reduced-Form Credit Risk and MBS/OAS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941832"/>
          </a:xfrm>
          <a:prstGeom prst="roundRect">
            <a:avLst/>
          </a:prstGeom>
          <a:solidFill>
            <a:srgbClr val="164865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F5F7FA"/>
                </a:solidFill>
                <a:latin typeface="Aptos"/>
              </a:defRPr>
            </a:pPr>
            <a:r>
              <a:t>Jarrow, R. A., &amp; Turnbull, S. M. (1995). Pricing derivatives on financial securities subject to credit risk. The Journal of Finance, 50(1), 53–85. https://doi.org/10.1111/j.1540-6261.1995.tb05167.x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96312"/>
            <a:ext cx="10835640" cy="941832"/>
          </a:xfrm>
          <a:prstGeom prst="round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F5F7FA"/>
                </a:solidFill>
                <a:latin typeface="Aptos"/>
              </a:defRPr>
            </a:pPr>
            <a:r>
              <a:t>Duffie, D., &amp; Singleton, K. J. (1999). Modeling term structures of defaultable bonds. The Review of Financial Studies, 12(4), 687–720. https://doi.org/10.1093/rfs/12.4.687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75304"/>
            <a:ext cx="10835640" cy="941832"/>
          </a:xfrm>
          <a:prstGeom prst="roundRect">
            <a:avLst/>
          </a:prstGeom>
          <a:solidFill>
            <a:srgbClr val="164865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730752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F5F7FA"/>
                </a:solidFill>
                <a:latin typeface="Aptos"/>
              </a:defRPr>
            </a:pPr>
            <a:r>
              <a:t>Dyer, M. (2019). Valuing and analyzing mortgage-backed and asset-backed securities. In H. K. Baker, G. Filbeck, &amp; A. C. Spieler (Eds.), Debt markets and investments (pp. 477–498). Oxford University Press. https://doi.org/10.1093/oso/9780190877439.003.0026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54296"/>
            <a:ext cx="10835640" cy="941832"/>
          </a:xfrm>
          <a:prstGeom prst="round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809744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F5F7FA"/>
                </a:solidFill>
                <a:latin typeface="Aptos"/>
              </a:defRPr>
            </a:pPr>
            <a:r>
              <a:t>Green, R. K. (Ed.). (2014). The yield curve, Monte Carlo methods, and the option-adjusted spread. In Introduction to mortgages &amp; mortgage backed securities (pp. 161–167). Elsevier. https://doi.org/10.1016/B978-0-12-401743-6.00011-1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870448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B1BECD"/>
                </a:solidFill>
                <a:latin typeface="Aptos"/>
              </a:defRPr>
            </a:pPr>
            <a:r>
              <a:t>Important distinction: these sources support the methodological building blocks; they do not describe the exact Ryse Phase 1 implementation.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Why Phase 1 Uses an Implied Spread — and Where True OAS Enters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5303520" cy="416052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Phase 1 — Ryse / Reduced-Form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  <a:latin typeface="Aptos"/>
              </a:defRPr>
            </a:pPr>
            <a:r>
              <a:t>P₀ = Σ CFₜ × DF(zₜ + s*)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B1BECD"/>
                </a:solidFill>
                <a:latin typeface="Aptos"/>
              </a:defRPr>
            </a:pPr>
            <a:r>
              <a:t>Cash flows are held fixed in the scenario.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Rates + spread move  →  price moves  → 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67328"/>
            <a:ext cx="4709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F5F7FA"/>
                </a:solidFill>
                <a:latin typeface="Aptos"/>
              </a:defRPr>
            </a:pPr>
            <a:r>
              <a:t>Fast and scalable for portfolio risk.</a:t>
            </a:r>
            <a:br/>
            <a:br/>
            <a:r>
              <a:t>But prepayment, extension/contraction, defaults and waterfalls do not explicitly change the cash-flow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53312"/>
            <a:ext cx="5303520" cy="416052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00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C6DE"/>
                </a:solidFill>
                <a:latin typeface="Aptos"/>
              </a:defRPr>
            </a:pPr>
            <a:r>
              <a:t>Phase 2 / Full OAS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02996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Aptos"/>
              </a:defRPr>
            </a:pPr>
            <a:r>
              <a:t>P₀ = E [ Σ CFₜ(path) ×</a:t>
            </a:r>
            <a:br/>
            <a:r>
              <a:t>DF(rate path + OAS)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77063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B1BECD"/>
                </a:solidFill>
                <a:latin typeface="Aptos"/>
              </a:defRPr>
            </a:pPr>
            <a:r>
              <a:t>Cash flows can change with the simulated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200400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70" b="1">
                <a:solidFill>
                  <a:srgbClr val="F5F7FA"/>
                </a:solidFill>
                <a:latin typeface="Aptos"/>
              </a:defRPr>
            </a:pPr>
            <a:r>
              <a:t>Rates → CPR / defaults → cash flows / WAL</a:t>
            </a:r>
            <a:br/>
            <a:r>
              <a:t>→ waterfall → tranche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041648"/>
            <a:ext cx="47548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F5F7FA"/>
                </a:solidFill>
                <a:latin typeface="Aptos"/>
              </a:defRPr>
            </a:pPr>
            <a:r>
              <a:t>Bloomberg + the engineers’ historical work can improve this behavior in the next round; Intex is the full structural alternative.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33288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80" b="1">
                <a:solidFill>
                  <a:srgbClr val="F5F7FA"/>
                </a:solidFill>
                <a:latin typeface="Aptos"/>
              </a:defRPr>
            </a:pPr>
            <a:r>
              <a:t>Therefore: Phase 1 gets Ryse to risk quickly. Phase 2 improves the way structured-security cash flows react to the same market scenarios.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Next Round — Use Bloomberg and the Existing Engineering Work to Improve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50" b="1">
                <a:solidFill>
                  <a:srgbClr val="F5F7FA"/>
                </a:solidFill>
                <a:latin typeface="Aptos"/>
              </a:defRPr>
            </a:pPr>
            <a:r>
              <a:t>The historical work already completed becomes the empirical enhancement layer — not discarded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33375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Existing Engineering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Historical monthly principal repayments.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Observed realized cash-flow behavior.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Existing validation against pools priced by another method.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Infrastructure for Bloomberg-based data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965960"/>
            <a:ext cx="3246120" cy="33375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2128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Expand Bloomberg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697480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WAL and effective life, where available.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Prepayment / CPR analytics and projected cash flows, where available.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Effective duration and convexity.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OAS / spread and additional structured-security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1965960"/>
            <a:ext cx="3246120" cy="33375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2212848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C6DE"/>
                </a:solidFill>
                <a:latin typeface="Aptos"/>
              </a:defRPr>
            </a:pPr>
            <a:r>
              <a:t>Enhanced Ryse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697480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Replace legal-maturity bullet behavior with a more realistic effective-life representation.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Model contraction / extension more accurately.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Relate historical paydowns to rates and other drivers.</a:t>
            </a:r>
          </a:p>
          <a:p>
            <a:pPr>
              <a:spcAft>
                <a:spcPts val="700"/>
              </a:spcAft>
              <a:defRPr sz="1180">
                <a:solidFill>
                  <a:srgbClr val="F5F7FA"/>
                </a:solidFill>
                <a:latin typeface="Aptos"/>
              </a:defRPr>
            </a:pPr>
            <a:r>
              <a:t>• Retain the custodian market price as the calibration anchor.</a:t>
            </a:r>
          </a:p>
        </p:txBody>
      </p:sp>
      <p:sp>
        <p:nvSpPr>
          <p:cNvPr id="15" name="Chevron 14"/>
          <p:cNvSpPr/>
          <p:nvPr/>
        </p:nvSpPr>
        <p:spPr>
          <a:xfrm>
            <a:off x="3968496" y="3429000"/>
            <a:ext cx="329184" cy="27432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836408" y="3429000"/>
            <a:ext cx="329184" cy="274320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50992"/>
            <a:ext cx="10561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Key benefit: improve prepayment and cash-flow behavior incrementally without requiring a full deal-waterfall engine on day 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Longer-Term Choice — Full Structural Modeling Only Where the Use Case Requires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024128"/>
          </a:xfrm>
          <a:prstGeom prst="roundRect">
            <a:avLst/>
          </a:prstGeom>
          <a:solidFill>
            <a:srgbClr val="164865"/>
          </a:solidFill>
          <a:ln w="25400">
            <a:solidFill>
              <a:srgbClr val="89D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536192"/>
            <a:ext cx="31546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NOW</a:t>
            </a:r>
            <a:br/>
            <a:r>
              <a:t>Reduced-Form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325880"/>
            <a:ext cx="3337560" cy="1024128"/>
          </a:xfrm>
          <a:prstGeom prst="roundRect">
            <a:avLst/>
          </a:prstGeom>
          <a:solidFill>
            <a:srgbClr val="164865"/>
          </a:solidFill>
          <a:ln w="25400">
            <a:solidFill>
              <a:srgbClr val="1FC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536192"/>
            <a:ext cx="31546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NEXT</a:t>
            </a:r>
            <a:br/>
            <a:r>
              <a:t>Bloomberg + Empirical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1325880"/>
            <a:ext cx="3337560" cy="1024128"/>
          </a:xfrm>
          <a:prstGeom prst="roundRect">
            <a:avLst/>
          </a:prstGeom>
          <a:solidFill>
            <a:srgbClr val="164865"/>
          </a:solidFill>
          <a:ln w="25400">
            <a:solidFill>
              <a:srgbClr val="B22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36192"/>
            <a:ext cx="31546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OPTIONAL</a:t>
            </a:r>
            <a:br/>
            <a:r>
              <a:t>Full Structural / Intex</a:t>
            </a:r>
          </a:p>
        </p:txBody>
      </p:sp>
      <p:sp>
        <p:nvSpPr>
          <p:cNvPr id="11" name="Chevron 10"/>
          <p:cNvSpPr/>
          <p:nvPr/>
        </p:nvSpPr>
        <p:spPr>
          <a:xfrm>
            <a:off x="4078224" y="1700784"/>
            <a:ext cx="228600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7863840" y="1700784"/>
            <a:ext cx="228600" cy="219456"/>
          </a:xfrm>
          <a:prstGeom prst="chevron">
            <a:avLst/>
          </a:prstGeom>
          <a:solidFill>
            <a:srgbClr val="1F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C6DE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432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Reduced-Form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7432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Enhanced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C6DE"/>
                </a:solidFill>
                <a:latin typeface="Aptos"/>
              </a:defRPr>
            </a:pPr>
            <a:r>
              <a:t>Full Structural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82112"/>
            <a:ext cx="196596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55264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182112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3255264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182112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1264" y="3255264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182112"/>
            <a:ext cx="274320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3255264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Major project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196596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675887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Incremental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602736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2344" y="3675887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602736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1264" y="3675887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602736"/>
            <a:ext cx="274320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3675887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High / licensing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23360"/>
            <a:ext cx="196596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4096512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Rates &amp; spreads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4023360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52344" y="4096512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023360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41264" y="4096512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4023360"/>
            <a:ext cx="274320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4" y="4096512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43984"/>
            <a:ext cx="196596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4517136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Prepayment behavior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4443984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52344" y="4517136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443984"/>
            <a:ext cx="260604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41264" y="4517136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Improved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4443984"/>
            <a:ext cx="2743200" cy="420624"/>
          </a:xfrm>
          <a:prstGeom prst="rect">
            <a:avLst/>
          </a:prstGeom>
          <a:solidFill>
            <a:srgbClr val="132742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0184" y="4517136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Explicit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864608"/>
            <a:ext cx="196596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4937760"/>
            <a:ext cx="185623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F5F7FA"/>
                </a:solidFill>
                <a:latin typeface="Aptos"/>
              </a:defRPr>
            </a:pPr>
            <a:r>
              <a:t>Waterfall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4864608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52344" y="4937760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4864608"/>
            <a:ext cx="260604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41264" y="4937760"/>
            <a:ext cx="2496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Limited / observed outcome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4864608"/>
            <a:ext cx="2743200" cy="420624"/>
          </a:xfrm>
          <a:prstGeom prst="rect">
            <a:avLst/>
          </a:prstGeom>
          <a:solidFill>
            <a:srgbClr val="123D59"/>
          </a:solidFill>
          <a:ln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0184" y="4937760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Explicit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15000"/>
            <a:ext cx="107442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Recommended sequence: deliver portfolio risk first, enhance it with Bloomberg and empirical behavior second, and purchase/build full structural capability only when the analytical requirement justifies the cost.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621792" y="1901952"/>
            <a:ext cx="841248" cy="841248"/>
          </a:xfrm>
          <a:prstGeom prst="ellipse">
            <a:avLst/>
          </a:prstGeom>
          <a:solidFill>
            <a:srgbClr val="4EB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93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F7FA"/>
                </a:solidFill>
                <a:latin typeface="Aptos"/>
              </a:rPr>
              <a:t>Lichen Chen (Charlie)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50008"/>
            <a:ext cx="4297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1">
                <a:solidFill>
                  <a:srgbClr val="28C2E8"/>
                </a:solidFill>
                <a:latin typeface="Aptos"/>
              </a:rPr>
              <a:t>Pricing Engine, Calibration &amp; Risk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7238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dirty="0"/>
              <a:t>MS Business Analytics, Columbia University • BS Mathematics, University of Michigan</a:t>
            </a:r>
          </a:p>
        </p:txBody>
      </p:sp>
      <p:sp>
        <p:nvSpPr>
          <p:cNvPr id="10" name="Oval 9"/>
          <p:cNvSpPr/>
          <p:nvPr/>
        </p:nvSpPr>
        <p:spPr>
          <a:xfrm>
            <a:off x="6473952" y="1901952"/>
            <a:ext cx="841248" cy="841248"/>
          </a:xfrm>
          <a:prstGeom prst="ellipse">
            <a:avLst/>
          </a:prstGeom>
          <a:solidFill>
            <a:srgbClr val="4EB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93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F7FA"/>
                </a:solidFill>
                <a:latin typeface="Aptos"/>
              </a:rPr>
              <a:t>Liping 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50008"/>
            <a:ext cx="42976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1" dirty="0">
                <a:solidFill>
                  <a:srgbClr val="28C2E8"/>
                </a:solidFill>
                <a:latin typeface="Aptos"/>
              </a:rPr>
              <a:t>Fixed Income Pricing Platform </a:t>
            </a:r>
            <a:r>
              <a:rPr lang="en-US" sz="1250" b="1" i="1" dirty="0">
                <a:solidFill>
                  <a:srgbClr val="28C2E8"/>
                </a:solidFill>
                <a:latin typeface="Aptos"/>
              </a:rPr>
              <a:t>Engineer</a:t>
            </a:r>
            <a:endParaRPr sz="1250" b="1" i="1" dirty="0">
              <a:solidFill>
                <a:srgbClr val="28C2E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3952" y="3072384"/>
            <a:ext cx="52578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Fordham University (Quantitative Finance ), UCLA (Data Science), IUB (Computer Science)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779008"/>
            <a:ext cx="11109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dirty="0">
                <a:solidFill>
                  <a:srgbClr val="B0BEC5"/>
                </a:solidFill>
                <a:latin typeface="Arial" pitchFamily="34" charset="0"/>
                <a:cs typeface="Arial" pitchFamily="34" charset="-120"/>
              </a:rPr>
              <a:t>A focused team </a:t>
            </a:r>
            <a:r>
              <a:rPr lang="en-US" sz="1500" dirty="0">
                <a:solidFill>
                  <a:srgbClr val="B0BEC5"/>
                </a:solidFill>
                <a:latin typeface="Arial" pitchFamily="34" charset="0"/>
                <a:cs typeface="Arial" pitchFamily="34" charset="-120"/>
              </a:rPr>
              <a:t>is building the pricing engine, calibration framework,</a:t>
            </a:r>
            <a:r>
              <a:rPr sz="1500" dirty="0">
                <a:solidFill>
                  <a:srgbClr val="B0BEC5"/>
                </a:solidFill>
                <a:latin typeface="Arial" pitchFamily="34" charset="0"/>
                <a:cs typeface="Arial" pitchFamily="34" charset="-120"/>
              </a:rPr>
              <a:t> and portfolio risk foundation.</a:t>
            </a:r>
          </a:p>
        </p:txBody>
      </p:sp>
      <p:sp>
        <p:nvSpPr>
          <p:cNvPr id="18" name="PageNumber5">
            <a:extLst>
              <a:ext uri="{FF2B5EF4-FFF2-40B4-BE49-F238E27FC236}">
                <a16:creationId xmlns:a16="http://schemas.microsoft.com/office/drawing/2014/main" id="{3E3EC957-8E9E-D1CF-EFC3-B8D5F97982D0}"/>
              </a:ext>
            </a:extLst>
          </p:cNvPr>
          <p:cNvSpPr txBox="1"/>
          <p:nvPr/>
        </p:nvSpPr>
        <p:spPr>
          <a:xfrm>
            <a:off x="7391400" y="65151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r"/>
            <a:r>
              <a:rPr lang="en-US" sz="10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Ryse Private and Confidential, One Mifflin Place, Ste 400, Cambridge, MA, 02138, Mario Pardo, mario@ryseinc.com | </a:t>
            </a:r>
            <a:fld id="{97AAD9E2-EBB5-4CA4-BA32-5E5F09000B3D}" type="slidenum">
              <a:rPr lang="en-US" sz="10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0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670DC2-0DC1-48C7-4137-B5DCDD0DC80B}"/>
              </a:ext>
            </a:extLst>
          </p:cNvPr>
          <p:cNvSpPr txBox="1"/>
          <p:nvPr/>
        </p:nvSpPr>
        <p:spPr>
          <a:xfrm>
            <a:off x="515112" y="3627120"/>
            <a:ext cx="4892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the pricing engines, calibration and risk layer.
</a:t>
            </a:r>
            <a:endParaRPr lang="en-US" sz="1200" b="0" i="0" dirty="0">
              <a:solidFill>
                <a:srgbClr val="F5F7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research internships at Turing Fund and </a:t>
            </a:r>
            <a:r>
              <a:rPr lang="en-US" sz="1200" b="0" i="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QiLin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Investment; work in equity alpha, volatility forecasting and market microstructure.</a:t>
            </a:r>
          </a:p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Developed the core analytical components used to move the fixed-income pricing process toward a standardized, testable architecture.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A56D6E-1AB4-6EB4-B0F4-C652E0E30F2C}"/>
              </a:ext>
            </a:extLst>
          </p:cNvPr>
          <p:cNvSpPr txBox="1"/>
          <p:nvPr/>
        </p:nvSpPr>
        <p:spPr>
          <a:xfrm>
            <a:off x="6352032" y="3627120"/>
            <a:ext cx="489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team member supporting 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the fixed-income pricing platform.</a:t>
            </a:r>
            <a:endParaRPr lang="en-US" sz="1200" b="0" i="0" dirty="0">
              <a:solidFill>
                <a:srgbClr val="F5F7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a sovereign bond pricing engine </a:t>
            </a:r>
            <a:r>
              <a:rPr lang="en-US" sz="12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 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$1.3B book — Monte Carlo analytics and cointegration analysis</a:t>
            </a:r>
          </a:p>
          <a:p>
            <a:r>
              <a:rPr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lang="en-US" sz="1200" b="0" i="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an API integrated with client infrastructure using the Azure cloud interface</a:t>
            </a:r>
          </a:p>
          <a:p>
            <a:endParaRPr sz="1200" b="0" i="0" dirty="0">
              <a:solidFill>
                <a:srgbClr val="F5F7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8A33E277-1D9D-1479-5D51-C68261D1F220}"/>
              </a:ext>
            </a:extLst>
          </p:cNvPr>
          <p:cNvSpPr txBox="1"/>
          <p:nvPr/>
        </p:nvSpPr>
        <p:spPr>
          <a:xfrm>
            <a:off x="761695" y="484022"/>
            <a:ext cx="109728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Income Pricing Platform Development Team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A77F8B5-7982-7EAA-ACB3-D7A0FE50CE7A}"/>
              </a:ext>
            </a:extLst>
          </p:cNvPr>
          <p:cNvSpPr txBox="1"/>
          <p:nvPr/>
        </p:nvSpPr>
        <p:spPr>
          <a:xfrm>
            <a:off x="786655" y="313424"/>
            <a:ext cx="11049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00" b="1" kern="0" spc="75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Section VII — Fixed Income Pricing Platform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Structured Securities — A Three-Phase Ryse Risk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Each phase increases model fidelity while preserving the observed market price as the valuation anchor.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47088"/>
            <a:ext cx="3566160" cy="342900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7CD7D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04872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Ryse Market-Calibrated</a:t>
            </a:r>
            <a:br/>
            <a:r>
              <a:t>Reduced-Form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10128"/>
            <a:ext cx="30540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F5F7FA"/>
                </a:solidFill>
                <a:latin typeface="Aptos"/>
              </a:defRPr>
            </a:pPr>
            <a:r>
              <a:t>Observed price → implied spread</a:t>
            </a:r>
            <a:br/>
            <a:r>
              <a:t>→ DV01 / CS01 → scenarios</a:t>
            </a:r>
            <a:br/>
            <a:r>
              <a:t>→ VaR / ES /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87CD7D"/>
                </a:solidFill>
                <a:latin typeface="Aptos"/>
              </a:defRPr>
            </a:pPr>
            <a:r>
              <a:t>Fast portfolio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47088"/>
            <a:ext cx="3566160" cy="342900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057400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C6DE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404872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Ryse Historical Cash-Flow &amp;</a:t>
            </a:r>
            <a:br/>
            <a:r>
              <a:t>Structured-Risk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10128"/>
            <a:ext cx="30540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F5F7FA"/>
                </a:solidFill>
                <a:latin typeface="Aptos"/>
              </a:defRPr>
            </a:pPr>
            <a:r>
              <a:t>Historical balances/payments</a:t>
            </a:r>
            <a:br/>
            <a:r>
              <a:t>→ CPR / CDR / severity behavior</a:t>
            </a:r>
            <a:br/>
            <a:r>
              <a:t>→ scenario CF / WAL →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6634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1FC6DE"/>
                </a:solidFill>
                <a:latin typeface="Aptos"/>
              </a:defRPr>
            </a:pPr>
            <a:r>
              <a:t>Empirical structured behavior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847088"/>
            <a:ext cx="3566160" cy="342900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057400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B54C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404872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Ryse + Intex</a:t>
            </a:r>
            <a:br/>
            <a:r>
              <a:t>Full Structural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310128"/>
            <a:ext cx="30540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F5F7FA"/>
                </a:solidFill>
                <a:latin typeface="Aptos"/>
              </a:defRPr>
            </a:pPr>
            <a:r>
              <a:t>Collateral assumptions</a:t>
            </a:r>
            <a:br/>
            <a:r>
              <a:t>→ contractual waterfall</a:t>
            </a:r>
            <a:br/>
            <a:r>
              <a:t>→ tranche CF → true OAS /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46634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E8B54C"/>
                </a:solidFill>
                <a:latin typeface="Aptos"/>
              </a:defRPr>
            </a:pPr>
            <a:r>
              <a:t>Full deal-level fidelity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69280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F5F7FA"/>
                </a:solidFill>
                <a:latin typeface="Aptos"/>
              </a:defRPr>
            </a:pPr>
            <a:r>
              <a:t>The phases are complementary: Phase 1 gets the positions into portfolio risk; Phase 2 makes cash flows respond empirically to observed structured-product behavior; Phase 3 reproduces deal-level mechanics.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Phase 2 — Turn the Engineers’ Historical Observations Into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The historical Bloomberg extraction becomes useful when monthly balance and payment observations are decomposed into economically meaningful structured-security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566160" cy="352044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C6DE"/>
                </a:solidFill>
                <a:latin typeface="Aptos"/>
              </a:defRPr>
            </a:pPr>
            <a:r>
              <a:t>Prepayment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10" b="1">
                <a:solidFill>
                  <a:srgbClr val="F5F7FA"/>
                </a:solidFill>
                <a:latin typeface="Aptos"/>
              </a:defRPr>
            </a:pPr>
            <a:r>
              <a:t>SMMₜ = Unscheduled Principalₜ /</a:t>
            </a:r>
            <a:br/>
            <a:r>
              <a:t>(Beginning Balanceₜ − Scheduled Principalₜ)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CPRₜ = 1 − (1 − SMMₜ)¹²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03904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B1BECD"/>
                </a:solidFill>
                <a:latin typeface="Aptos"/>
              </a:defRPr>
            </a:pPr>
            <a:r>
              <a:t>Historical CPR can then be related to refinancing incentive, seasoning, seasonality and burnout.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83080"/>
            <a:ext cx="3566160" cy="352044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11680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C6DE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146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F5F7FA"/>
                </a:solidFill>
                <a:latin typeface="Aptos"/>
              </a:defRPr>
            </a:pPr>
            <a:r>
              <a:t>MDRₜ = Defaulted Principalₜ /</a:t>
            </a:r>
            <a:br/>
            <a:r>
              <a:t>Beginning Performing Balanceₜ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CDRₜ = 1 − (1 − MDRₜ)¹²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03904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B1BECD"/>
                </a:solidFill>
                <a:latin typeface="Aptos"/>
              </a:defRPr>
            </a:pPr>
            <a:r>
              <a:t>Historical CDR can be related to credit conditions, collateral performance, seasoning and other observable drivers.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783080"/>
            <a:ext cx="3566160" cy="352044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11680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C6DE"/>
                </a:solidFill>
                <a:latin typeface="Aptos"/>
              </a:defRPr>
            </a:pPr>
            <a:r>
              <a:t>Recovery /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F5F7FA"/>
                </a:solidFill>
                <a:latin typeface="Aptos"/>
              </a:defRPr>
            </a:pPr>
            <a:r>
              <a:t>Recoveryₜ = Recoveriesₜ / Defaulted Principalₜ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Severityₜ = 1 − Recoveryₜ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803904"/>
            <a:ext cx="31272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B1BECD"/>
                </a:solidFill>
                <a:latin typeface="Aptos"/>
              </a:defRPr>
            </a:pPr>
            <a:r>
              <a:t>These measures require data that separately identify defaults and recoveries; total principal reduction alone is not sufficient.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44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40" b="1">
                <a:solidFill>
                  <a:srgbClr val="F5F7FA"/>
                </a:solidFill>
                <a:latin typeface="Aptos"/>
              </a:defRPr>
            </a:pPr>
            <a:r>
              <a:t>Data requirement: ΔPrincipal alone = scheduled principal + prepayment + default/write-off effects. CPR, CDR and severity should only be estimated separately when the Bloomberg/collateral fields permit identification.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Phase 2 — From Historical CPR/CDR Behavior to Scenario Cash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Historical observations are not the end product. Ryse estimates how structured-security behavior changes with market and collateral conditions, then applies those relationships inside risk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349240" cy="342900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C6DE"/>
                </a:solidFill>
                <a:latin typeface="Aptos"/>
              </a:defRPr>
            </a:pPr>
            <a:r>
              <a:t>Empirical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CPRₜ = f(Refinancing Incentiveₜ, Seasoningₜ,</a:t>
            </a:r>
            <a:br/>
            <a:r>
              <a:t>Seasonalityₜ, Burnoutₜ, 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8211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CDRₜ = g(Credit Conditionsₜ, Collateralₜ,</a:t>
            </a:r>
            <a:br/>
            <a:r>
              <a:t>Seasoningₜ, 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Severityₜ = h(Collateral / Recovery Conditionsₜ,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902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87CD7D"/>
                </a:solidFill>
                <a:latin typeface="Aptos"/>
              </a:defRPr>
            </a:pPr>
            <a:r>
              <a:t>Estimated from historical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83080"/>
            <a:ext cx="5349240" cy="342900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1168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C6DE"/>
                </a:solidFill>
                <a:latin typeface="Aptos"/>
              </a:defRPr>
            </a:pPr>
            <a:r>
              <a:t>Risk scenario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42316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30" b="1">
                <a:solidFill>
                  <a:srgbClr val="F5F7FA"/>
                </a:solidFill>
                <a:latin typeface="Aptos"/>
              </a:defRPr>
            </a:pPr>
            <a:r>
              <a:t>ΔRatesᵢ + ΔCreditᵢ</a:t>
            </a:r>
            <a:br/>
            <a:r>
              <a:t>→ CPRₜ,ᵢ / CDRₜ,ᵢ / Severityₜ,ᵢ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154680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30" b="1">
                <a:solidFill>
                  <a:srgbClr val="F5F7FA"/>
                </a:solidFill>
                <a:latin typeface="Aptos"/>
              </a:defRPr>
            </a:pPr>
            <a:r>
              <a:t>→ Principalₜ,ᵢ / Interestₜ,ᵢ</a:t>
            </a:r>
            <a:br/>
            <a:r>
              <a:t>→ CFₜ,ᵢ / WALᵢ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88620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Pᵢ = Σ CFₜ,ᵢ × DF(zₜ,ᵢ + sᵢ)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59028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87CD7D"/>
                </a:solidFill>
                <a:latin typeface="Aptos"/>
              </a:defRPr>
            </a:pPr>
            <a:r>
              <a:t>→ Duration / convexity / VaR / ES / 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532120"/>
            <a:ext cx="10652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70" b="1">
                <a:solidFill>
                  <a:srgbClr val="F5F7FA"/>
                </a:solidFill>
                <a:latin typeface="Aptos"/>
              </a:defRPr>
            </a:pPr>
            <a:r>
              <a:t>Key improvement over Phase 1: cash flows are no longer fixed. CFₜ,ᵢ becomes scenario-dependent, allowing contraction/extension and changes in effective life to enter the risk calculation.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Published Research Supporting Phase 2 — Historical Prepayment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The empirical use of historical prepayment observations to estimate behavior and incorporate it into MBS valuation is well established in published research.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566160" cy="356616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11680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1FC6DE"/>
                </a:solidFill>
                <a:latin typeface="Aptos"/>
              </a:defRPr>
            </a:pPr>
            <a:r>
              <a:t>Schwartz &amp; Torous (1989)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50008"/>
            <a:ext cx="3163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B1BECD"/>
                </a:solidFill>
                <a:latin typeface="Aptos"/>
              </a:defRPr>
            </a:pPr>
            <a:r>
              <a:t>Journal of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3072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Estimate a prepayment function from historical GNMA prepayment experience using maximum likelihood, then integrate the empirical function into MBS 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315968"/>
            <a:ext cx="30723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87CD7D"/>
                </a:solidFill>
                <a:latin typeface="Aptos"/>
              </a:defRPr>
            </a:pPr>
            <a:r>
              <a:t>Direct support: historical observations → empirical prepayment function → 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83080"/>
            <a:ext cx="3566160" cy="3566160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011680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1FC6DE"/>
                </a:solidFill>
                <a:latin typeface="Aptos"/>
              </a:defRPr>
            </a:pPr>
            <a:r>
              <a:t>Richard &amp; Roll (1989)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350008"/>
            <a:ext cx="3163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B1BECD"/>
                </a:solidFill>
                <a:latin typeface="Aptos"/>
              </a:defRPr>
            </a:pPr>
            <a:r>
              <a:t>Fixed-Rate MBS Prepayments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88920"/>
            <a:ext cx="3072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Develop an empirical prepayment model designed to explain and predict how mortgage prepayments fluctuate as interest rates fluctuate.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4315968"/>
            <a:ext cx="30723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87CD7D"/>
                </a:solidFill>
                <a:latin typeface="Aptos"/>
              </a:defRPr>
            </a:pPr>
            <a:r>
              <a:t>Direct support: interest-rate environment → empirical prepayment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783080"/>
            <a:ext cx="3566160" cy="3566160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011680"/>
            <a:ext cx="3163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1FC6DE"/>
                </a:solidFill>
                <a:latin typeface="Aptos"/>
              </a:defRPr>
            </a:pPr>
            <a:r>
              <a:t>Kang &amp; Zenios (1992)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50008"/>
            <a:ext cx="3163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B1BECD"/>
                </a:solidFill>
                <a:latin typeface="Aptos"/>
              </a:defRPr>
            </a:pPr>
            <a:r>
              <a:t>Management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788920"/>
            <a:ext cx="3072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0">
                <a:solidFill>
                  <a:srgbClr val="F5F7FA"/>
                </a:solidFill>
                <a:latin typeface="Aptos"/>
              </a:defRPr>
            </a:pPr>
            <a:r>
              <a:t>Calibrate refinancing incentive, seasonality, seasoning and burnout using historical data; the factors jointly determine pool prepayment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4315968"/>
            <a:ext cx="307238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87CD7D"/>
                </a:solidFill>
                <a:latin typeface="Aptos"/>
              </a:defRPr>
            </a:pPr>
            <a:r>
              <a:t>Direct support: historical calibration of the drivers behind CPR.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596128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F5F7FA"/>
                </a:solidFill>
                <a:latin typeface="Aptos"/>
              </a:defRPr>
            </a:pPr>
            <a:r>
              <a:t>Scope note: these papers strongly support the CPR/prepayment side of Phase 2. CDR and severity require identifiable default/recovery observations and should be modeled from the appropriate collateral-performance data rather than inferred from total paydowns.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Phase 3 — Full Deal-Level Structural Modeling Requires a Specialized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20" b="1">
                <a:solidFill>
                  <a:srgbClr val="F5F7FA"/>
                </a:solidFill>
                <a:latin typeface="Aptos"/>
              </a:defRPr>
            </a:pPr>
            <a:r>
              <a:t>Phase 3 is qualitatively different: Ryse is no longer estimating aggregate behavior only; it must reproduce the deal’s collateral and contractual allocation of cash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057400"/>
            <a:ext cx="1664208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33172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5F7FA"/>
                </a:solidFill>
                <a:latin typeface="Aptos"/>
              </a:defRPr>
            </a:pPr>
            <a:r>
              <a:t>Collateral &amp; loan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256" y="24323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C6D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4288" y="2057400"/>
            <a:ext cx="1664208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233172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5F7FA"/>
                </a:solidFill>
                <a:latin typeface="Aptos"/>
              </a:defRPr>
            </a:pPr>
            <a:r>
              <a:t>CPR / CDR / Severity / Recoveries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8496" y="24323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C6D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057400"/>
            <a:ext cx="1664208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33172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5F7FA"/>
                </a:solidFill>
                <a:latin typeface="Aptos"/>
              </a:defRPr>
            </a:pPr>
            <a:r>
              <a:t>Collateral cash 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4323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C6D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057400"/>
            <a:ext cx="1664208" cy="117043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233172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5F7FA"/>
                </a:solidFill>
                <a:latin typeface="Aptos"/>
              </a:defRPr>
            </a:pPr>
            <a:r>
              <a:t>Deal triggers &amp; contractual waterfall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24323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C6D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057400"/>
            <a:ext cx="1664208" cy="1170432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33172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5F7FA"/>
                </a:solidFill>
                <a:latin typeface="Aptos"/>
              </a:defRPr>
            </a:pPr>
            <a:r>
              <a:t>Tranche cash 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2432304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C6D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5248" y="2057400"/>
            <a:ext cx="1664208" cy="1170432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8" y="2331720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F5F7FA"/>
                </a:solidFill>
                <a:latin typeface="Aptos"/>
              </a:defRPr>
            </a:pPr>
            <a:r>
              <a:t>OAS / Price /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703320"/>
            <a:ext cx="10744200" cy="1572768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31920"/>
            <a:ext cx="10305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C6DE"/>
                </a:solidFill>
                <a:latin typeface="Aptos"/>
              </a:defRPr>
            </a:pPr>
            <a:r>
              <a:t>Proposed Ryse implementation: Intex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407408"/>
            <a:ext cx="103052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80" b="0">
                <a:solidFill>
                  <a:srgbClr val="F5F7FA"/>
                </a:solidFill>
                <a:latin typeface="Aptos"/>
              </a:defRPr>
            </a:pPr>
            <a:r>
              <a:t>A full structural implementation requires a specialized deal-level structured-finance engine such as Intex. Ryse could theoretically build this infrastructure, but independently maintaining collateral data, waterfalls, triggers and deal rules would be a major undertaking.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623560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80" b="1">
                <a:solidFill>
                  <a:srgbClr val="F5F7FA"/>
                </a:solidFill>
                <a:latin typeface="Aptos"/>
              </a:defRPr>
            </a:pPr>
            <a:r>
              <a:t>Therefore Phase 3 is optional and use-case driven: deploy it where deal-level structural fidelity materially changes the investment or risk decision.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FC6DE"/>
                </a:solidFill>
                <a:latin typeface="Aptos"/>
              </a:defRPr>
            </a:pPr>
            <a:r>
              <a:t>Section VII — Fixed Income Pricing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Methodology References — 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647395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>
                <a:solidFill>
                  <a:srgbClr val="B1BECD"/>
                </a:solidFill>
                <a:latin typeface="Aptos"/>
              </a:defRPr>
            </a:pPr>
            <a:r>
              <a:t>Ryse Private and Confidential, One Mifflin Place, Ste 400, Cambridge, MA, 02138,</a:t>
            </a:r>
            <a:br/>
            <a:r>
              <a:t>Mario Pardo, mario@ryseinc.com |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10881360" cy="80467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26464"/>
            <a:ext cx="10442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9" b="0">
                <a:solidFill>
                  <a:srgbClr val="F5F7FA"/>
                </a:solidFill>
                <a:latin typeface="Aptos"/>
              </a:defRPr>
            </a:pPr>
            <a:r>
              <a:t>Schwartz, E. S., &amp; Torous, W. N. (1989). Prepayment and the valuation of mortgage-backed securities. The Journal of Finance, 44(2), 375–392. https://doi.org/10.1111/j.1540-6261.1989.tb05062.x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12848"/>
            <a:ext cx="10881360" cy="804672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40864"/>
            <a:ext cx="10442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9" b="0">
                <a:solidFill>
                  <a:srgbClr val="F5F7FA"/>
                </a:solidFill>
                <a:latin typeface="Aptos"/>
              </a:defRPr>
            </a:pPr>
            <a:r>
              <a:t>Kang, P., &amp; Zenios, S. A. (1992). Complete prepayment models for mortgage-backed securities. Management Science, 38(11), 1665–1685. https://doi.org/10.1287/mnsc.38.11.1665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27248"/>
            <a:ext cx="10881360" cy="80467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55264"/>
            <a:ext cx="10442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9" b="0">
                <a:solidFill>
                  <a:srgbClr val="F5F7FA"/>
                </a:solidFill>
                <a:latin typeface="Aptos"/>
              </a:defRPr>
            </a:pPr>
            <a:r>
              <a:t>Richard, S. F., &amp; Roll, R. (1989). Prepayments on fixed-rate mortgage-backed securities. The Journal of Portfolio Management, 15(3), 73–82.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041648"/>
            <a:ext cx="10881360" cy="804672"/>
          </a:xfrm>
          <a:prstGeom prst="roundRect">
            <a:avLst/>
          </a:prstGeom>
          <a:solidFill>
            <a:srgbClr val="123D59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69663"/>
            <a:ext cx="10442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9" b="0">
                <a:solidFill>
                  <a:srgbClr val="F5F7FA"/>
                </a:solidFill>
                <a:latin typeface="Aptos"/>
              </a:defRPr>
            </a:pPr>
            <a:r>
              <a:t>Jarrow, R. A., &amp; Turnbull, S. M. (1995). Pricing derivatives on financial securities subject to credit risk. The Journal of Finance, 50(1), 53–85. https://doi.org/10.1111/j.1540-6261.1995.tb05167.x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56048"/>
            <a:ext cx="10881360" cy="804672"/>
          </a:xfrm>
          <a:prstGeom prst="roundRect">
            <a:avLst/>
          </a:prstGeom>
          <a:solidFill>
            <a:srgbClr val="164865"/>
          </a:solidFill>
          <a:ln w="12700">
            <a:solidFill>
              <a:srgbClr val="247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5084064"/>
            <a:ext cx="10442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9" b="0">
                <a:solidFill>
                  <a:srgbClr val="F5F7FA"/>
                </a:solidFill>
                <a:latin typeface="Aptos"/>
              </a:defRPr>
            </a:pPr>
            <a:r>
              <a:t>Duffie, D., &amp; Singleton, K. J. (1999). Modeling term structures of defaultable bonds. The Review of Financial Studies, 12(4), 687–720. https://doi.org/10.1093/rfs/12.4.687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943600"/>
            <a:ext cx="10652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1BECD"/>
                </a:solidFill>
                <a:latin typeface="Aptos"/>
              </a:defRPr>
            </a:pPr>
            <a:r>
              <a:t>These references support the methodological building blocks; Ryse’s three-phase implementation is its own integrated portfolio-risk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1271</Words>
  <Application>Microsoft Office PowerPoint</Application>
  <PresentationFormat>Widescreen</PresentationFormat>
  <Paragraphs>190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Arial Narrow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rodriguez</dc:creator>
  <cp:lastModifiedBy>luis rodriguez</cp:lastModifiedBy>
  <cp:revision>2</cp:revision>
  <dcterms:created xsi:type="dcterms:W3CDTF">2026-10-04T15:09:17Z</dcterms:created>
  <dcterms:modified xsi:type="dcterms:W3CDTF">2026-10-04T15:12:34Z</dcterms:modified>
</cp:coreProperties>
</file>