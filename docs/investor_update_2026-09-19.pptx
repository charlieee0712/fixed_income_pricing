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up for ten seconds. No preamble.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to land here. First, this was never a research project — it is a rebuild of something that already ran the client's business, so "does it give the same answers" was always the test. Second, the thing exists and runs today; we are not describing a plan.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point is worth a sentence. In a pricing system that number is the whole product, so we made "did anything change" a mechanical check rather than a matter of opinion. Every time we change the code, every price the system has ever published is regenerated and compared. That is how we can tell you a restructuring changed nothing.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reading of this chart is the second bullet. Of what is left, roughly eight securities in ten are blocked on data we have formally requested, and two in ten are work we have scoped but not started. That distinction is the whole message of this meeting.</a:t>
            </a:r>
          </a:p>
          <a:p/>
          <a:p>
            <a:r>
              <a:t>For reference:</a:t>
            </a:r>
          </a:p>
          <a:p>
            <a:r>
              <a:t>  securities</a:t>
            </a:r>
          </a:p>
          <a:p>
            <a:r>
              <a:t>  **Priced today** | **766** | every ordinary bond in the portfolio</a:t>
            </a:r>
          </a:p>
          <a:p>
            <a:r>
              <a:t>  Waiting on data we have asked for | 1,046 | 882 mortgage securities + 164 bonds whose terms are not in the file we were given</a:t>
            </a:r>
          </a:p>
          <a:p>
            <a:r>
              <a:t>  Scoped, not yet built | 412 | the other pooled products</a:t>
            </a:r>
          </a:p>
          <a:p>
            <a:r>
              <a:t>  Excluded by the client, or out of scope | 36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these three checks uses anything we control. That is the point — we are not grading our own homework. The third one also caught something: the client's records are struck one day after the valuation date. Small, but nobody knew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we would most like you to remember. There is no technical obstacle and no disagreement about what is needed. Four in ten securities in this portfolio become priceable on work that is already finished, as soon as the terms arrive. BEFORE PRESENTING, REPLACE THE THIRD BULLET. As of 19 September we had word the data may just have been delivered, unverified. Use whichever is true on the day. If it has NOT arrived: "Requested 22 July 2026 — still outstanding." The ask is that you help move it. If it HAS arrived: "Requested 22 July; the data reached us in September and we are loading it now." That is the better version of this slide — the engine was built ahead of the data and the largest remaining block is unlocking rather than stuck. Do not leave the outstanding wording standing once it is false. An investor who later learns the data had already arrived will discount everything else on these slides. Say all of this without blame either way. The request went to the client; we are surfacing it, not escalating it. If asked why it took this long, the honest answer is we do not know.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that the 412 is genuine remaining work, not a data problem. What makes it tractable is that the hard parts — the cash-flow machinery, the option model, the market data plumbing — are built and proven on the 766.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matters commercially. The deliverable is not a service they have to keep buying; it is an asset they own and can run. That was the brief and it is met.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0"/>
            <a:ext cx="10728655" cy="1005840"/>
          </a:xfrm>
          <a:prstGeom prst="rect">
            <a:avLst/>
          </a:prstGeom>
          <a:noFill/>
        </p:spPr>
        <p:txBody>
          <a:bodyPr wrap="square">
            <a:spAutoFit/>
          </a:bodyPr>
          <a:lstStyle/>
          <a:p>
            <a:pPr>
              <a:spcAft>
                <a:spcPts val="400"/>
              </a:spcAft>
            </a:pPr>
            <a:r>
              <a:rPr sz="4000" b="1">
                <a:solidFill>
                  <a:srgbClr val="1F4E79"/>
                </a:solidFill>
              </a:rPr>
              <a:t>Fixed-income pricing system: progress to 19 September 2026</a:t>
            </a:r>
          </a:p>
        </p:txBody>
      </p:sp>
      <p:sp>
        <p:nvSpPr>
          <p:cNvPr id="3" name="TextBox 2"/>
          <p:cNvSpPr txBox="1"/>
          <p:nvPr/>
        </p:nvSpPr>
        <p:spPr>
          <a:xfrm>
            <a:off x="731520" y="3063240"/>
            <a:ext cx="10728655" cy="3246120"/>
          </a:xfrm>
          <a:prstGeom prst="rect">
            <a:avLst/>
          </a:prstGeom>
          <a:noFill/>
        </p:spPr>
        <p:txBody>
          <a:bodyPr wrap="square">
            <a:spAutoFit/>
          </a:bodyPr>
          <a:lstStyle/>
          <a:p>
            <a:pPr>
              <a:spcAft>
                <a:spcPts val="1400"/>
              </a:spcAft>
            </a:pPr>
            <a:r>
              <a:rPr sz="1800" b="0">
                <a:solidFill>
                  <a:srgbClr val="707070"/>
                </a:solidFill>
              </a:rPr>
              <a:t>•  Built for the client's fixed-income portfolio</a:t>
            </a:r>
          </a:p>
          <a:p>
            <a:pPr>
              <a:spcAft>
                <a:spcPts val="1400"/>
              </a:spcAft>
            </a:pPr>
            <a:r>
              <a:rPr sz="1800" b="0">
                <a:solidFill>
                  <a:srgbClr val="707070"/>
                </a:solidFill>
              </a:rPr>
              <a:t>•  Presented by [YOUR NAME] and Mario [SURNAME] — fill these in</a:t>
            </a:r>
          </a:p>
          <a:p>
            <a:pPr>
              <a:spcAft>
                <a:spcPts val="1400"/>
              </a:spcAft>
            </a:pPr>
            <a:r>
              <a:rPr sz="1800" b="0">
                <a:solidFill>
                  <a:srgbClr val="707070"/>
                </a:solidFill>
              </a:rPr>
              <a:t>•  Twelve weeks of work, 26 June to 19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02920"/>
            <a:ext cx="10728655" cy="1005840"/>
          </a:xfrm>
          <a:prstGeom prst="rect">
            <a:avLst/>
          </a:prstGeom>
          <a:noFill/>
        </p:spPr>
        <p:txBody>
          <a:bodyPr wrap="square">
            <a:spAutoFit/>
          </a:bodyPr>
          <a:lstStyle/>
          <a:p>
            <a:pPr>
              <a:spcAft>
                <a:spcPts val="400"/>
              </a:spcAft>
            </a:pPr>
            <a:r>
              <a:rPr sz="3000" b="1">
                <a:solidFill>
                  <a:srgbClr val="1F4E79"/>
                </a:solidFill>
              </a:rPr>
              <a:t>What we were asked to build, and where it stands</a:t>
            </a:r>
          </a:p>
        </p:txBody>
      </p:sp>
      <p:sp>
        <p:nvSpPr>
          <p:cNvPr id="3" name="TextBox 2"/>
          <p:cNvSpPr txBox="1"/>
          <p:nvPr/>
        </p:nvSpPr>
        <p:spPr>
          <a:xfrm>
            <a:off x="731520" y="1600200"/>
            <a:ext cx="10728655" cy="4709160"/>
          </a:xfrm>
          <a:prstGeom prst="rect">
            <a:avLst/>
          </a:prstGeom>
          <a:noFill/>
        </p:spPr>
        <p:txBody>
          <a:bodyPr wrap="square">
            <a:spAutoFit/>
          </a:bodyPr>
          <a:lstStyle/>
          <a:p>
            <a:pPr>
              <a:spcAft>
                <a:spcPts val="1400"/>
              </a:spcAft>
            </a:pPr>
            <a:r>
              <a:rPr sz="1900" b="0">
                <a:solidFill>
                  <a:srgbClr val="262626"/>
                </a:solidFill>
              </a:rPr>
              <a:t>•  The client had a pricing toolkit built in Excel and Visual Basic, grown over years, that only a handful of people could run or change</a:t>
            </a:r>
          </a:p>
          <a:p>
            <a:pPr>
              <a:spcAft>
                <a:spcPts val="1400"/>
              </a:spcAft>
            </a:pPr>
            <a:r>
              <a:rPr sz="1900" b="0">
                <a:solidFill>
                  <a:srgbClr val="262626"/>
                </a:solidFill>
              </a:rPr>
              <a:t>•  </a:t>
            </a:r>
            <a:r>
              <a:rPr sz="1900" b="1">
                <a:solidFill>
                  <a:srgbClr val="262626"/>
                </a:solidFill>
              </a:rPr>
              <a:t>The job: rebuild it as proper software</a:t>
            </a:r>
            <a:r>
              <a:rPr sz="1900" b="0">
                <a:solidFill>
                  <a:srgbClr val="262626"/>
                </a:solidFill>
              </a:rPr>
              <a:t> — same answers, but testable, automatable, and able to be handed to their own engineering team</a:t>
            </a:r>
          </a:p>
          <a:p>
            <a:pPr>
              <a:spcAft>
                <a:spcPts val="1400"/>
              </a:spcAft>
            </a:pPr>
            <a:r>
              <a:rPr sz="1900" b="0">
                <a:solidFill>
                  <a:srgbClr val="262626"/>
                </a:solidFill>
              </a:rPr>
              <a:t>•  </a:t>
            </a:r>
            <a:r>
              <a:rPr sz="1900" b="1">
                <a:solidFill>
                  <a:srgbClr val="262626"/>
                </a:solidFill>
              </a:rPr>
              <a:t>Status: the system works end to end and is in use.</a:t>
            </a:r>
            <a:r>
              <a:rPr sz="1900" b="0">
                <a:solidFill>
                  <a:srgbClr val="262626"/>
                </a:solidFill>
              </a:rPr>
              <a:t> The remaining work is extending it to the rest of the portfolio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02920"/>
            <a:ext cx="10728655" cy="1005840"/>
          </a:xfrm>
          <a:prstGeom prst="rect">
            <a:avLst/>
          </a:prstGeom>
          <a:noFill/>
        </p:spPr>
        <p:txBody>
          <a:bodyPr wrap="square">
            <a:spAutoFit/>
          </a:bodyPr>
          <a:lstStyle/>
          <a:p>
            <a:pPr>
              <a:spcAft>
                <a:spcPts val="400"/>
              </a:spcAft>
            </a:pPr>
            <a:r>
              <a:rPr sz="3000" b="1">
                <a:solidFill>
                  <a:srgbClr val="1F4E79"/>
                </a:solidFill>
              </a:rPr>
              <a:t>What it does today</a:t>
            </a:r>
          </a:p>
        </p:txBody>
      </p:sp>
      <p:sp>
        <p:nvSpPr>
          <p:cNvPr id="3" name="TextBox 2"/>
          <p:cNvSpPr txBox="1"/>
          <p:nvPr/>
        </p:nvSpPr>
        <p:spPr>
          <a:xfrm>
            <a:off x="731520" y="1600200"/>
            <a:ext cx="10728655" cy="4709160"/>
          </a:xfrm>
          <a:prstGeom prst="rect">
            <a:avLst/>
          </a:prstGeom>
          <a:noFill/>
        </p:spPr>
        <p:txBody>
          <a:bodyPr wrap="square">
            <a:spAutoFit/>
          </a:bodyPr>
          <a:lstStyle/>
          <a:p>
            <a:pPr>
              <a:spcAft>
                <a:spcPts val="1400"/>
              </a:spcAft>
            </a:pPr>
            <a:r>
              <a:rPr sz="1900" b="0">
                <a:solidFill>
                  <a:srgbClr val="262626"/>
                </a:solidFill>
              </a:rPr>
              <a:t>•  Takes a bond, the market rates for that day, and the price the client's custodian recorded — and works out </a:t>
            </a:r>
            <a:r>
              <a:rPr sz="1900" b="1">
                <a:solidFill>
                  <a:srgbClr val="262626"/>
                </a:solidFill>
              </a:rPr>
              <a:t>what the market is charging that borrower, and how much the bond's value moves when rates move</a:t>
            </a:r>
          </a:p>
          <a:p>
            <a:pPr>
              <a:spcAft>
                <a:spcPts val="1400"/>
              </a:spcAft>
            </a:pPr>
            <a:r>
              <a:rPr sz="1900" b="0">
                <a:solidFill>
                  <a:srgbClr val="262626"/>
                </a:solidFill>
              </a:rPr>
              <a:t>•  Runs </a:t>
            </a:r>
            <a:r>
              <a:rPr sz="1900" b="1">
                <a:solidFill>
                  <a:srgbClr val="262626"/>
                </a:solidFill>
              </a:rPr>
              <a:t>from a spreadsheet</a:t>
            </a:r>
            <a:r>
              <a:rPr sz="1900" b="0">
                <a:solidFill>
                  <a:srgbClr val="262626"/>
                </a:solidFill>
              </a:rPr>
              <a:t>, from a command line, or as a service the client's own systems can call — same answer from all three</a:t>
            </a:r>
          </a:p>
          <a:p>
            <a:pPr>
              <a:spcAft>
                <a:spcPts val="1400"/>
              </a:spcAft>
            </a:pPr>
            <a:r>
              <a:rPr sz="1900" b="0">
                <a:solidFill>
                  <a:srgbClr val="262626"/>
                </a:solidFill>
              </a:rPr>
              <a:t>•  </a:t>
            </a:r>
            <a:r>
              <a:rPr sz="1900" b="1">
                <a:solidFill>
                  <a:srgbClr val="262626"/>
                </a:solidFill>
              </a:rPr>
              <a:t>Every result is reproducible</a:t>
            </a:r>
            <a:r>
              <a:rPr sz="1900" b="0">
                <a:solidFill>
                  <a:srgbClr val="262626"/>
                </a:solidFill>
              </a:rPr>
              <a:t>: run it again a month later and you get the identical file, to the byte</a:t>
            </a:r>
          </a:p>
          <a:p>
            <a:pPr>
              <a:spcAft>
                <a:spcPts val="1400"/>
              </a:spcAft>
            </a:pPr>
            <a:r>
              <a:rPr sz="1900" b="0">
                <a:solidFill>
                  <a:srgbClr val="262626"/>
                </a:solidFill>
              </a:rPr>
              <a:t>•  We price the client's </a:t>
            </a:r>
            <a:r>
              <a:rPr sz="1900" b="1">
                <a:solidFill>
                  <a:srgbClr val="262626"/>
                </a:solidFill>
              </a:rPr>
              <a:t>March 2009 book</a:t>
            </a:r>
            <a:r>
              <a:rPr sz="1900" b="0">
                <a:solidFill>
                  <a:srgbClr val="262626"/>
                </a:solidFill>
              </a:rPr>
              <a:t> — their own reference case, chosen because the outcomes are already known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02920"/>
            <a:ext cx="10728655" cy="1005840"/>
          </a:xfrm>
          <a:prstGeom prst="rect">
            <a:avLst/>
          </a:prstGeom>
          <a:noFill/>
        </p:spPr>
        <p:txBody>
          <a:bodyPr wrap="square">
            <a:spAutoFit/>
          </a:bodyPr>
          <a:lstStyle/>
          <a:p>
            <a:pPr>
              <a:spcAft>
                <a:spcPts val="400"/>
              </a:spcAft>
            </a:pPr>
            <a:r>
              <a:rPr sz="3000" b="1">
                <a:solidFill>
                  <a:srgbClr val="1F4E79"/>
                </a:solidFill>
              </a:rPr>
              <a:t>Coverage</a:t>
            </a:r>
          </a:p>
        </p:txBody>
      </p:sp>
      <p:pic>
        <p:nvPicPr>
          <p:cNvPr id="3" name="Picture 2" descr="investor_coverage.png"/>
          <p:cNvPicPr>
            <a:picLocks noChangeAspect="1"/>
          </p:cNvPicPr>
          <p:nvPr/>
        </p:nvPicPr>
        <p:blipFill>
          <a:blip r:embed="rId2"/>
          <a:stretch>
            <a:fillRect/>
          </a:stretch>
        </p:blipFill>
        <p:spPr>
          <a:xfrm>
            <a:off x="731520" y="1691640"/>
            <a:ext cx="10728655" cy="2379965"/>
          </a:xfrm>
          <a:prstGeom prst="rect">
            <a:avLst/>
          </a:prstGeom>
        </p:spPr>
      </p:pic>
      <p:sp>
        <p:nvSpPr>
          <p:cNvPr id="4" name="TextBox 3"/>
          <p:cNvSpPr txBox="1"/>
          <p:nvPr/>
        </p:nvSpPr>
        <p:spPr>
          <a:xfrm>
            <a:off x="731520" y="4391645"/>
            <a:ext cx="10728655" cy="1917715"/>
          </a:xfrm>
          <a:prstGeom prst="rect">
            <a:avLst/>
          </a:prstGeom>
          <a:noFill/>
        </p:spPr>
        <p:txBody>
          <a:bodyPr wrap="square">
            <a:spAutoFit/>
          </a:bodyPr>
          <a:lstStyle/>
          <a:p>
            <a:pPr>
              <a:spcAft>
                <a:spcPts val="1400"/>
              </a:spcAft>
            </a:pPr>
            <a:r>
              <a:rPr sz="1900" b="0">
                <a:solidFill>
                  <a:srgbClr val="262626"/>
                </a:solidFill>
              </a:rPr>
              <a:t>•  </a:t>
            </a:r>
            <a:r>
              <a:rPr sz="1900" b="1">
                <a:solidFill>
                  <a:srgbClr val="262626"/>
                </a:solidFill>
              </a:rPr>
              <a:t>All six classes of ordinary bonds are complete</a:t>
            </a:r>
            <a:r>
              <a:rPr sz="1900" b="0">
                <a:solidFill>
                  <a:srgbClr val="262626"/>
                </a:solidFill>
              </a:rPr>
              <a:t> — corporate, government, municipal, agency, inflation-linked, guaranteed</a:t>
            </a:r>
          </a:p>
          <a:p>
            <a:pPr>
              <a:spcAft>
                <a:spcPts val="1400"/>
              </a:spcAft>
            </a:pPr>
            <a:r>
              <a:rPr sz="1900" b="0">
                <a:solidFill>
                  <a:srgbClr val="262626"/>
                </a:solidFill>
              </a:rPr>
              <a:t>•  </a:t>
            </a:r>
            <a:r>
              <a:rPr sz="1900" b="1">
                <a:solidFill>
                  <a:srgbClr val="262626"/>
                </a:solidFill>
              </a:rPr>
              <a:t>The single largest remaining block is not waiting on 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02920"/>
            <a:ext cx="10728655" cy="1005840"/>
          </a:xfrm>
          <a:prstGeom prst="rect">
            <a:avLst/>
          </a:prstGeom>
          <a:noFill/>
        </p:spPr>
        <p:txBody>
          <a:bodyPr wrap="square">
            <a:spAutoFit/>
          </a:bodyPr>
          <a:lstStyle/>
          <a:p>
            <a:pPr>
              <a:spcAft>
                <a:spcPts val="400"/>
              </a:spcAft>
            </a:pPr>
            <a:r>
              <a:rPr sz="3000" b="1">
                <a:solidFill>
                  <a:srgbClr val="1F4E79"/>
                </a:solidFill>
              </a:rPr>
              <a:t>How we know the numbers are right</a:t>
            </a:r>
          </a:p>
        </p:txBody>
      </p:sp>
      <p:sp>
        <p:nvSpPr>
          <p:cNvPr id="3" name="TextBox 2"/>
          <p:cNvSpPr txBox="1"/>
          <p:nvPr/>
        </p:nvSpPr>
        <p:spPr>
          <a:xfrm>
            <a:off x="731520" y="1600200"/>
            <a:ext cx="10728655" cy="4709160"/>
          </a:xfrm>
          <a:prstGeom prst="rect">
            <a:avLst/>
          </a:prstGeom>
          <a:noFill/>
        </p:spPr>
        <p:txBody>
          <a:bodyPr wrap="square">
            <a:spAutoFit/>
          </a:bodyPr>
          <a:lstStyle/>
          <a:p>
            <a:pPr>
              <a:spcAft>
                <a:spcPts val="1400"/>
              </a:spcAft>
            </a:pPr>
            <a:r>
              <a:rPr sz="1900" b="0">
                <a:solidFill>
                  <a:srgbClr val="262626"/>
                </a:solidFill>
              </a:rPr>
              <a:t>•  </a:t>
            </a:r>
            <a:r>
              <a:rPr sz="1900" b="1">
                <a:solidFill>
                  <a:srgbClr val="262626"/>
                </a:solidFill>
              </a:rPr>
              <a:t>A government bond priced on its own government's curve must come out at zero.</a:t>
            </a:r>
            <a:r>
              <a:rPr sz="1900" b="0">
                <a:solidFill>
                  <a:srgbClr val="262626"/>
                </a:solidFill>
              </a:rPr>
              <a:t> Japan's come out at 0.0; the UK's at 0.04% — the thermometer reads right in ice water</a:t>
            </a:r>
          </a:p>
          <a:p>
            <a:pPr>
              <a:spcAft>
                <a:spcPts val="1400"/>
              </a:spcAft>
            </a:pPr>
            <a:r>
              <a:rPr sz="1900" b="0">
                <a:solidFill>
                  <a:srgbClr val="262626"/>
                </a:solidFill>
              </a:rPr>
              <a:t>•  </a:t>
            </a:r>
            <a:r>
              <a:rPr sz="1900" b="1">
                <a:solidFill>
                  <a:srgbClr val="262626"/>
                </a:solidFill>
              </a:rPr>
              <a:t>The client's own custodian independently reports a risk number for some bonds.</a:t>
            </a:r>
            <a:r>
              <a:rPr sz="1900" b="0">
                <a:solidFill>
                  <a:srgbClr val="262626"/>
                </a:solidFill>
              </a:rPr>
              <a:t> Where it does, ours agrees — four of five agency bonds within a tenth of a year</a:t>
            </a:r>
          </a:p>
          <a:p>
            <a:pPr>
              <a:spcAft>
                <a:spcPts val="1400"/>
              </a:spcAft>
            </a:pPr>
            <a:r>
              <a:rPr sz="1900" b="0">
                <a:solidFill>
                  <a:srgbClr val="262626"/>
                </a:solidFill>
              </a:rPr>
              <a:t>•  </a:t>
            </a:r>
            <a:r>
              <a:rPr sz="1900" b="1">
                <a:solidFill>
                  <a:srgbClr val="262626"/>
                </a:solidFill>
              </a:rPr>
              <a:t>We re-derived the client's own inflation adjustments from published government statistics</a:t>
            </a:r>
            <a:r>
              <a:rPr sz="1900" b="0">
                <a:solidFill>
                  <a:srgbClr val="262626"/>
                </a:solidFill>
              </a:rPr>
              <a:t> — thirteen US inflation-linked bonds, agreeing to six parts in a million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02920"/>
            <a:ext cx="10728655" cy="1005840"/>
          </a:xfrm>
          <a:prstGeom prst="rect">
            <a:avLst/>
          </a:prstGeom>
          <a:noFill/>
        </p:spPr>
        <p:txBody>
          <a:bodyPr wrap="square">
            <a:spAutoFit/>
          </a:bodyPr>
          <a:lstStyle/>
          <a:p>
            <a:pPr>
              <a:spcAft>
                <a:spcPts val="400"/>
              </a:spcAft>
            </a:pPr>
            <a:r>
              <a:rPr sz="3000" b="1">
                <a:solidFill>
                  <a:srgbClr val="1F4E79"/>
                </a:solidFill>
              </a:rPr>
              <a:t>The one thing blocking the largest block</a:t>
            </a:r>
          </a:p>
        </p:txBody>
      </p:sp>
      <p:sp>
        <p:nvSpPr>
          <p:cNvPr id="3" name="TextBox 2"/>
          <p:cNvSpPr txBox="1"/>
          <p:nvPr/>
        </p:nvSpPr>
        <p:spPr>
          <a:xfrm>
            <a:off x="731520" y="1600200"/>
            <a:ext cx="10728655" cy="4709160"/>
          </a:xfrm>
          <a:prstGeom prst="rect">
            <a:avLst/>
          </a:prstGeom>
          <a:noFill/>
        </p:spPr>
        <p:txBody>
          <a:bodyPr wrap="square">
            <a:spAutoFit/>
          </a:bodyPr>
          <a:lstStyle/>
          <a:p>
            <a:pPr>
              <a:spcAft>
                <a:spcPts val="1400"/>
              </a:spcAft>
            </a:pPr>
            <a:r>
              <a:rPr sz="1900" b="0">
                <a:solidFill>
                  <a:srgbClr val="262626"/>
                </a:solidFill>
              </a:rPr>
              <a:t>•  </a:t>
            </a:r>
            <a:r>
              <a:rPr sz="1900" b="1">
                <a:solidFill>
                  <a:srgbClr val="262626"/>
                </a:solidFill>
              </a:rPr>
              <a:t>882 mortgage securities — 39% of the portfolio — need terms that only Bloomberg has</a:t>
            </a:r>
          </a:p>
          <a:p>
            <a:pPr>
              <a:spcAft>
                <a:spcPts val="1400"/>
              </a:spcAft>
            </a:pPr>
            <a:r>
              <a:rPr sz="1900" b="0">
                <a:solidFill>
                  <a:srgbClr val="262626"/>
                </a:solidFill>
              </a:rPr>
              <a:t>•  </a:t>
            </a:r>
            <a:r>
              <a:rPr sz="1900" b="1">
                <a:solidFill>
                  <a:srgbClr val="262626"/>
                </a:solidFill>
              </a:rPr>
              <a:t>The engine for them is already built and tested.</a:t>
            </a:r>
            <a:r>
              <a:rPr sz="1900" b="0">
                <a:solidFill>
                  <a:srgbClr val="262626"/>
                </a:solidFill>
              </a:rPr>
              <a:t> It has been waiting on data, not on code — the day the data lands it runs with no further development</a:t>
            </a:r>
          </a:p>
          <a:p>
            <a:pPr>
              <a:spcAft>
                <a:spcPts val="1400"/>
              </a:spcAft>
            </a:pPr>
            <a:r>
              <a:rPr sz="1900" b="0">
                <a:solidFill>
                  <a:srgbClr val="262626"/>
                </a:solidFill>
              </a:rPr>
              <a:t>•  </a:t>
            </a:r>
            <a:r>
              <a:rPr sz="1900" b="1">
                <a:solidFill>
                  <a:srgbClr val="262626"/>
                </a:solidFill>
              </a:rPr>
              <a:t>Requested 22 July 2026.</a:t>
            </a:r>
            <a:r>
              <a:rPr sz="1900" b="0">
                <a:solidFill>
                  <a:srgbClr val="262626"/>
                </a:solidFill>
              </a:rPr>
              <a:t> [STATUS — confirm the week of presenting; see the note]</a:t>
            </a:r>
          </a:p>
          <a:p>
            <a:pPr>
              <a:spcAft>
                <a:spcPts val="1400"/>
              </a:spcAft>
            </a:pPr>
            <a:r>
              <a:rPr sz="1900" b="0">
                <a:solidFill>
                  <a:srgbClr val="262626"/>
                </a:solidFill>
              </a:rPr>
              <a:t>•  A second, smaller request covers 164 ordinary bonds whose terms are missing from the file we were given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02920"/>
            <a:ext cx="10728655" cy="1005840"/>
          </a:xfrm>
          <a:prstGeom prst="rect">
            <a:avLst/>
          </a:prstGeom>
          <a:noFill/>
        </p:spPr>
        <p:txBody>
          <a:bodyPr wrap="square">
            <a:spAutoFit/>
          </a:bodyPr>
          <a:lstStyle/>
          <a:p>
            <a:pPr>
              <a:spcAft>
                <a:spcPts val="400"/>
              </a:spcAft>
            </a:pPr>
            <a:r>
              <a:rPr sz="3000" b="1">
                <a:solidFill>
                  <a:srgbClr val="1F4E79"/>
                </a:solidFill>
              </a:rPr>
              <a:t>What is left</a:t>
            </a:r>
          </a:p>
        </p:txBody>
      </p:sp>
      <p:sp>
        <p:nvSpPr>
          <p:cNvPr id="3" name="TextBox 2"/>
          <p:cNvSpPr txBox="1"/>
          <p:nvPr/>
        </p:nvSpPr>
        <p:spPr>
          <a:xfrm>
            <a:off x="731520" y="1600200"/>
            <a:ext cx="10728655" cy="4709160"/>
          </a:xfrm>
          <a:prstGeom prst="rect">
            <a:avLst/>
          </a:prstGeom>
          <a:noFill/>
        </p:spPr>
        <p:txBody>
          <a:bodyPr wrap="square">
            <a:spAutoFit/>
          </a:bodyPr>
          <a:lstStyle/>
          <a:p>
            <a:pPr>
              <a:spcAft>
                <a:spcPts val="1400"/>
              </a:spcAft>
            </a:pPr>
            <a:r>
              <a:rPr sz="1900" b="0">
                <a:solidFill>
                  <a:srgbClr val="262626"/>
                </a:solidFill>
              </a:rPr>
              <a:t>•  </a:t>
            </a:r>
            <a:r>
              <a:rPr sz="1900" b="1">
                <a:solidFill>
                  <a:srgbClr val="262626"/>
                </a:solidFill>
              </a:rPr>
              <a:t>Mortgage-backed securities</a:t>
            </a:r>
            <a:r>
              <a:rPr sz="1900" b="0">
                <a:solidFill>
                  <a:srgbClr val="262626"/>
                </a:solidFill>
              </a:rPr>
              <a:t> — engine built, awaiting data (882)</a:t>
            </a:r>
          </a:p>
          <a:p>
            <a:pPr>
              <a:spcAft>
                <a:spcPts val="1400"/>
              </a:spcAft>
            </a:pPr>
            <a:r>
              <a:rPr sz="1900" b="0">
                <a:solidFill>
                  <a:srgbClr val="262626"/>
                </a:solidFill>
              </a:rPr>
              <a:t>•  </a:t>
            </a:r>
            <a:r>
              <a:rPr sz="1900" b="1">
                <a:solidFill>
                  <a:srgbClr val="262626"/>
                </a:solidFill>
              </a:rPr>
              <a:t>The other pooled products</a:t>
            </a:r>
            <a:r>
              <a:rPr sz="1900" b="0">
                <a:solidFill>
                  <a:srgbClr val="262626"/>
                </a:solidFill>
              </a:rPr>
              <a:t> — collateralised mortgage obligations, asset-backed, commercial mortgage-backed. Scoped; each reuses machinery that already exists (412)</a:t>
            </a:r>
          </a:p>
          <a:p>
            <a:pPr>
              <a:spcAft>
                <a:spcPts val="1400"/>
              </a:spcAft>
            </a:pPr>
            <a:r>
              <a:rPr sz="1900" b="0">
                <a:solidFill>
                  <a:srgbClr val="262626"/>
                </a:solidFill>
              </a:rPr>
              <a:t>•  </a:t>
            </a:r>
            <a:r>
              <a:rPr sz="1900" b="1">
                <a:solidFill>
                  <a:srgbClr val="262626"/>
                </a:solidFill>
              </a:rPr>
              <a:t>A portfolio-level credit risk layer</a:t>
            </a:r>
            <a:r>
              <a:rPr sz="1900" b="0">
                <a:solidFill>
                  <a:srgbClr val="262626"/>
                </a:solidFill>
              </a:rPr>
              <a:t> — in the original brief, not yet started</a:t>
            </a:r>
          </a:p>
          <a:p>
            <a:pPr>
              <a:spcAft>
                <a:spcPts val="1400"/>
              </a:spcAft>
            </a:pPr>
            <a:r>
              <a:rPr sz="1900" b="0">
                <a:solidFill>
                  <a:srgbClr val="262626"/>
                </a:solidFill>
              </a:rPr>
              <a:t>•  We are not blocked on anything in the second and third items except sequencing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02920"/>
            <a:ext cx="10728655" cy="1005840"/>
          </a:xfrm>
          <a:prstGeom prst="rect">
            <a:avLst/>
          </a:prstGeom>
          <a:noFill/>
        </p:spPr>
        <p:txBody>
          <a:bodyPr wrap="square">
            <a:spAutoFit/>
          </a:bodyPr>
          <a:lstStyle/>
          <a:p>
            <a:pPr>
              <a:spcAft>
                <a:spcPts val="400"/>
              </a:spcAft>
            </a:pPr>
            <a:r>
              <a:rPr sz="3000" b="1">
                <a:solidFill>
                  <a:srgbClr val="1F4E79"/>
                </a:solidFill>
              </a:rPr>
              <a:t>Handover</a:t>
            </a:r>
          </a:p>
        </p:txBody>
      </p:sp>
      <p:sp>
        <p:nvSpPr>
          <p:cNvPr id="3" name="TextBox 2"/>
          <p:cNvSpPr txBox="1"/>
          <p:nvPr/>
        </p:nvSpPr>
        <p:spPr>
          <a:xfrm>
            <a:off x="731520" y="1600200"/>
            <a:ext cx="10728655" cy="4709160"/>
          </a:xfrm>
          <a:prstGeom prst="rect">
            <a:avLst/>
          </a:prstGeom>
          <a:noFill/>
        </p:spPr>
        <p:txBody>
          <a:bodyPr wrap="square">
            <a:spAutoFit/>
          </a:bodyPr>
          <a:lstStyle/>
          <a:p>
            <a:pPr>
              <a:spcAft>
                <a:spcPts val="1400"/>
              </a:spcAft>
            </a:pPr>
            <a:r>
              <a:rPr sz="1900" b="0">
                <a:solidFill>
                  <a:srgbClr val="262626"/>
                </a:solidFill>
              </a:rPr>
              <a:t>•  The client asked for the code to be restructured so </a:t>
            </a:r>
            <a:r>
              <a:rPr sz="1900" b="1">
                <a:solidFill>
                  <a:srgbClr val="262626"/>
                </a:solidFill>
              </a:rPr>
              <a:t>their own engineering team can take it over</a:t>
            </a:r>
            <a:r>
              <a:rPr sz="1900" b="0">
                <a:solidFill>
                  <a:srgbClr val="262626"/>
                </a:solidFill>
              </a:rPr>
              <a:t> — that restructuring is complete</a:t>
            </a:r>
          </a:p>
          <a:p>
            <a:pPr>
              <a:spcAft>
                <a:spcPts val="1400"/>
              </a:spcAft>
            </a:pPr>
            <a:r>
              <a:rPr sz="1900" b="0">
                <a:solidFill>
                  <a:srgbClr val="262626"/>
                </a:solidFill>
              </a:rPr>
              <a:t>•  It </a:t>
            </a:r>
            <a:r>
              <a:rPr sz="1900" b="1">
                <a:solidFill>
                  <a:srgbClr val="262626"/>
                </a:solidFill>
              </a:rPr>
              <a:t>runs unchanged on their cloud platform</a:t>
            </a:r>
            <a:r>
              <a:rPr sz="1900" b="0">
                <a:solidFill>
                  <a:srgbClr val="262626"/>
                </a:solidFill>
              </a:rPr>
              <a:t>, so the whole team can use it rather than one machine</a:t>
            </a:r>
          </a:p>
          <a:p>
            <a:pPr>
              <a:spcAft>
                <a:spcPts val="1400"/>
              </a:spcAft>
            </a:pPr>
            <a:r>
              <a:rPr sz="1900" b="0">
                <a:solidFill>
                  <a:srgbClr val="262626"/>
                </a:solidFill>
              </a:rPr>
              <a:t>•  Everything ships with the data and the instructions to reproduce it — nothing depends on us being in the room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