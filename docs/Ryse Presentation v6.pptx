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is the commercial one — it is the capability that does not exist at all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what makes the goal arithmetic rather than aspirational. A thousand scenarios is a thousand times forty seconds divided by however many machines you run it on — a capacity question, and capacity is something you can buy. It was not a capacity question before. If an engineer asks how it runs there: today it is a checkout in an Azure terminal, which proves the code is portable and fast. Hosting it so other systems can call it is the next step and is on slide 9 — do not let "runs on Azure" be heard as "deployed as a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holdings file counts lines and we count securities, and they differ — a bond held by two managers appears on two lines. Lines reconcile against that sheet exactly, at 2,366. If anyone asks about the last three rows: the futures and options are counted as work still to do, not as work written off — they are not bonds and they would need machinery we have not designed, but they are sixteen securities and nobody should leave thinking we have excluded them. The last row is a fund holding rather than a bond — no ISIN, no maturity and no rating — so there is nothing in it for a bond model to price. The bar on the previous slide groups all three rows into "not yet built", which is the same statement said more coarsely.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the whole slide: we are not grading our own homework. Each of these three is checked against something outside the system — a mathematical identity, someone else's calculation, and public government data. Numbers if anyone asks. The zero test covers bonds priced on their own government's curve — eleven Japanese and twelve UK, with the under-one-year bonds left out, the same rule every average in this project uses. The rate-sensitivity comparison is the five agency bonds that can be repaid early, the only ones where the custodian's figure and ours measure the same thing; four agree within three-quarters of a year on figures running from one to nine years, and the fifth differs by about two. The inflation check found something too: those records are struck one day after the valuation date, which had been invisible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 On the cloud step: today each of us runs the code in our own Azure terminal, which was the point of the September trial. Hosting it so Excel or another system can call it over the network is separate, known work — we put it to Mario in that report as an explicit question and it is still open. ⚠️ If anyone joins the previous slide to this one and asks why futures and options are not on it: because "scoped" on that table is a status, not a queue position. They are sixteen securities out of 2,260, they are the only remaining rows that would need machinery we have not designed, and they sit behind everything on this slide. Say that rather than improvising a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Upgrading the 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22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depends on years of accumulated VBA code (~14,000 lines) spread across workbooks that only the owner can operate or modify.</a:t>
            </a:r>
          </a:p>
          <a:p>
            <a:pPr>
              <a:spcAft>
                <a:spcPts val="900"/>
              </a:spcAft>
            </a:pPr>
            <a:r>
              <a:rPr sz="1300" b="0">
                <a:solidFill>
                  <a:srgbClr val="262626"/>
                </a:solidFill>
              </a:rPr>
              <a:t>•  Running a thousand what-if scenarios takes far too long, or crashes Excel, making scenario analysis and Monte Carlo simulations impractical.</a:t>
            </a:r>
          </a:p>
          <a:p>
            <a:pPr>
              <a:spcAft>
                <a:spcPts val="900"/>
              </a:spcAft>
            </a:pPr>
            <a:r>
              <a:rPr sz="1300" b="0">
                <a:solidFill>
                  <a:srgbClr val="262626"/>
                </a:solidFill>
              </a:rPr>
              <a:t>•  Spreadsheets cannot be tested: there is no systematic way to detect when a change produces a wrong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 single system prices every instrument class in the book.</a:t>
            </a:r>
          </a:p>
          <a:p>
            <a:pPr>
              <a:spcAft>
                <a:spcPts val="900"/>
              </a:spcAft>
            </a:pPr>
            <a:r>
              <a:rPr sz="1300" b="0">
                <a:solidFill>
                  <a:srgbClr val="262626"/>
                </a:solidFill>
              </a:rPr>
              <a:t>•  Outputs are reproducible and testable: </a:t>
            </a:r>
            <a:r>
              <a:rPr sz="1300" b="1">
                <a:solidFill>
                  <a:srgbClr val="262626"/>
                </a:solidFill>
              </a:rPr>
              <a:t>a change to the code</a:t>
            </a:r>
            <a:r>
              <a:rPr sz="1300" b="0">
                <a:solidFill>
                  <a:srgbClr val="262626"/>
                </a:solidFill>
              </a:rPr>
              <a:t> that alters a result is detected automatically.</a:t>
            </a:r>
          </a:p>
          <a:p>
            <a:pPr>
              <a:spcAft>
                <a:spcPts val="900"/>
              </a:spcAft>
            </a:pPr>
            <a:r>
              <a:rPr sz="1300" b="0">
                <a:solidFill>
                  <a:srgbClr val="262626"/>
                </a:solidFill>
              </a:rPr>
              <a:t>•  Cloud-based parallel execution means a thousand-scenario what-if completes in minutes instead of being out of reach.</a:t>
            </a:r>
          </a:p>
          <a:p>
            <a:pPr>
              <a:spcAft>
                <a:spcPts val="900"/>
              </a:spcAft>
            </a:pPr>
            <a:r>
              <a:rPr sz="1300" b="0">
                <a:solidFill>
                  <a:srgbClr val="262626"/>
                </a:solidFill>
              </a:rPr>
              <a:t>•  Layered on top: portfolio-level risk, available once all instrument classes are coded.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6 of 13 categories done: 949 securities, with 766 priceable by the new engine.</a:t>
            </a:r>
          </a:p>
          <a:p>
            <a:pPr>
              <a:spcAft>
                <a:spcPts val="900"/>
              </a:spcAft>
            </a:pPr>
            <a:r>
              <a:rPr sz="1300" b="0">
                <a:solidFill>
                  <a:srgbClr val="262626"/>
                </a:solidFill>
              </a:rPr>
              <a:t>•  JSON dictionaries for every input and output — this makes parallel computing much easier.</a:t>
            </a:r>
          </a:p>
          <a:p>
            <a:pPr>
              <a:spcAft>
                <a:spcPts val="900"/>
              </a:spcAft>
            </a:pPr>
            <a:r>
              <a:rPr sz="1300" b="0">
                <a:solidFill>
                  <a:srgbClr val="262626"/>
                </a:solidFill>
              </a:rPr>
              <a:t>•  </a:t>
            </a:r>
            <a:r>
              <a:rPr sz="1300" b="1">
                <a:solidFill>
                  <a:srgbClr val="262626"/>
                </a:solidFill>
              </a:rPr>
              <a:t>The code already runs unchanged on Azure</a:t>
            </a:r>
            <a:r>
              <a:rPr sz="1300" b="0">
                <a:solidFill>
                  <a:srgbClr val="262626"/>
                </a:solidFill>
              </a:rPr>
              <a:t> — a clean checkout reprices the whole book in 40 seconds, measured.</a:t>
            </a:r>
          </a:p>
          <a:p>
            <a:pPr>
              <a:spcAft>
                <a:spcPts val="900"/>
              </a:spcAft>
            </a:pPr>
            <a:r>
              <a:rPr sz="1300" b="0">
                <a:solidFill>
                  <a:srgbClr val="262626"/>
                </a:solidFill>
              </a:rPr>
              <a:t>•  Next: focus on mortgage-backed securities and other instruments, then hand the code to Ryse's engineer for parallel-computing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our new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Given a bond, today's rate, and the market price, it returns the spread the market is charging that borrower and the bond's sensitivity to rate moves.</a:t>
            </a:r>
          </a:p>
          <a:p>
            <a:pPr>
              <a:spcAft>
                <a:spcPts val="900"/>
              </a:spcAft>
            </a:pPr>
            <a:r>
              <a:rPr sz="1300" b="0">
                <a:solidFill>
                  <a:srgbClr val="262626"/>
                </a:solidFill>
              </a:rPr>
              <a:t>•  Runs three ways — spreadsheet, command line, or as a service other systems call — and returns the same answer from all three.</a:t>
            </a:r>
          </a:p>
          <a:p>
            <a:pPr>
              <a:spcAft>
                <a:spcPts val="900"/>
              </a:spcAft>
            </a:pPr>
            <a:r>
              <a:rPr sz="1300" b="0">
                <a:solidFill>
                  <a:srgbClr val="262626"/>
                </a:solidFill>
              </a:rPr>
              <a:t>•  Reproducible to the byte — run it again a month later, same results.</a:t>
            </a:r>
          </a:p>
          <a:p>
            <a:pPr>
              <a:spcAft>
                <a:spcPts val="900"/>
              </a:spcAft>
            </a:pPr>
            <a:r>
              <a:rPr sz="1300" b="0">
                <a:solidFill>
                  <a:srgbClr val="262626"/>
                </a:solidFill>
              </a:rPr>
              <a:t>•  Built and checked against a real portfolio — a pension fund's fixed-income book, March 2009 — chosen because the answers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sp>
        <p:nvSpPr>
          <p:cNvPr id="3" name="Rectangle 2"/>
          <p:cNvSpPr/>
          <p:nvPr/>
        </p:nvSpPr>
        <p:spPr>
          <a:xfrm>
            <a:off x="502920" y="1078992"/>
            <a:ext cx="3417307" cy="8412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949</a:t>
            </a:r>
          </a:p>
        </p:txBody>
      </p:sp>
      <p:sp>
        <p:nvSpPr>
          <p:cNvPr id="4" name="TextBox 3"/>
          <p:cNvSpPr txBox="1"/>
          <p:nvPr/>
        </p:nvSpPr>
        <p:spPr>
          <a:xfrm>
            <a:off x="502920" y="1975104"/>
            <a:ext cx="3417307" cy="384048"/>
          </a:xfrm>
          <a:prstGeom prst="rect">
            <a:avLst/>
          </a:prstGeom>
          <a:noFill/>
        </p:spPr>
        <p:txBody>
          <a:bodyPr wrap="square">
            <a:spAutoFit/>
          </a:bodyPr>
          <a:lstStyle/>
          <a:p>
            <a:pPr>
              <a:spcAft>
                <a:spcPts val="0"/>
              </a:spcAft>
            </a:pPr>
            <a:r>
              <a:rPr sz="1000" b="1">
                <a:solidFill>
                  <a:srgbClr val="1F4E79"/>
                </a:solidFill>
              </a:rPr>
              <a:t>Complete</a:t>
            </a:r>
          </a:p>
        </p:txBody>
      </p:sp>
      <p:sp>
        <p:nvSpPr>
          <p:cNvPr id="5" name="Rectangle 4"/>
          <p:cNvSpPr/>
          <p:nvPr/>
        </p:nvSpPr>
        <p:spPr>
          <a:xfrm>
            <a:off x="3920227" y="1078992"/>
            <a:ext cx="3176043" cy="841248"/>
          </a:xfrm>
          <a:prstGeom prst="rect">
            <a:avLst/>
          </a:prstGeom>
          <a:solidFill>
            <a:srgbClr val="D689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882</a:t>
            </a:r>
          </a:p>
        </p:txBody>
      </p:sp>
      <p:sp>
        <p:nvSpPr>
          <p:cNvPr id="6" name="TextBox 5"/>
          <p:cNvSpPr txBox="1"/>
          <p:nvPr/>
        </p:nvSpPr>
        <p:spPr>
          <a:xfrm>
            <a:off x="3920227" y="1975104"/>
            <a:ext cx="3176043" cy="384048"/>
          </a:xfrm>
          <a:prstGeom prst="rect">
            <a:avLst/>
          </a:prstGeom>
          <a:noFill/>
        </p:spPr>
        <p:txBody>
          <a:bodyPr wrap="square">
            <a:spAutoFit/>
          </a:bodyPr>
          <a:lstStyle/>
          <a:p>
            <a:pPr>
              <a:spcAft>
                <a:spcPts val="0"/>
              </a:spcAft>
            </a:pPr>
            <a:r>
              <a:rPr sz="1000" b="1">
                <a:solidFill>
                  <a:srgbClr val="D68910"/>
                </a:solidFill>
              </a:rPr>
              <a:t>Engine built — next</a:t>
            </a:r>
          </a:p>
        </p:txBody>
      </p:sp>
      <p:sp>
        <p:nvSpPr>
          <p:cNvPr id="7" name="Rectangle 6"/>
          <p:cNvSpPr/>
          <p:nvPr/>
        </p:nvSpPr>
        <p:spPr>
          <a:xfrm>
            <a:off x="7096270" y="1078992"/>
            <a:ext cx="1544810" cy="84124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429</a:t>
            </a:r>
          </a:p>
        </p:txBody>
      </p:sp>
      <p:sp>
        <p:nvSpPr>
          <p:cNvPr id="8" name="TextBox 7"/>
          <p:cNvSpPr txBox="1"/>
          <p:nvPr/>
        </p:nvSpPr>
        <p:spPr>
          <a:xfrm>
            <a:off x="7096270" y="1975104"/>
            <a:ext cx="1544810" cy="384048"/>
          </a:xfrm>
          <a:prstGeom prst="rect">
            <a:avLst/>
          </a:prstGeom>
          <a:noFill/>
        </p:spPr>
        <p:txBody>
          <a:bodyPr wrap="square">
            <a:spAutoFit/>
          </a:bodyPr>
          <a:lstStyle/>
          <a:p>
            <a:pPr>
              <a:spcAft>
                <a:spcPts val="0"/>
              </a:spcAft>
            </a:pPr>
            <a:r>
              <a:rPr sz="1000" b="1">
                <a:solidFill>
                  <a:srgbClr val="9E9E9E"/>
                </a:solidFill>
              </a:rPr>
              <a:t>Not yet built</a:t>
            </a:r>
          </a:p>
        </p:txBody>
      </p:sp>
      <p:sp>
        <p:nvSpPr>
          <p:cNvPr id="9" name="TextBox 8"/>
          <p:cNvSpPr txBox="1"/>
          <p:nvPr/>
        </p:nvSpPr>
        <p:spPr>
          <a:xfrm>
            <a:off x="502920" y="2450592"/>
            <a:ext cx="8138160" cy="25100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do we know the numbers are right</a:t>
            </a:r>
          </a:p>
        </p:txBody>
      </p:sp>
      <p:sp>
        <p:nvSpPr>
          <p:cNvPr id="3" name="TextBox 2"/>
          <p:cNvSpPr txBox="1"/>
          <p:nvPr/>
        </p:nvSpPr>
        <p:spPr>
          <a:xfrm>
            <a:off x="502920" y="1078992"/>
            <a:ext cx="8138160" cy="512064"/>
          </a:xfrm>
          <a:prstGeom prst="rect">
            <a:avLst/>
          </a:prstGeom>
          <a:noFill/>
        </p:spPr>
        <p:txBody>
          <a:bodyPr wrap="square">
            <a:spAutoFit/>
          </a:bodyPr>
          <a:lstStyle/>
          <a:p>
            <a:pPr>
              <a:spcAft>
                <a:spcPts val="200"/>
              </a:spcAft>
            </a:pPr>
            <a:r>
              <a:rPr sz="1600" b="1">
                <a:solidFill>
                  <a:srgbClr val="1F4E79"/>
                </a:solidFill>
              </a:rPr>
              <a:t>Three checks. Not one of them uses anything we control.</a:t>
            </a:r>
          </a:p>
        </p:txBody>
      </p:sp>
      <p:sp>
        <p:nvSpPr>
          <p:cNvPr id="4" name="TextBox 3"/>
          <p:cNvSpPr txBox="1"/>
          <p:nvPr/>
        </p:nvSpPr>
        <p:spPr>
          <a:xfrm>
            <a:off x="502920" y="1591056"/>
            <a:ext cx="8138160" cy="3369564"/>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thermometer has to read zero in ice water.</a:t>
            </a:r>
            <a:r>
              <a:rPr sz="1300" b="0">
                <a:solidFill>
                  <a:srgbClr val="262626"/>
                </a:solidFill>
              </a:rPr>
              <a:t> We measure what a bond pays above its own government's cost of borrowing — so for a government's own bond, the answer has to be zero. Japan comes out at 0.00%, the UK at 0.04%.</a:t>
            </a:r>
          </a:p>
          <a:p>
            <a:pPr>
              <a:spcAft>
                <a:spcPts val="900"/>
              </a:spcAft>
            </a:pPr>
            <a:r>
              <a:rPr sz="1300" b="0">
                <a:solidFill>
                  <a:srgbClr val="262626"/>
                </a:solidFill>
              </a:rPr>
              <a:t>•  </a:t>
            </a:r>
            <a:r>
              <a:rPr sz="1300" b="1">
                <a:solidFill>
                  <a:srgbClr val="262626"/>
                </a:solidFill>
              </a:rPr>
              <a:t>An outside system computes some of the same numbers, and ours match.</a:t>
            </a:r>
            <a:r>
              <a:rPr sz="1300" b="0">
                <a:solidFill>
                  <a:srgbClr val="262626"/>
                </a:solidFill>
              </a:rPr>
              <a:t> The custodian holding these bonds publishes its own measure of how much each one moves when interest rates move. We compute ours from scratch — on four of the five where both exist, the two agree.</a:t>
            </a:r>
          </a:p>
          <a:p>
            <a:pPr>
              <a:spcAft>
                <a:spcPts val="900"/>
              </a:spcAft>
            </a:pPr>
            <a:r>
              <a:rPr sz="1300" b="0">
                <a:solidFill>
                  <a:srgbClr val="262626"/>
                </a:solidFill>
              </a:rPr>
              <a:t>•  </a:t>
            </a:r>
            <a:r>
              <a:rPr sz="1300" b="1">
                <a:solidFill>
                  <a:srgbClr val="262626"/>
                </a:solidFill>
              </a:rPr>
              <a:t>We rebuilt the client's own figures from public data.</a:t>
            </a:r>
            <a:r>
              <a:rPr sz="1300" b="0">
                <a:solidFill>
                  <a:srgbClr val="262626"/>
                </a:solidFill>
              </a:rPr>
              <a:t> An inflation-linked bond carries a factor for the inflation since it was issued. We recomputed all thirteen of them from published US inflation statistics — and they match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mortgage obligations, asset-backed and commercial mortgage-backed; each reuses machinery that already exists</a:t>
            </a:r>
          </a:p>
          <a:p>
            <a:pPr>
              <a:spcAft>
                <a:spcPts val="900"/>
              </a:spcAft>
            </a:pPr>
            <a:r>
              <a:rPr sz="1300" b="0">
                <a:solidFill>
                  <a:srgbClr val="262626"/>
                </a:solidFill>
              </a:rPr>
              <a:t>•  </a:t>
            </a:r>
            <a:r>
              <a:rPr sz="1300" b="1">
                <a:solidFill>
                  <a:srgbClr val="262626"/>
                </a:solidFill>
              </a:rPr>
              <a:t>Hosting it as a service, then running it in parallel</a:t>
            </a:r>
            <a:r>
              <a:rPr sz="1300" b="0">
                <a:solidFill>
                  <a:srgbClr val="262626"/>
                </a:solidFill>
              </a:rPr>
              <a:t> — with Ryse's engineer. It is a defined piece of work, not a rewrite: the system already answers one request at a time, which is exactly the shape a cloud service wants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