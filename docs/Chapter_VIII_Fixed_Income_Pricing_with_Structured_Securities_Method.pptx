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462" r:id="rId2"/>
    <p:sldId id="464" r:id="rId3"/>
    <p:sldId id="465" r:id="rId4"/>
    <p:sldId id="466" r:id="rId5"/>
    <p:sldId id="468" r:id="rId6"/>
    <p:sldId id="469" r:id="rId7"/>
    <p:sldId id="470" r:id="rId8"/>
    <p:sldId id="471" r:id="rId9"/>
    <p:sldId id="472" r:id="rId10"/>
    <p:sldId id="475" r:id="rId11"/>
    <p:sldId id="476" r:id="rId12"/>
    <p:sldId id="477" r:id="rId13"/>
    <p:sldId id="478" r:id="rId14"/>
    <p:sldId id="479" r:id="rId15"/>
    <p:sldId id="47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23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Chrome_Downloads\Ryse_Coverage_Stacked_Bar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10"/>
    </mc:Choice>
    <mc:Fallback>
      <c:style val="10"/>
    </mc:Fallback>
  </mc:AlternateContent>
  <c:chart>
    <c:autoTitleDeleted val="1"/>
    <c:plotArea>
      <c:layout>
        <c:manualLayout>
          <c:layoutTarget val="inner"/>
          <c:xMode val="edge"/>
          <c:yMode val="edge"/>
          <c:x val="2.4253472222222221E-2"/>
          <c:y val="7.7611111111111117E-2"/>
          <c:w val="0.95149305555555552"/>
          <c:h val="0.8095"/>
        </c:manualLayout>
      </c:layout>
      <c:barChart>
        <c:barDir val="bar"/>
        <c:grouping val="stacked"/>
        <c:varyColors val="1"/>
        <c:ser>
          <c:idx val="0"/>
          <c:order val="0"/>
          <c:tx>
            <c:strRef>
              <c:f>Coverage!$F$1</c:f>
              <c:strCache>
                <c:ptCount val="1"/>
                <c:pt idx="0">
                  <c:v>Complete (42%)</c:v>
                </c:pt>
              </c:strCache>
            </c:strRef>
          </c:tx>
          <c:spPr>
            <a:solidFill>
              <a:srgbClr val="18CFE8"/>
            </a:solidFill>
            <a:ln>
              <a:solidFill>
                <a:srgbClr val="18CFE8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>
                    <a:solidFill>
                      <a:schemeClr val="bg2">
                        <a:lumMod val="25000"/>
                      </a:schemeClr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Coverage!$E$2</c:f>
              <c:strCache>
                <c:ptCount val="1"/>
                <c:pt idx="0">
                  <c:v>Coverage</c:v>
                </c:pt>
              </c:strCache>
            </c:strRef>
          </c:cat>
          <c:val>
            <c:numRef>
              <c:f>Coverage!$F$2</c:f>
              <c:numCache>
                <c:formatCode>General</c:formatCode>
                <c:ptCount val="1"/>
                <c:pt idx="0">
                  <c:v>949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18CFE8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1C79-4FC3-B464-738D12EBFD71}"/>
            </c:ext>
          </c:extLst>
        </c:ser>
        <c:ser>
          <c:idx val="1"/>
          <c:order val="1"/>
          <c:tx>
            <c:strRef>
              <c:f>Coverage!$G$1</c:f>
              <c:strCache>
                <c:ptCount val="1"/>
                <c:pt idx="0">
                  <c:v>Engine built — next (39%)</c:v>
                </c:pt>
              </c:strCache>
            </c:strRef>
          </c:tx>
          <c:spPr>
            <a:solidFill>
              <a:srgbClr val="159CEB"/>
            </a:solidFill>
            <a:ln>
              <a:solidFill>
                <a:srgbClr val="159CEB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>
                    <a:solidFill>
                      <a:schemeClr val="bg2">
                        <a:lumMod val="25000"/>
                      </a:schemeClr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Coverage!$E$2</c:f>
              <c:strCache>
                <c:ptCount val="1"/>
                <c:pt idx="0">
                  <c:v>Coverage</c:v>
                </c:pt>
              </c:strCache>
            </c:strRef>
          </c:cat>
          <c:val>
            <c:numRef>
              <c:f>Coverage!$G$2</c:f>
              <c:numCache>
                <c:formatCode>General</c:formatCode>
                <c:ptCount val="1"/>
                <c:pt idx="0">
                  <c:v>882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159CEB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1C79-4FC3-B464-738D12EBFD71}"/>
            </c:ext>
          </c:extLst>
        </c:ser>
        <c:ser>
          <c:idx val="2"/>
          <c:order val="2"/>
          <c:tx>
            <c:strRef>
              <c:f>Coverage!$H$1</c:f>
              <c:strCache>
                <c:ptCount val="1"/>
                <c:pt idx="0">
                  <c:v>Not yet built (19%)</c:v>
                </c:pt>
              </c:strCache>
            </c:strRef>
          </c:tx>
          <c:spPr>
            <a:solidFill>
              <a:srgbClr val="9AA7B3"/>
            </a:solidFill>
            <a:ln>
              <a:solidFill>
                <a:srgbClr val="9AA7B3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>
                    <a:solidFill>
                      <a:schemeClr val="bg2">
                        <a:lumMod val="25000"/>
                      </a:schemeClr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Coverage!$E$2</c:f>
              <c:strCache>
                <c:ptCount val="1"/>
                <c:pt idx="0">
                  <c:v>Coverage</c:v>
                </c:pt>
              </c:strCache>
            </c:strRef>
          </c:cat>
          <c:val>
            <c:numRef>
              <c:f>Coverage!$H$2</c:f>
              <c:numCache>
                <c:formatCode>General</c:formatCode>
                <c:ptCount val="1"/>
                <c:pt idx="0">
                  <c:v>429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9AA7B3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1C79-4FC3-B464-738D12EBFD7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1"/>
          <c:showBubbleSize val="1"/>
        </c:dLbls>
        <c:gapWidth val="30"/>
        <c:overlap val="100"/>
        <c:axId val="10"/>
        <c:axId val="100"/>
      </c:barChart>
      <c:catAx>
        <c:axId val="1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0"/>
        <c:crosses val="autoZero"/>
        <c:auto val="1"/>
        <c:lblAlgn val="ctr"/>
        <c:lblOffset val="100"/>
        <c:noMultiLvlLbl val="1"/>
      </c:catAx>
      <c:valAx>
        <c:axId val="100"/>
        <c:scaling>
          <c:orientation val="minMax"/>
        </c:scaling>
        <c:delete val="1"/>
        <c:axPos val="b"/>
        <c:majorGridlines>
          <c:spPr>
            <a:ln>
              <a:prstDash val="dash"/>
            </a:ln>
          </c:spPr>
        </c:majorGridlines>
        <c:numFmt formatCode="General" sourceLinked="1"/>
        <c:majorTickMark val="none"/>
        <c:minorTickMark val="none"/>
        <c:tickLblPos val="nextTo"/>
        <c:crossAx val="10"/>
        <c:crosses val="autoZero"/>
        <c:crossBetween val="between"/>
      </c:valAx>
      <c:spPr>
        <a:noFill/>
      </c:spPr>
    </c:plotArea>
    <c:legend>
      <c:legendPos val="b"/>
      <c:layout>
        <c:manualLayout>
          <c:xMode val="edge"/>
          <c:yMode val="edge"/>
          <c:x val="0.12998819444444445"/>
          <c:y val="0.87241500000000005"/>
          <c:w val="0.74002361111111115"/>
          <c:h val="0.127585"/>
        </c:manualLayout>
      </c:layout>
      <c:overlay val="1"/>
      <c:txPr>
        <a:bodyPr/>
        <a:lstStyle/>
        <a:p>
          <a:pPr>
            <a:defRPr sz="1200" b="1"/>
          </a:pPr>
          <a:endParaRPr lang="en-US"/>
        </a:p>
      </c:txPr>
    </c:legend>
    <c:plotVisOnly val="1"/>
    <c:dispBlanksAs val="gap"/>
    <c:showDLblsOverMax val="1"/>
  </c:chart>
  <c:spPr>
    <a:noFill/>
    <a:ln>
      <a:noFill/>
    </a:ln>
  </c:spPr>
  <c:txPr>
    <a:bodyPr/>
    <a:lstStyle/>
    <a:p>
      <a:pPr>
        <a:defRPr>
          <a:solidFill>
            <a:schemeClr val="bg2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D52870-88F4-43A6-BEB9-A0D15DE07D7E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DA6CD2-B612-4904-8C24-332ABF7741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471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90D23-85BB-5C7B-3A86-AEA3A0001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82FB01-A2B0-45A0-3DAD-1485A85969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0A45BD-F6BA-D5A6-C161-FC9F5880E0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908C37-A55A-4304-B4E9-D6AE36034D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1614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94719-4AE1-A995-7A43-CEEC48C88E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6D00BE-5906-BDBE-D268-86A75FCB91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D087F8-47F2-B36F-C5BE-F032FE4E4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D1EC9-0AD3-4F4E-91FA-38C2B9267C95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FB28B1-852C-C30F-2DC6-E565BB870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E54422-6821-357E-3E61-0DBDBC2A7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A2B0A-FF5E-4DD3-808F-0442F9736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592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FAFD0-B8F1-DF3D-0448-775E9931B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AB5D84-433D-08D4-2A0B-AAC31277EC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DDB64C-BD85-3BE2-158F-FCBDB5558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D1EC9-0AD3-4F4E-91FA-38C2B9267C95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666A56-522A-FCE5-CA44-4FA672DE2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0C8C8E-AA9A-317E-9F65-15B50897D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A2B0A-FF5E-4DD3-808F-0442F9736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091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D3A77-295C-FB5B-9C1D-F292DEA08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EADB66-1A44-72DF-F8B2-DC9F3580C3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46F20E-D0F4-3C88-1A49-18891A814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D1EC9-0AD3-4F4E-91FA-38C2B9267C95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068FE0-B6FA-E480-C974-C8B4BA06A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E3BBEB-1BD8-43F1-36FA-05E9FB6D8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A2B0A-FF5E-4DD3-808F-0442F9736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630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B4421-2000-AF6F-3955-51B6D4F93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062B44-E942-67D7-BD3D-2AB656E07B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8A1B6A-A8CD-A89E-D6BE-55181EE15E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3BAAA2-F6C8-3B8B-A381-262CB3C81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D1EC9-0AD3-4F4E-91FA-38C2B9267C95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0A72F6-A752-F2BA-A9A2-9979A3E45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3DA107-4447-8EB1-814F-32763503B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A2B0A-FF5E-4DD3-808F-0442F9736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591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78B0-148C-9AED-EFB1-B0D74FD44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316050-4A5E-C7C4-728F-9CD68C608A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757640-A481-8F90-A3AF-A099516F20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EFB8F1-DC51-DD41-BFBB-62DD85DBF7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CC2886-4CF2-6229-1B41-4C1AA57042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6145F2-335A-B10C-30BF-21E68B107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D1EC9-0AD3-4F4E-91FA-38C2B9267C95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C58C7E-79B0-D4AA-0B18-702A224D5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8A8DAA-7B15-BC1B-9B8D-EC8B4469C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A2B0A-FF5E-4DD3-808F-0442F9736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87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40E25-181A-0221-D3B5-8E7F26781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6862F5-A998-6566-ADFF-C17D2A7BF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D1EC9-0AD3-4F4E-91FA-38C2B9267C95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CFB6D3-5794-17A1-A463-59AF60CF6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422977-10B4-2551-D2C3-394C0ABDE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A2B0A-FF5E-4DD3-808F-0442F9736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442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FB3748-DF67-7882-0131-FA4334FCD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D1EC9-0AD3-4F4E-91FA-38C2B9267C95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E3D19B-6623-A430-C591-88B209DB7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BBABDB-5BB3-B823-6C15-7645C813E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A2B0A-FF5E-4DD3-808F-0442F9736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344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8858E-509D-7981-26EF-B3A5F5413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CDCF7-24BD-5B74-C650-AF5D82EB3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038C5A-E456-9DB7-2284-A23FD2032F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BA850D-B462-4FAE-D980-B9B9ED717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D1EC9-0AD3-4F4E-91FA-38C2B9267C95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6362A3-54F3-C693-5B29-96E957E75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139062-B16A-893D-7FDA-20E8ECD02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A2B0A-FF5E-4DD3-808F-0442F9736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898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DF94C-B254-2044-3460-7EB59D4E5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4636C2-C465-01B5-B7FA-76F72788799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7339C7-B866-EFBB-02F0-9BAED5BD26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ACE8F3-DD20-31A9-99B9-339FBF3EF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D1EC9-0AD3-4F4E-91FA-38C2B9267C95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51E2CE-4CCD-924E-6D85-72FF30639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C02D4A-4171-E98D-5C4C-2E412A454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A2B0A-FF5E-4DD3-808F-0442F9736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470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2F789-C7A6-6D49-5C04-4F36EC4CB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D271A8-F7D2-4236-9DA4-85990EB9CE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1ACCB1-D329-707C-539C-B4A68C2DD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D1EC9-0AD3-4F4E-91FA-38C2B9267C95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B43931-80B6-1DC1-2421-2C4D51EC8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A90486-F515-AA8B-A8BA-6A825AE71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A2B0A-FF5E-4DD3-808F-0442F9736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29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0E7AA1-AB7C-AA6A-A69A-A090DCD080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EFB230-FF4D-EF6F-0AF4-10F29414D2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2E5C3D-9841-6585-E1F8-9BBD4D9D2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D1EC9-0AD3-4F4E-91FA-38C2B9267C95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0526BE-938E-818A-727C-E09124A50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E7D943-15E2-271E-B25D-57F0CF897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A2B0A-FF5E-4DD3-808F-0442F9736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4982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2886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3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BAB472-4D8D-E736-AAD3-AC0971196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3871A7-069D-0234-42EC-153044B57B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380F06-DD54-39FF-686B-1A098A61EE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2D1EC9-0AD3-4F4E-91FA-38C2B9267C95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F0BA3B-BC4B-CB33-CB2E-9CA7CB33FD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10B20-E227-DDB8-FCB2-FD9A4F7426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4A2B0A-FF5E-4DD3-808F-0442F9736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404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34FF7-6BE2-1F90-29CF-A3CB0AD28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>
            <a:extLst>
              <a:ext uri="{FF2B5EF4-FFF2-40B4-BE49-F238E27FC236}">
                <a16:creationId xmlns:a16="http://schemas.microsoft.com/office/drawing/2014/main" id="{C83A2925-E968-850F-761D-CF499198EFEA}"/>
              </a:ext>
            </a:extLst>
          </p:cNvPr>
          <p:cNvSpPr txBox="1"/>
          <p:nvPr/>
        </p:nvSpPr>
        <p:spPr>
          <a:xfrm>
            <a:off x="-169314" y="2100640"/>
            <a:ext cx="3319157" cy="190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algn="r">
              <a:buNone/>
              <a:defRPr sz="21000" b="1" kern="0" spc="-375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r>
              <a:rPr lang="en-US" dirty="0">
                <a:latin typeface="Arial Narrow" panose="020B0606020202030204" pitchFamily="34" charset="0"/>
              </a:rPr>
              <a:t>VII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8E4FA91-7197-52FD-848C-43B77D448A8A}"/>
              </a:ext>
            </a:extLst>
          </p:cNvPr>
          <p:cNvSpPr txBox="1"/>
          <p:nvPr/>
        </p:nvSpPr>
        <p:spPr>
          <a:xfrm>
            <a:off x="3892685" y="2614680"/>
            <a:ext cx="7144207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4800" b="1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r>
              <a:rPr lang="en-US" dirty="0"/>
              <a:t>Fixed Income Pricing Platform</a:t>
            </a: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636ED3A7-7DCD-E1FB-8E26-7FA6CC3ACDD0}"/>
              </a:ext>
            </a:extLst>
          </p:cNvPr>
          <p:cNvSpPr txBox="1"/>
          <p:nvPr/>
        </p:nvSpPr>
        <p:spPr>
          <a:xfrm>
            <a:off x="3918120" y="4147548"/>
            <a:ext cx="7144207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2200">
                <a:solidFill>
                  <a:srgbClr val="A0B0C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r>
              <a:rPr lang="en-US" dirty="0"/>
              <a:t>From single-thread code to an institutional pricing, cloud- based, pricing engine</a:t>
            </a: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22E91618-EF8C-43D9-B16A-45CB8044A51C}"/>
              </a:ext>
            </a:extLst>
          </p:cNvPr>
          <p:cNvSpPr txBox="1"/>
          <p:nvPr/>
        </p:nvSpPr>
        <p:spPr>
          <a:xfrm>
            <a:off x="3951518" y="2384392"/>
            <a:ext cx="758232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b="1" kern="0" spc="30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r>
              <a:rPr lang="en-US" dirty="0"/>
              <a:t>Section VII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1044EB1-E826-E93A-B7D1-35C89E08E4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670" y="6510286"/>
            <a:ext cx="960830" cy="355863"/>
          </a:xfrm>
          <a:prstGeom prst="rect">
            <a:avLst/>
          </a:prstGeom>
          <a:noFill/>
          <a:ln/>
        </p:spPr>
      </p:pic>
      <p:pic>
        <p:nvPicPr>
          <p:cNvPr id="15" name="Image 2" descr="gen-dedup-248b879c220a23afdcfc3e8e22f5bed2.png">
            <a:extLst>
              <a:ext uri="{FF2B5EF4-FFF2-40B4-BE49-F238E27FC236}">
                <a16:creationId xmlns:a16="http://schemas.microsoft.com/office/drawing/2014/main" id="{4B686D39-F2D7-B157-079F-AFA07407931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502" b="3502"/>
          <a:stretch/>
        </p:blipFill>
        <p:spPr>
          <a:xfrm>
            <a:off x="3427709" y="3193898"/>
            <a:ext cx="38405" cy="3047695"/>
          </a:xfrm>
          <a:prstGeom prst="rect">
            <a:avLst/>
          </a:prstGeom>
        </p:spPr>
      </p:pic>
      <p:sp>
        <p:nvSpPr>
          <p:cNvPr id="11" name="Shape 12">
            <a:extLst>
              <a:ext uri="{FF2B5EF4-FFF2-40B4-BE49-F238E27FC236}">
                <a16:creationId xmlns:a16="http://schemas.microsoft.com/office/drawing/2014/main" id="{F2C37ACE-8426-E15E-445B-DE5628F658C9}"/>
              </a:ext>
            </a:extLst>
          </p:cNvPr>
          <p:cNvSpPr/>
          <p:nvPr/>
        </p:nvSpPr>
        <p:spPr>
          <a:xfrm>
            <a:off x="3418610" y="6188973"/>
            <a:ext cx="56603" cy="56603"/>
          </a:xfrm>
          <a:prstGeom prst="roundRect">
            <a:avLst>
              <a:gd name="adj" fmla="val 266667"/>
            </a:avLst>
          </a:prstGeom>
          <a:solidFill>
            <a:srgbClr val="00D4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5E2946DF-61CB-B0AD-D8B9-C2E582E8B6E0}"/>
              </a:ext>
            </a:extLst>
          </p:cNvPr>
          <p:cNvSpPr/>
          <p:nvPr/>
        </p:nvSpPr>
        <p:spPr>
          <a:xfrm>
            <a:off x="3418610" y="5649928"/>
            <a:ext cx="56603" cy="56603"/>
          </a:xfrm>
          <a:prstGeom prst="roundRect">
            <a:avLst>
              <a:gd name="adj" fmla="val 266667"/>
            </a:avLst>
          </a:prstGeom>
          <a:solidFill>
            <a:srgbClr val="00D4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7039FC98-ED08-8307-9FC2-3B529EE2E3A1}"/>
              </a:ext>
            </a:extLst>
          </p:cNvPr>
          <p:cNvSpPr/>
          <p:nvPr/>
        </p:nvSpPr>
        <p:spPr>
          <a:xfrm>
            <a:off x="3418610" y="5088306"/>
            <a:ext cx="56603" cy="56603"/>
          </a:xfrm>
          <a:prstGeom prst="roundRect">
            <a:avLst>
              <a:gd name="adj" fmla="val 266667"/>
            </a:avLst>
          </a:prstGeom>
          <a:solidFill>
            <a:srgbClr val="00D4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797AC1B1-3CDE-6F2C-92D7-40E44E44DD15}"/>
              </a:ext>
            </a:extLst>
          </p:cNvPr>
          <p:cNvSpPr/>
          <p:nvPr/>
        </p:nvSpPr>
        <p:spPr>
          <a:xfrm>
            <a:off x="3418610" y="4554985"/>
            <a:ext cx="56603" cy="56603"/>
          </a:xfrm>
          <a:prstGeom prst="roundRect">
            <a:avLst>
              <a:gd name="adj" fmla="val 266667"/>
            </a:avLst>
          </a:prstGeom>
          <a:solidFill>
            <a:srgbClr val="00D4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75960012-EBEB-CDD9-5005-8C46B8580C3C}"/>
              </a:ext>
            </a:extLst>
          </p:cNvPr>
          <p:cNvSpPr/>
          <p:nvPr/>
        </p:nvSpPr>
        <p:spPr>
          <a:xfrm>
            <a:off x="3418610" y="3949647"/>
            <a:ext cx="56603" cy="56603"/>
          </a:xfrm>
          <a:prstGeom prst="roundRect">
            <a:avLst>
              <a:gd name="adj" fmla="val 266667"/>
            </a:avLst>
          </a:prstGeom>
          <a:solidFill>
            <a:srgbClr val="00D4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A43B4F63-9CA7-589B-389F-F125856C6D17}"/>
              </a:ext>
            </a:extLst>
          </p:cNvPr>
          <p:cNvSpPr/>
          <p:nvPr/>
        </p:nvSpPr>
        <p:spPr>
          <a:xfrm>
            <a:off x="3418610" y="3372397"/>
            <a:ext cx="56603" cy="56603"/>
          </a:xfrm>
          <a:prstGeom prst="roundRect">
            <a:avLst>
              <a:gd name="adj" fmla="val 266667"/>
            </a:avLst>
          </a:prstGeom>
          <a:solidFill>
            <a:srgbClr val="00D4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C0E5728C-0F5A-2EE6-DECB-BE1DB0913C4E}"/>
              </a:ext>
            </a:extLst>
          </p:cNvPr>
          <p:cNvSpPr/>
          <p:nvPr/>
        </p:nvSpPr>
        <p:spPr>
          <a:xfrm>
            <a:off x="3418610" y="2823662"/>
            <a:ext cx="56603" cy="56603"/>
          </a:xfrm>
          <a:prstGeom prst="roundRect">
            <a:avLst>
              <a:gd name="adj" fmla="val 266667"/>
            </a:avLst>
          </a:prstGeom>
          <a:solidFill>
            <a:srgbClr val="00D4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2">
            <a:extLst>
              <a:ext uri="{FF2B5EF4-FFF2-40B4-BE49-F238E27FC236}">
                <a16:creationId xmlns:a16="http://schemas.microsoft.com/office/drawing/2014/main" id="{40A0814E-063D-8575-830C-16815AEF5DE9}"/>
              </a:ext>
            </a:extLst>
          </p:cNvPr>
          <p:cNvSpPr/>
          <p:nvPr/>
        </p:nvSpPr>
        <p:spPr>
          <a:xfrm>
            <a:off x="3418610" y="2262040"/>
            <a:ext cx="56603" cy="56603"/>
          </a:xfrm>
          <a:prstGeom prst="roundRect">
            <a:avLst>
              <a:gd name="adj" fmla="val 266667"/>
            </a:avLst>
          </a:prstGeom>
          <a:solidFill>
            <a:srgbClr val="00D4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2">
            <a:extLst>
              <a:ext uri="{FF2B5EF4-FFF2-40B4-BE49-F238E27FC236}">
                <a16:creationId xmlns:a16="http://schemas.microsoft.com/office/drawing/2014/main" id="{6BEBB823-C469-CFCE-8E02-86968584E55B}"/>
              </a:ext>
            </a:extLst>
          </p:cNvPr>
          <p:cNvSpPr/>
          <p:nvPr/>
        </p:nvSpPr>
        <p:spPr>
          <a:xfrm>
            <a:off x="3418610" y="1728719"/>
            <a:ext cx="56603" cy="56603"/>
          </a:xfrm>
          <a:prstGeom prst="roundRect">
            <a:avLst>
              <a:gd name="adj" fmla="val 266667"/>
            </a:avLst>
          </a:prstGeom>
          <a:solidFill>
            <a:srgbClr val="00D4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3" descr="gen-dedup-59382ebf49c1ee115b2393e23767dcc3.png">
            <a:extLst>
              <a:ext uri="{FF2B5EF4-FFF2-40B4-BE49-F238E27FC236}">
                <a16:creationId xmlns:a16="http://schemas.microsoft.com/office/drawing/2014/main" id="{63F8FC0D-4539-2E33-BA24-135112F257F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400" r="-400"/>
          <a:stretch/>
        </p:blipFill>
        <p:spPr>
          <a:xfrm>
            <a:off x="3427709" y="5097254"/>
            <a:ext cx="38405" cy="571500"/>
          </a:xfrm>
          <a:prstGeom prst="rect">
            <a:avLst/>
          </a:prstGeom>
        </p:spPr>
      </p:pic>
      <p:sp>
        <p:nvSpPr>
          <p:cNvPr id="4" name="Freeform: Shape 3">
            <a:extLst>
              <a:ext uri="{FF2B5EF4-FFF2-40B4-BE49-F238E27FC236}">
                <a16:creationId xmlns:a16="http://schemas.microsoft.com/office/drawing/2014/main" id="{49106C71-82AC-39CC-98F6-01C8CC0EE0C6}"/>
              </a:ext>
            </a:extLst>
          </p:cNvPr>
          <p:cNvSpPr/>
          <p:nvPr/>
        </p:nvSpPr>
        <p:spPr>
          <a:xfrm>
            <a:off x="-32795" y="952805"/>
            <a:ext cx="3847795" cy="4800600"/>
          </a:xfrm>
          <a:custGeom>
            <a:avLst/>
            <a:gdLst>
              <a:gd name="csX0" fmla="*/ 1447495 w 3847795"/>
              <a:gd name="csY0" fmla="*/ 0 h 4800600"/>
              <a:gd name="csX1" fmla="*/ 3847795 w 3847795"/>
              <a:gd name="csY1" fmla="*/ 2400300 h 4800600"/>
              <a:gd name="csX2" fmla="*/ 1447495 w 3847795"/>
              <a:gd name="csY2" fmla="*/ 4800600 h 4800600"/>
              <a:gd name="csX3" fmla="*/ 105465 w 3847795"/>
              <a:gd name="csY3" fmla="*/ 4390667 h 4800600"/>
              <a:gd name="csX4" fmla="*/ 0 w 3847795"/>
              <a:gd name="csY4" fmla="*/ 4311802 h 4800600"/>
              <a:gd name="csX5" fmla="*/ 0 w 3847795"/>
              <a:gd name="csY5" fmla="*/ 488799 h 4800600"/>
              <a:gd name="csX6" fmla="*/ 105465 w 3847795"/>
              <a:gd name="csY6" fmla="*/ 409934 h 4800600"/>
              <a:gd name="csX7" fmla="*/ 1447495 w 3847795"/>
              <a:gd name="csY7" fmla="*/ 0 h 4800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847795" h="4800600">
                <a:moveTo>
                  <a:pt x="1447495" y="0"/>
                </a:moveTo>
                <a:cubicBezTo>
                  <a:pt x="2773144" y="0"/>
                  <a:pt x="3847795" y="1074651"/>
                  <a:pt x="3847795" y="2400300"/>
                </a:cubicBezTo>
                <a:cubicBezTo>
                  <a:pt x="3847795" y="3725949"/>
                  <a:pt x="2773144" y="4800600"/>
                  <a:pt x="1447495" y="4800600"/>
                </a:cubicBezTo>
                <a:cubicBezTo>
                  <a:pt x="950377" y="4800600"/>
                  <a:pt x="488555" y="4649477"/>
                  <a:pt x="105465" y="4390667"/>
                </a:cubicBezTo>
                <a:lnTo>
                  <a:pt x="0" y="4311802"/>
                </a:lnTo>
                <a:lnTo>
                  <a:pt x="0" y="488799"/>
                </a:lnTo>
                <a:lnTo>
                  <a:pt x="105465" y="409934"/>
                </a:lnTo>
                <a:cubicBezTo>
                  <a:pt x="488555" y="151123"/>
                  <a:pt x="950377" y="0"/>
                  <a:pt x="1447495" y="0"/>
                </a:cubicBezTo>
                <a:close/>
              </a:path>
            </a:pathLst>
          </a:custGeom>
          <a:noFill/>
          <a:ln w="12700">
            <a:solidFill>
              <a:srgbClr val="22D3EE"/>
            </a:solidFill>
            <a:prstDash val="solid"/>
          </a:ln>
        </p:spPr>
        <p:txBody>
          <a:bodyPr wrap="square">
            <a:noAutofit/>
          </a:bodyPr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23" name="PageNumber5">
            <a:extLst>
              <a:ext uri="{FF2B5EF4-FFF2-40B4-BE49-F238E27FC236}">
                <a16:creationId xmlns:a16="http://schemas.microsoft.com/office/drawing/2014/main" id="{92459E6E-F22D-4737-DD69-192992557176}"/>
              </a:ext>
            </a:extLst>
          </p:cNvPr>
          <p:cNvSpPr txBox="1"/>
          <p:nvPr/>
        </p:nvSpPr>
        <p:spPr>
          <a:xfrm>
            <a:off x="7391400" y="65151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 algn="r"/>
            <a:r>
              <a:rPr lang="en-US" sz="10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Ryse Private and Confidential, One Mifflin Place, Ste 400, Cambridge, MA, 02138, Mario Pardo, mario@ryseinc.com | </a:t>
            </a:r>
            <a:fld id="{97AAD9E2-EBB5-4CA4-BA32-5E5F09000B3D}" type="slidenum">
              <a:rPr lang="en-US" sz="1000" b="0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en-US" sz="1000" b="0" i="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6884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0">
            <a:extLst>
              <a:ext uri="{FF2B5EF4-FFF2-40B4-BE49-F238E27FC236}">
                <a16:creationId xmlns:a16="http://schemas.microsoft.com/office/drawing/2014/main" id="{621C7B1B-5BC7-DD2A-0C80-15B26C0BD68D}"/>
              </a:ext>
            </a:extLst>
          </p:cNvPr>
          <p:cNvSpPr txBox="1"/>
          <p:nvPr/>
        </p:nvSpPr>
        <p:spPr>
          <a:xfrm>
            <a:off x="765141" y="500949"/>
            <a:ext cx="110496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Critical Process Built on a Single, Highly Complex Database</a:t>
            </a:r>
            <a:endParaRPr lang="en-US" sz="2400" dirty="0"/>
          </a:p>
        </p:txBody>
      </p:sp>
      <p:sp>
        <p:nvSpPr>
          <p:cNvPr id="5" name="Text 25">
            <a:extLst>
              <a:ext uri="{FF2B5EF4-FFF2-40B4-BE49-F238E27FC236}">
                <a16:creationId xmlns:a16="http://schemas.microsoft.com/office/drawing/2014/main" id="{1B0FBE89-6849-F122-5ABC-5535B9F99628}"/>
              </a:ext>
            </a:extLst>
          </p:cNvPr>
          <p:cNvSpPr txBox="1"/>
          <p:nvPr/>
        </p:nvSpPr>
        <p:spPr>
          <a:xfrm>
            <a:off x="786655" y="313424"/>
            <a:ext cx="110496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>
              <a:defRPr sz="1000" b="1" kern="0" spc="75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r>
              <a:rPr lang="en-US" dirty="0"/>
              <a:t>Section VII — Fixed Income Pricing Platform</a:t>
            </a:r>
          </a:p>
        </p:txBody>
      </p:sp>
      <p:sp>
        <p:nvSpPr>
          <p:cNvPr id="7" name="PageNumber5">
            <a:extLst>
              <a:ext uri="{FF2B5EF4-FFF2-40B4-BE49-F238E27FC236}">
                <a16:creationId xmlns:a16="http://schemas.microsoft.com/office/drawing/2014/main" id="{1DE47E63-154B-6802-5F9B-3450A1C66315}"/>
              </a:ext>
            </a:extLst>
          </p:cNvPr>
          <p:cNvSpPr txBox="1"/>
          <p:nvPr/>
        </p:nvSpPr>
        <p:spPr>
          <a:xfrm>
            <a:off x="7391400" y="65151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 algn="r"/>
            <a:r>
              <a:rPr lang="en-US" sz="10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Ryse Private and Confidential, One Mifflin Place, Ste 400, Cambridge, MA, 02138, Mario Pardo, mario@ryseinc.com | </a:t>
            </a:r>
            <a:fld id="{97AAD9E2-EBB5-4CA4-BA32-5E5F09000B3D}" type="slidenum">
              <a:rPr lang="en-US" sz="1000" b="0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n-US" sz="1000" b="0" i="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53375C-895A-4193-33AF-6957AD2CD9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5966" y="1140106"/>
            <a:ext cx="4748514" cy="31656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7514F69-3272-0D31-2E9A-83ADA453D2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123" t="10875" r="24122" b="69825"/>
          <a:stretch>
            <a:fillRect/>
          </a:stretch>
        </p:blipFill>
        <p:spPr>
          <a:xfrm>
            <a:off x="1331090" y="1643605"/>
            <a:ext cx="416688" cy="53243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1872137-583F-BFCB-0C29-7020B96198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294" t="47121" r="34453" b="35676"/>
          <a:stretch>
            <a:fillRect/>
          </a:stretch>
        </p:blipFill>
        <p:spPr>
          <a:xfrm>
            <a:off x="1331090" y="2946536"/>
            <a:ext cx="324091" cy="47456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AA35F95-96EC-D107-E176-E63E382E60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434" t="77447" r="14560" b="4092"/>
          <a:stretch>
            <a:fillRect/>
          </a:stretch>
        </p:blipFill>
        <p:spPr>
          <a:xfrm>
            <a:off x="1099596" y="3936950"/>
            <a:ext cx="555585" cy="509286"/>
          </a:xfrm>
          <a:prstGeom prst="rect">
            <a:avLst/>
          </a:prstGeom>
        </p:spPr>
      </p:pic>
      <p:sp>
        <p:nvSpPr>
          <p:cNvPr id="17" name="Text 7">
            <a:extLst>
              <a:ext uri="{FF2B5EF4-FFF2-40B4-BE49-F238E27FC236}">
                <a16:creationId xmlns:a16="http://schemas.microsoft.com/office/drawing/2014/main" id="{5CEFAB44-3DC7-36AD-2C5B-891D770C7974}"/>
              </a:ext>
            </a:extLst>
          </p:cNvPr>
          <p:cNvSpPr txBox="1"/>
          <p:nvPr/>
        </p:nvSpPr>
        <p:spPr>
          <a:xfrm>
            <a:off x="1929025" y="1862634"/>
            <a:ext cx="4080053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Spread across multiple tables, with slow processing time, </a:t>
            </a:r>
          </a:p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Hard to maintain, generate continuous updates, and with an embedded key-person risk</a:t>
            </a:r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CF9CD1D4-F660-D63D-0F92-BD196A72DAEE}"/>
              </a:ext>
            </a:extLst>
          </p:cNvPr>
          <p:cNvSpPr txBox="1"/>
          <p:nvPr/>
        </p:nvSpPr>
        <p:spPr>
          <a:xfrm>
            <a:off x="1929025" y="3233768"/>
            <a:ext cx="3448202" cy="474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thousand what-if scenarios would take far too long to process, generating bottlenecks on the network and impacting other areas of the platform</a:t>
            </a:r>
            <a:endParaRPr lang="en-US" sz="1100" dirty="0"/>
          </a:p>
        </p:txBody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F2A1B39A-E960-7A3A-C57B-FCB099F7580B}"/>
              </a:ext>
            </a:extLst>
          </p:cNvPr>
          <p:cNvSpPr txBox="1"/>
          <p:nvPr/>
        </p:nvSpPr>
        <p:spPr>
          <a:xfrm>
            <a:off x="1929025" y="1568198"/>
            <a:ext cx="36201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00D4FF"/>
                </a:solidFill>
                <a:latin typeface="Arial" pitchFamily="34" charset="0"/>
                <a:cs typeface="Arial" pitchFamily="34" charset="-120"/>
              </a:rPr>
              <a:t>Over ~14,000 Lines of SQL and .NET Code</a:t>
            </a:r>
            <a:endParaRPr lang="en-US" sz="1200" dirty="0"/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551B7614-39EB-BC3B-6446-77F12520B8BD}"/>
              </a:ext>
            </a:extLst>
          </p:cNvPr>
          <p:cNvSpPr txBox="1"/>
          <p:nvPr/>
        </p:nvSpPr>
        <p:spPr>
          <a:xfrm>
            <a:off x="1929025" y="2960910"/>
            <a:ext cx="36201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Slow for High Volume Portfolios</a:t>
            </a:r>
            <a:endParaRPr lang="en-US" sz="1200" dirty="0"/>
          </a:p>
        </p:txBody>
      </p:sp>
      <p:sp>
        <p:nvSpPr>
          <p:cNvPr id="29" name="Text 10">
            <a:extLst>
              <a:ext uri="{FF2B5EF4-FFF2-40B4-BE49-F238E27FC236}">
                <a16:creationId xmlns:a16="http://schemas.microsoft.com/office/drawing/2014/main" id="{3357B1C5-6FEE-4670-27C8-E1BD5F9D290C}"/>
              </a:ext>
            </a:extLst>
          </p:cNvPr>
          <p:cNvSpPr txBox="1"/>
          <p:nvPr/>
        </p:nvSpPr>
        <p:spPr>
          <a:xfrm>
            <a:off x="1929025" y="4010262"/>
            <a:ext cx="36201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Scalability and Testing Capacity</a:t>
            </a:r>
            <a:endParaRPr lang="en-US" sz="1200" dirty="0"/>
          </a:p>
        </p:txBody>
      </p:sp>
      <p:sp>
        <p:nvSpPr>
          <p:cNvPr id="31" name="Text 8">
            <a:extLst>
              <a:ext uri="{FF2B5EF4-FFF2-40B4-BE49-F238E27FC236}">
                <a16:creationId xmlns:a16="http://schemas.microsoft.com/office/drawing/2014/main" id="{CCDAC3C7-4E68-35B4-3295-40A7D171A1C2}"/>
              </a:ext>
            </a:extLst>
          </p:cNvPr>
          <p:cNvSpPr txBox="1"/>
          <p:nvPr/>
        </p:nvSpPr>
        <p:spPr>
          <a:xfrm>
            <a:off x="1929025" y="4258327"/>
            <a:ext cx="3448202" cy="474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Lack of efficient processing times makes it hard to be tested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36558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36F16-D9FB-3884-1C0E-5AD146AB2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0">
            <a:extLst>
              <a:ext uri="{FF2B5EF4-FFF2-40B4-BE49-F238E27FC236}">
                <a16:creationId xmlns:a16="http://schemas.microsoft.com/office/drawing/2014/main" id="{7DEB6B2B-3B55-5686-93C7-8799B9F47925}"/>
              </a:ext>
            </a:extLst>
          </p:cNvPr>
          <p:cNvSpPr txBox="1"/>
          <p:nvPr/>
        </p:nvSpPr>
        <p:spPr>
          <a:xfrm>
            <a:off x="765141" y="500949"/>
            <a:ext cx="110496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Engine, Full Coverage, Built for Scale</a:t>
            </a:r>
            <a:endParaRPr lang="en-US" sz="2400" dirty="0"/>
          </a:p>
        </p:txBody>
      </p:sp>
      <p:sp>
        <p:nvSpPr>
          <p:cNvPr id="5" name="Text 25">
            <a:extLst>
              <a:ext uri="{FF2B5EF4-FFF2-40B4-BE49-F238E27FC236}">
                <a16:creationId xmlns:a16="http://schemas.microsoft.com/office/drawing/2014/main" id="{047FDA78-2328-4BA5-24E7-C42666AF2A1B}"/>
              </a:ext>
            </a:extLst>
          </p:cNvPr>
          <p:cNvSpPr txBox="1"/>
          <p:nvPr/>
        </p:nvSpPr>
        <p:spPr>
          <a:xfrm>
            <a:off x="786655" y="313424"/>
            <a:ext cx="110496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>
              <a:defRPr sz="1000" b="1" kern="0" spc="75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r>
              <a:rPr lang="en-US" dirty="0"/>
              <a:t>Section VII — Fixed Income Pricing Platform</a:t>
            </a:r>
          </a:p>
        </p:txBody>
      </p:sp>
      <p:sp>
        <p:nvSpPr>
          <p:cNvPr id="7" name="PageNumber5">
            <a:extLst>
              <a:ext uri="{FF2B5EF4-FFF2-40B4-BE49-F238E27FC236}">
                <a16:creationId xmlns:a16="http://schemas.microsoft.com/office/drawing/2014/main" id="{EE8658FC-86C0-42C6-A0E7-A37D7B9D6F4F}"/>
              </a:ext>
            </a:extLst>
          </p:cNvPr>
          <p:cNvSpPr txBox="1"/>
          <p:nvPr/>
        </p:nvSpPr>
        <p:spPr>
          <a:xfrm>
            <a:off x="7391400" y="65151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 algn="r"/>
            <a:r>
              <a:rPr lang="en-US" sz="10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Ryse Private and Confidential, One Mifflin Place, Ste 400, Cambridge, MA, 02138, Mario Pardo, mario@ryseinc.com | </a:t>
            </a:r>
            <a:fld id="{97AAD9E2-EBB5-4CA4-BA32-5E5F09000B3D}" type="slidenum">
              <a:rPr lang="en-US" sz="1000" b="0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-US" sz="1000" b="0" i="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DF31B45E-B8F5-A1D1-5AFF-162C526AA2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20" t="7412" r="83731" b="533"/>
          <a:stretch>
            <a:fillRect/>
          </a:stretch>
        </p:blipFill>
        <p:spPr>
          <a:xfrm>
            <a:off x="1615439" y="1768155"/>
            <a:ext cx="902826" cy="933016"/>
          </a:xfrm>
          <a:custGeom>
            <a:avLst/>
            <a:gdLst>
              <a:gd name="csX0" fmla="*/ 451413 w 902826"/>
              <a:gd name="csY0" fmla="*/ 0 h 933016"/>
              <a:gd name="csX1" fmla="*/ 902826 w 902826"/>
              <a:gd name="csY1" fmla="*/ 466508 h 933016"/>
              <a:gd name="csX2" fmla="*/ 451413 w 902826"/>
              <a:gd name="csY2" fmla="*/ 933016 h 933016"/>
              <a:gd name="csX3" fmla="*/ 0 w 902826"/>
              <a:gd name="csY3" fmla="*/ 466508 h 933016"/>
              <a:gd name="csX4" fmla="*/ 451413 w 902826"/>
              <a:gd name="csY4" fmla="*/ 0 h 9330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02826" h="933016">
                <a:moveTo>
                  <a:pt x="451413" y="0"/>
                </a:moveTo>
                <a:cubicBezTo>
                  <a:pt x="700722" y="0"/>
                  <a:pt x="902826" y="208863"/>
                  <a:pt x="902826" y="466508"/>
                </a:cubicBezTo>
                <a:cubicBezTo>
                  <a:pt x="902826" y="724153"/>
                  <a:pt x="700722" y="933016"/>
                  <a:pt x="451413" y="933016"/>
                </a:cubicBezTo>
                <a:cubicBezTo>
                  <a:pt x="202104" y="933016"/>
                  <a:pt x="0" y="724153"/>
                  <a:pt x="0" y="466508"/>
                </a:cubicBezTo>
                <a:cubicBezTo>
                  <a:pt x="0" y="208863"/>
                  <a:pt x="202104" y="0"/>
                  <a:pt x="451413" y="0"/>
                </a:cubicBezTo>
                <a:close/>
              </a:path>
            </a:pathLst>
          </a:cu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D873007-5493-4423-487C-160001698814}"/>
              </a:ext>
            </a:extLst>
          </p:cNvPr>
          <p:cNvSpPr txBox="1"/>
          <p:nvPr/>
        </p:nvSpPr>
        <p:spPr>
          <a:xfrm>
            <a:off x="786655" y="3084731"/>
            <a:ext cx="2560396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b="1" i="0" dirty="0">
                <a:solidFill>
                  <a:srgbClr val="F4F7FB"/>
                </a:solidFill>
                <a:latin typeface="Aptos"/>
              </a:rPr>
              <a:t>All Fixed Income Instrument Classes</a:t>
            </a:r>
            <a:endParaRPr b="1" i="0" dirty="0">
              <a:solidFill>
                <a:srgbClr val="F4F7FB"/>
              </a:solidFill>
              <a:latin typeface="Apto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6FFDCB-63E3-7427-DFA9-43E91B40F0BB}"/>
              </a:ext>
            </a:extLst>
          </p:cNvPr>
          <p:cNvSpPr txBox="1"/>
          <p:nvPr/>
        </p:nvSpPr>
        <p:spPr>
          <a:xfrm>
            <a:off x="1152452" y="3724811"/>
            <a:ext cx="18288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A0B2C4"/>
                </a:solidFill>
                <a:latin typeface="Aptos"/>
              </a:rPr>
              <a:t>Bonds, MBS, ABS,
Derivatives, etc.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9AE26D-C5BA-2A9D-B282-1CD1CD7AF4FA}"/>
              </a:ext>
            </a:extLst>
          </p:cNvPr>
          <p:cNvSpPr txBox="1"/>
          <p:nvPr/>
        </p:nvSpPr>
        <p:spPr>
          <a:xfrm>
            <a:off x="3849933" y="3084731"/>
            <a:ext cx="173736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1" i="0" dirty="0">
                <a:solidFill>
                  <a:srgbClr val="F4F7FB"/>
                </a:solidFill>
                <a:latin typeface="Aptos"/>
              </a:rPr>
              <a:t>Unified
Pricing Engine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2BB3C40-5CA5-5A08-5362-070D5404382A}"/>
              </a:ext>
            </a:extLst>
          </p:cNvPr>
          <p:cNvSpPr txBox="1"/>
          <p:nvPr/>
        </p:nvSpPr>
        <p:spPr>
          <a:xfrm>
            <a:off x="3804213" y="3724811"/>
            <a:ext cx="18288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A0B2C4"/>
                </a:solidFill>
                <a:latin typeface="Aptos"/>
              </a:rPr>
              <a:t>Consistent, transparent
and testable pricing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7C7C96B-5970-03CD-D334-E3CA622660D1}"/>
              </a:ext>
            </a:extLst>
          </p:cNvPr>
          <p:cNvSpPr txBox="1"/>
          <p:nvPr/>
        </p:nvSpPr>
        <p:spPr>
          <a:xfrm>
            <a:off x="6501693" y="3084731"/>
            <a:ext cx="173736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1" i="0">
                <a:solidFill>
                  <a:srgbClr val="F4F7FB"/>
                </a:solidFill>
                <a:latin typeface="Aptos"/>
              </a:rPr>
              <a:t>Cloud
Execution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CBEC426-05E0-1897-CEC8-BAFE964F21A6}"/>
              </a:ext>
            </a:extLst>
          </p:cNvPr>
          <p:cNvSpPr txBox="1"/>
          <p:nvPr/>
        </p:nvSpPr>
        <p:spPr>
          <a:xfrm>
            <a:off x="6455973" y="3724811"/>
            <a:ext cx="18288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A0B2C4"/>
                </a:solidFill>
                <a:latin typeface="Aptos"/>
              </a:rPr>
              <a:t>Parallel computing
for scenario analysis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FB5A2DA-5C09-5F69-03B2-4E389D15F56A}"/>
              </a:ext>
            </a:extLst>
          </p:cNvPr>
          <p:cNvSpPr txBox="1"/>
          <p:nvPr/>
        </p:nvSpPr>
        <p:spPr>
          <a:xfrm>
            <a:off x="9153453" y="3084731"/>
            <a:ext cx="173736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1" i="0">
                <a:solidFill>
                  <a:srgbClr val="F4F7FB"/>
                </a:solidFill>
                <a:latin typeface="Aptos"/>
              </a:rPr>
              <a:t>Portfolio
Risk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F2F7173-72B1-D303-B1AF-D0ADB499C2BB}"/>
              </a:ext>
            </a:extLst>
          </p:cNvPr>
          <p:cNvSpPr txBox="1"/>
          <p:nvPr/>
        </p:nvSpPr>
        <p:spPr>
          <a:xfrm>
            <a:off x="9107733" y="3724811"/>
            <a:ext cx="18288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A0B2C4"/>
                </a:solidFill>
                <a:latin typeface="Aptos"/>
              </a:rPr>
              <a:t>Portfolio-level risk
once coverage is complete</a:t>
            </a:r>
          </a:p>
        </p:txBody>
      </p:sp>
      <p:sp>
        <p:nvSpPr>
          <p:cNvPr id="34" name="Rounded Rectangle 23">
            <a:extLst>
              <a:ext uri="{FF2B5EF4-FFF2-40B4-BE49-F238E27FC236}">
                <a16:creationId xmlns:a16="http://schemas.microsoft.com/office/drawing/2014/main" id="{9B3AB946-BCD5-6016-C7C6-42C588903C3A}"/>
              </a:ext>
            </a:extLst>
          </p:cNvPr>
          <p:cNvSpPr/>
          <p:nvPr/>
        </p:nvSpPr>
        <p:spPr>
          <a:xfrm>
            <a:off x="1234440" y="4597731"/>
            <a:ext cx="9875520" cy="1051560"/>
          </a:xfrm>
          <a:prstGeom prst="roundRect">
            <a:avLst/>
          </a:prstGeom>
          <a:solidFill>
            <a:srgbClr val="0F2239"/>
          </a:solidFill>
          <a:ln w="12700">
            <a:solidFill>
              <a:srgbClr val="275D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8BFC99C-0BE9-A584-598E-105B023A8826}"/>
              </a:ext>
            </a:extLst>
          </p:cNvPr>
          <p:cNvSpPr txBox="1"/>
          <p:nvPr/>
        </p:nvSpPr>
        <p:spPr>
          <a:xfrm>
            <a:off x="1508760" y="4853763"/>
            <a:ext cx="19202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22C9E5"/>
                </a:solidFill>
                <a:latin typeface="Aptos"/>
              </a:rPr>
              <a:t>Reproducible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B39C66D-EE26-50DA-F676-C9B1BA82ABDD}"/>
              </a:ext>
            </a:extLst>
          </p:cNvPr>
          <p:cNvSpPr txBox="1"/>
          <p:nvPr/>
        </p:nvSpPr>
        <p:spPr>
          <a:xfrm>
            <a:off x="3886200" y="4853763"/>
            <a:ext cx="19202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22C9E5"/>
                </a:solidFill>
                <a:latin typeface="Aptos"/>
              </a:rPr>
              <a:t>Testable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1B34BC2-6124-9336-729E-249CE37730A4}"/>
              </a:ext>
            </a:extLst>
          </p:cNvPr>
          <p:cNvSpPr txBox="1"/>
          <p:nvPr/>
        </p:nvSpPr>
        <p:spPr>
          <a:xfrm>
            <a:off x="6263640" y="4853763"/>
            <a:ext cx="19202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22C9E5"/>
                </a:solidFill>
                <a:latin typeface="Aptos"/>
              </a:rPr>
              <a:t>Parallelizable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20604A6-0117-F59A-E2D4-E278DE6182CF}"/>
              </a:ext>
            </a:extLst>
          </p:cNvPr>
          <p:cNvSpPr txBox="1"/>
          <p:nvPr/>
        </p:nvSpPr>
        <p:spPr>
          <a:xfrm>
            <a:off x="8641080" y="4853763"/>
            <a:ext cx="19202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22C9E5"/>
                </a:solidFill>
                <a:latin typeface="Aptos"/>
              </a:rPr>
              <a:t>Portfolio-aware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4C4ADD1-C155-E9B5-B5B6-236E0E7B7BBE}"/>
              </a:ext>
            </a:extLst>
          </p:cNvPr>
          <p:cNvSpPr txBox="1"/>
          <p:nvPr/>
        </p:nvSpPr>
        <p:spPr>
          <a:xfrm>
            <a:off x="1508760" y="5237811"/>
            <a:ext cx="909828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1200" b="0" i="0" dirty="0">
                <a:solidFill>
                  <a:srgbClr val="D6DFE8"/>
                </a:solidFill>
                <a:latin typeface="Aptos"/>
              </a:rPr>
              <a:t>A single architecture designed to price </a:t>
            </a:r>
            <a:r>
              <a:rPr lang="en-US" sz="1200" dirty="0">
                <a:solidFill>
                  <a:srgbClr val="D6DFE8"/>
                </a:solidFill>
                <a:latin typeface="Aptos"/>
              </a:rPr>
              <a:t>every fixed-income instrument class, exposing the same logic across spreadsheets, the command </a:t>
            </a:r>
            <a:r>
              <a:rPr lang="en-US" sz="1200" b="0" i="0" dirty="0">
                <a:solidFill>
                  <a:srgbClr val="D6DFE8"/>
                </a:solidFill>
                <a:latin typeface="Aptos"/>
              </a:rPr>
              <a:t>line, and cloud services.</a:t>
            </a:r>
            <a:endParaRPr sz="1200" b="0" i="0" dirty="0">
              <a:solidFill>
                <a:srgbClr val="D6DFE8"/>
              </a:solidFill>
              <a:latin typeface="Aptos"/>
            </a:endParaRPr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32213CF4-9A11-527C-9FE7-191F8396D8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185" t="6756" r="56666" b="1189"/>
          <a:stretch>
            <a:fillRect/>
          </a:stretch>
        </p:blipFill>
        <p:spPr>
          <a:xfrm>
            <a:off x="4267200" y="1768155"/>
            <a:ext cx="902826" cy="933016"/>
          </a:xfrm>
          <a:custGeom>
            <a:avLst/>
            <a:gdLst>
              <a:gd name="csX0" fmla="*/ 451413 w 902826"/>
              <a:gd name="csY0" fmla="*/ 0 h 933016"/>
              <a:gd name="csX1" fmla="*/ 902826 w 902826"/>
              <a:gd name="csY1" fmla="*/ 466508 h 933016"/>
              <a:gd name="csX2" fmla="*/ 451413 w 902826"/>
              <a:gd name="csY2" fmla="*/ 933016 h 933016"/>
              <a:gd name="csX3" fmla="*/ 0 w 902826"/>
              <a:gd name="csY3" fmla="*/ 466508 h 933016"/>
              <a:gd name="csX4" fmla="*/ 451413 w 902826"/>
              <a:gd name="csY4" fmla="*/ 0 h 9330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02826" h="933016">
                <a:moveTo>
                  <a:pt x="451413" y="0"/>
                </a:moveTo>
                <a:cubicBezTo>
                  <a:pt x="700722" y="0"/>
                  <a:pt x="902826" y="208863"/>
                  <a:pt x="902826" y="466508"/>
                </a:cubicBezTo>
                <a:cubicBezTo>
                  <a:pt x="902826" y="724153"/>
                  <a:pt x="700722" y="933016"/>
                  <a:pt x="451413" y="933016"/>
                </a:cubicBezTo>
                <a:cubicBezTo>
                  <a:pt x="202104" y="933016"/>
                  <a:pt x="0" y="724153"/>
                  <a:pt x="0" y="466508"/>
                </a:cubicBezTo>
                <a:cubicBezTo>
                  <a:pt x="0" y="208863"/>
                  <a:pt x="202104" y="0"/>
                  <a:pt x="451413" y="0"/>
                </a:cubicBezTo>
                <a:close/>
              </a:path>
            </a:pathLst>
          </a:cu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2540D81A-7ADC-B92F-FCAA-B01D2BEAF0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2245" t="6069" r="2605" b="1877"/>
          <a:stretch>
            <a:fillRect/>
          </a:stretch>
        </p:blipFill>
        <p:spPr>
          <a:xfrm>
            <a:off x="9570720" y="1738919"/>
            <a:ext cx="902826" cy="933016"/>
          </a:xfrm>
          <a:custGeom>
            <a:avLst/>
            <a:gdLst>
              <a:gd name="csX0" fmla="*/ 451413 w 902826"/>
              <a:gd name="csY0" fmla="*/ 0 h 933016"/>
              <a:gd name="csX1" fmla="*/ 902826 w 902826"/>
              <a:gd name="csY1" fmla="*/ 466508 h 933016"/>
              <a:gd name="csX2" fmla="*/ 451413 w 902826"/>
              <a:gd name="csY2" fmla="*/ 933016 h 933016"/>
              <a:gd name="csX3" fmla="*/ 0 w 902826"/>
              <a:gd name="csY3" fmla="*/ 466508 h 933016"/>
              <a:gd name="csX4" fmla="*/ 451413 w 902826"/>
              <a:gd name="csY4" fmla="*/ 0 h 9330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02826" h="933016">
                <a:moveTo>
                  <a:pt x="451413" y="0"/>
                </a:moveTo>
                <a:cubicBezTo>
                  <a:pt x="700722" y="0"/>
                  <a:pt x="902826" y="208863"/>
                  <a:pt x="902826" y="466508"/>
                </a:cubicBezTo>
                <a:cubicBezTo>
                  <a:pt x="902826" y="724153"/>
                  <a:pt x="700722" y="933016"/>
                  <a:pt x="451413" y="933016"/>
                </a:cubicBezTo>
                <a:cubicBezTo>
                  <a:pt x="202104" y="933016"/>
                  <a:pt x="0" y="724153"/>
                  <a:pt x="0" y="466508"/>
                </a:cubicBezTo>
                <a:cubicBezTo>
                  <a:pt x="0" y="208863"/>
                  <a:pt x="202104" y="0"/>
                  <a:pt x="451413" y="0"/>
                </a:cubicBezTo>
                <a:close/>
              </a:path>
            </a:pathLst>
          </a:cu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C76EAEEF-3042-91AC-D8ED-75902E9DCD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396" t="6029" r="29454" b="1916"/>
          <a:stretch>
            <a:fillRect/>
          </a:stretch>
        </p:blipFill>
        <p:spPr>
          <a:xfrm>
            <a:off x="6939987" y="1763812"/>
            <a:ext cx="902826" cy="933016"/>
          </a:xfrm>
          <a:custGeom>
            <a:avLst/>
            <a:gdLst>
              <a:gd name="csX0" fmla="*/ 451413 w 902826"/>
              <a:gd name="csY0" fmla="*/ 0 h 933016"/>
              <a:gd name="csX1" fmla="*/ 902826 w 902826"/>
              <a:gd name="csY1" fmla="*/ 466508 h 933016"/>
              <a:gd name="csX2" fmla="*/ 451413 w 902826"/>
              <a:gd name="csY2" fmla="*/ 933016 h 933016"/>
              <a:gd name="csX3" fmla="*/ 0 w 902826"/>
              <a:gd name="csY3" fmla="*/ 466508 h 933016"/>
              <a:gd name="csX4" fmla="*/ 451413 w 902826"/>
              <a:gd name="csY4" fmla="*/ 0 h 9330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02826" h="933016">
                <a:moveTo>
                  <a:pt x="451413" y="0"/>
                </a:moveTo>
                <a:cubicBezTo>
                  <a:pt x="700722" y="0"/>
                  <a:pt x="902826" y="208863"/>
                  <a:pt x="902826" y="466508"/>
                </a:cubicBezTo>
                <a:cubicBezTo>
                  <a:pt x="902826" y="724153"/>
                  <a:pt x="700722" y="933016"/>
                  <a:pt x="451413" y="933016"/>
                </a:cubicBezTo>
                <a:cubicBezTo>
                  <a:pt x="202104" y="933016"/>
                  <a:pt x="0" y="724153"/>
                  <a:pt x="0" y="466508"/>
                </a:cubicBezTo>
                <a:cubicBezTo>
                  <a:pt x="0" y="208863"/>
                  <a:pt x="202104" y="0"/>
                  <a:pt x="451413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146637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0">
            <a:extLst>
              <a:ext uri="{FF2B5EF4-FFF2-40B4-BE49-F238E27FC236}">
                <a16:creationId xmlns:a16="http://schemas.microsoft.com/office/drawing/2014/main" id="{A5AA06CD-8400-3B67-6761-C560C5E30DE8}"/>
              </a:ext>
            </a:extLst>
          </p:cNvPr>
          <p:cNvSpPr txBox="1"/>
          <p:nvPr/>
        </p:nvSpPr>
        <p:spPr>
          <a:xfrm>
            <a:off x="765141" y="500949"/>
            <a:ext cx="110496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Significant Progress</a:t>
            </a:r>
            <a:endParaRPr lang="en-US" sz="2400" dirty="0"/>
          </a:p>
        </p:txBody>
      </p:sp>
      <p:sp>
        <p:nvSpPr>
          <p:cNvPr id="5" name="Text 25">
            <a:extLst>
              <a:ext uri="{FF2B5EF4-FFF2-40B4-BE49-F238E27FC236}">
                <a16:creationId xmlns:a16="http://schemas.microsoft.com/office/drawing/2014/main" id="{FB4AD105-12F5-FACC-F507-80741450D3BC}"/>
              </a:ext>
            </a:extLst>
          </p:cNvPr>
          <p:cNvSpPr txBox="1"/>
          <p:nvPr/>
        </p:nvSpPr>
        <p:spPr>
          <a:xfrm>
            <a:off x="786655" y="313424"/>
            <a:ext cx="110496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>
              <a:defRPr sz="1000" b="1" kern="0" spc="75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r>
              <a:rPr lang="en-US" dirty="0"/>
              <a:t>Section VII — Fixed Income Pricing Platform</a:t>
            </a:r>
          </a:p>
        </p:txBody>
      </p:sp>
      <p:sp>
        <p:nvSpPr>
          <p:cNvPr id="7" name="PageNumber5">
            <a:extLst>
              <a:ext uri="{FF2B5EF4-FFF2-40B4-BE49-F238E27FC236}">
                <a16:creationId xmlns:a16="http://schemas.microsoft.com/office/drawing/2014/main" id="{93AF0AF1-78F2-A5A4-4993-17D1E3E0185C}"/>
              </a:ext>
            </a:extLst>
          </p:cNvPr>
          <p:cNvSpPr txBox="1"/>
          <p:nvPr/>
        </p:nvSpPr>
        <p:spPr>
          <a:xfrm>
            <a:off x="7391400" y="65151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 algn="r"/>
            <a:r>
              <a:rPr lang="en-US" sz="10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Ryse Private and Confidential, One Mifflin Place, Ste 400, Cambridge, MA, 02138, Mario Pardo, mario@ryseinc.com | </a:t>
            </a:r>
            <a:fld id="{97AAD9E2-EBB5-4CA4-BA32-5E5F09000B3D}" type="slidenum">
              <a:rPr lang="en-US" sz="1000" b="0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n-US" sz="1000" b="0" i="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Rounded Rectangle 1">
            <a:extLst>
              <a:ext uri="{FF2B5EF4-FFF2-40B4-BE49-F238E27FC236}">
                <a16:creationId xmlns:a16="http://schemas.microsoft.com/office/drawing/2014/main" id="{866E570C-25C1-AD9E-813F-A99D9BB412F4}"/>
              </a:ext>
            </a:extLst>
          </p:cNvPr>
          <p:cNvSpPr/>
          <p:nvPr/>
        </p:nvSpPr>
        <p:spPr>
          <a:xfrm>
            <a:off x="619760" y="1706754"/>
            <a:ext cx="1723136" cy="1622434"/>
          </a:xfrm>
          <a:prstGeom prst="roundRect">
            <a:avLst/>
          </a:prstGeom>
          <a:solidFill>
            <a:srgbClr val="0A314C"/>
          </a:solidFill>
          <a:ln w="19050">
            <a:solidFill>
              <a:srgbClr val="0A5C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4B0621C-2052-B688-B354-40543389CAAD}"/>
              </a:ext>
            </a:extLst>
          </p:cNvPr>
          <p:cNvSpPr txBox="1"/>
          <p:nvPr/>
        </p:nvSpPr>
        <p:spPr>
          <a:xfrm>
            <a:off x="164592" y="1745811"/>
            <a:ext cx="2633472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100" b="1">
                <a:solidFill>
                  <a:srgbClr val="00DAF6"/>
                </a:solidFill>
                <a:latin typeface="Aptos"/>
              </a:rPr>
              <a:t>6 / 13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F752060-F306-2782-B475-72D40711026E}"/>
              </a:ext>
            </a:extLst>
          </p:cNvPr>
          <p:cNvSpPr txBox="1"/>
          <p:nvPr/>
        </p:nvSpPr>
        <p:spPr>
          <a:xfrm>
            <a:off x="219456" y="2504763"/>
            <a:ext cx="2523744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5F7FA"/>
                </a:solidFill>
                <a:latin typeface="Aptos"/>
              </a:rPr>
              <a:t>Categories
Complete</a:t>
            </a:r>
          </a:p>
        </p:txBody>
      </p:sp>
      <p:sp>
        <p:nvSpPr>
          <p:cNvPr id="53" name="Rounded Rectangle 4">
            <a:extLst>
              <a:ext uri="{FF2B5EF4-FFF2-40B4-BE49-F238E27FC236}">
                <a16:creationId xmlns:a16="http://schemas.microsoft.com/office/drawing/2014/main" id="{8A369182-7783-4E00-F23A-F791106933A2}"/>
              </a:ext>
            </a:extLst>
          </p:cNvPr>
          <p:cNvSpPr/>
          <p:nvPr/>
        </p:nvSpPr>
        <p:spPr>
          <a:xfrm>
            <a:off x="3637280" y="1706754"/>
            <a:ext cx="1723136" cy="1622434"/>
          </a:xfrm>
          <a:prstGeom prst="roundRect">
            <a:avLst/>
          </a:prstGeom>
          <a:solidFill>
            <a:srgbClr val="0A314C"/>
          </a:solidFill>
          <a:ln w="19050">
            <a:solidFill>
              <a:srgbClr val="0A5C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2638DBD-835F-FC09-7FF7-9E23374C2AAC}"/>
              </a:ext>
            </a:extLst>
          </p:cNvPr>
          <p:cNvSpPr txBox="1"/>
          <p:nvPr/>
        </p:nvSpPr>
        <p:spPr>
          <a:xfrm>
            <a:off x="3182112" y="1745811"/>
            <a:ext cx="2633472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100" b="1">
                <a:solidFill>
                  <a:srgbClr val="00DAF6"/>
                </a:solidFill>
                <a:latin typeface="Aptos"/>
              </a:rPr>
              <a:t>949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A630CE2-B040-0BA8-7EEB-AB4126FF03D4}"/>
              </a:ext>
            </a:extLst>
          </p:cNvPr>
          <p:cNvSpPr txBox="1"/>
          <p:nvPr/>
        </p:nvSpPr>
        <p:spPr>
          <a:xfrm>
            <a:off x="3236976" y="2504763"/>
            <a:ext cx="2523744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5F7FA"/>
                </a:solidFill>
                <a:latin typeface="Aptos"/>
              </a:rPr>
              <a:t>Securities
in scope</a:t>
            </a:r>
          </a:p>
        </p:txBody>
      </p:sp>
      <p:sp>
        <p:nvSpPr>
          <p:cNvPr id="59" name="Rounded Rectangle 7">
            <a:extLst>
              <a:ext uri="{FF2B5EF4-FFF2-40B4-BE49-F238E27FC236}">
                <a16:creationId xmlns:a16="http://schemas.microsoft.com/office/drawing/2014/main" id="{70A29BA2-3BED-1C0F-AE3D-A39CAED8FBAB}"/>
              </a:ext>
            </a:extLst>
          </p:cNvPr>
          <p:cNvSpPr/>
          <p:nvPr/>
        </p:nvSpPr>
        <p:spPr>
          <a:xfrm>
            <a:off x="6654800" y="1706754"/>
            <a:ext cx="1723136" cy="1622434"/>
          </a:xfrm>
          <a:prstGeom prst="roundRect">
            <a:avLst/>
          </a:prstGeom>
          <a:solidFill>
            <a:srgbClr val="0A314C"/>
          </a:solidFill>
          <a:ln w="19050">
            <a:solidFill>
              <a:srgbClr val="0A5C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3DC963B-1C46-6924-E2E0-E2EF180222E4}"/>
              </a:ext>
            </a:extLst>
          </p:cNvPr>
          <p:cNvSpPr txBox="1"/>
          <p:nvPr/>
        </p:nvSpPr>
        <p:spPr>
          <a:xfrm>
            <a:off x="6199632" y="1745811"/>
            <a:ext cx="2633472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100" b="1">
                <a:solidFill>
                  <a:srgbClr val="00DAF6"/>
                </a:solidFill>
                <a:latin typeface="Aptos"/>
              </a:rPr>
              <a:t>766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1074835-1B18-F694-FCA1-76CE822840C3}"/>
              </a:ext>
            </a:extLst>
          </p:cNvPr>
          <p:cNvSpPr txBox="1"/>
          <p:nvPr/>
        </p:nvSpPr>
        <p:spPr>
          <a:xfrm>
            <a:off x="6254496" y="2504763"/>
            <a:ext cx="2523744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5F7FA"/>
                </a:solidFill>
                <a:latin typeface="Aptos"/>
              </a:rPr>
              <a:t>Priceable by
new engine</a:t>
            </a:r>
          </a:p>
        </p:txBody>
      </p:sp>
      <p:sp>
        <p:nvSpPr>
          <p:cNvPr id="65" name="Rounded Rectangle 10">
            <a:extLst>
              <a:ext uri="{FF2B5EF4-FFF2-40B4-BE49-F238E27FC236}">
                <a16:creationId xmlns:a16="http://schemas.microsoft.com/office/drawing/2014/main" id="{5F1B77E9-B141-2F18-247B-98BBD847756C}"/>
              </a:ext>
            </a:extLst>
          </p:cNvPr>
          <p:cNvSpPr/>
          <p:nvPr/>
        </p:nvSpPr>
        <p:spPr>
          <a:xfrm>
            <a:off x="9672320" y="1706754"/>
            <a:ext cx="1723136" cy="1622434"/>
          </a:xfrm>
          <a:prstGeom prst="roundRect">
            <a:avLst/>
          </a:prstGeom>
          <a:solidFill>
            <a:srgbClr val="0A314C"/>
          </a:solidFill>
          <a:ln w="19050">
            <a:solidFill>
              <a:srgbClr val="0A5C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5D12BC6-AD7B-61E9-DFE4-20DEB74CB656}"/>
              </a:ext>
            </a:extLst>
          </p:cNvPr>
          <p:cNvSpPr txBox="1"/>
          <p:nvPr/>
        </p:nvSpPr>
        <p:spPr>
          <a:xfrm>
            <a:off x="9217152" y="1745811"/>
            <a:ext cx="2633472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500" b="1">
                <a:solidFill>
                  <a:srgbClr val="00DAF6"/>
                </a:solidFill>
                <a:latin typeface="Aptos"/>
              </a:rPr>
              <a:t>40 seconds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91542DC-93EC-59A5-2C42-28A1D21D14A9}"/>
              </a:ext>
            </a:extLst>
          </p:cNvPr>
          <p:cNvSpPr txBox="1"/>
          <p:nvPr/>
        </p:nvSpPr>
        <p:spPr>
          <a:xfrm>
            <a:off x="9272016" y="2504763"/>
            <a:ext cx="2523744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5F7FA"/>
                </a:solidFill>
                <a:latin typeface="Aptos"/>
              </a:rPr>
              <a:t>Full book reprices
on Azure
(measured)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C562C633-E9F8-3910-1A33-B9F0B382FE69}"/>
              </a:ext>
            </a:extLst>
          </p:cNvPr>
          <p:cNvSpPr/>
          <p:nvPr/>
        </p:nvSpPr>
        <p:spPr>
          <a:xfrm>
            <a:off x="484903" y="4121974"/>
            <a:ext cx="91440" cy="91440"/>
          </a:xfrm>
          <a:prstGeom prst="ellipse">
            <a:avLst/>
          </a:prstGeom>
          <a:solidFill>
            <a:srgbClr val="00C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8221BA2-836C-C5B4-92B3-E5626C9ABA8E}"/>
              </a:ext>
            </a:extLst>
          </p:cNvPr>
          <p:cNvSpPr txBox="1"/>
          <p:nvPr/>
        </p:nvSpPr>
        <p:spPr>
          <a:xfrm>
            <a:off x="786655" y="3976941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dirty="0">
                <a:solidFill>
                  <a:srgbClr val="EFF4F9"/>
                </a:solidFill>
                <a:latin typeface="Aptos"/>
              </a:rPr>
              <a:t>JSON dictionaries for every input and output — enables parallel computing</a:t>
            </a: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A99D35AE-E080-0DC3-BF84-99C7B695B4E9}"/>
              </a:ext>
            </a:extLst>
          </p:cNvPr>
          <p:cNvSpPr/>
          <p:nvPr/>
        </p:nvSpPr>
        <p:spPr>
          <a:xfrm>
            <a:off x="484903" y="4835205"/>
            <a:ext cx="91440" cy="91440"/>
          </a:xfrm>
          <a:prstGeom prst="ellipse">
            <a:avLst/>
          </a:prstGeom>
          <a:solidFill>
            <a:srgbClr val="00C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ED45148-987A-D2CB-B112-B6B47C361332}"/>
              </a:ext>
            </a:extLst>
          </p:cNvPr>
          <p:cNvSpPr txBox="1"/>
          <p:nvPr/>
        </p:nvSpPr>
        <p:spPr>
          <a:xfrm>
            <a:off x="786655" y="4690173"/>
            <a:ext cx="1078992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dirty="0">
                <a:solidFill>
                  <a:srgbClr val="EFF4F9"/>
                </a:solidFill>
                <a:latin typeface="Aptos"/>
              </a:rPr>
              <a:t>Code already runs unchanged on Azure</a:t>
            </a:r>
            <a:r>
              <a:rPr lang="en-US" sz="1800" dirty="0">
                <a:solidFill>
                  <a:srgbClr val="EFF4F9"/>
                </a:solidFill>
                <a:latin typeface="Aptos"/>
              </a:rPr>
              <a:t>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Aptos"/>
              </a:rPr>
              <a:t>(Further testing required)</a:t>
            </a:r>
            <a:endParaRPr sz="1800" dirty="0">
              <a:solidFill>
                <a:schemeClr val="bg1">
                  <a:lumMod val="50000"/>
                </a:schemeClr>
              </a:solidFill>
              <a:latin typeface="Aptos"/>
            </a:endParaRP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1F7593AC-A975-D4A3-1312-2A4F6BAA046D}"/>
              </a:ext>
            </a:extLst>
          </p:cNvPr>
          <p:cNvSpPr/>
          <p:nvPr/>
        </p:nvSpPr>
        <p:spPr>
          <a:xfrm>
            <a:off x="484903" y="5548438"/>
            <a:ext cx="91440" cy="91440"/>
          </a:xfrm>
          <a:prstGeom prst="ellipse">
            <a:avLst/>
          </a:prstGeom>
          <a:solidFill>
            <a:srgbClr val="00C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0B90AA9-B0F9-B9E3-46E3-CE6B86F70A24}"/>
              </a:ext>
            </a:extLst>
          </p:cNvPr>
          <p:cNvSpPr txBox="1"/>
          <p:nvPr/>
        </p:nvSpPr>
        <p:spPr>
          <a:xfrm>
            <a:off x="786655" y="5403405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>
                <a:solidFill>
                  <a:srgbClr val="EFF4F9"/>
                </a:solidFill>
                <a:latin typeface="Aptos"/>
              </a:rPr>
              <a:t>Next: focus on mortgage-backed securities and other instruments, then hand to Ryse’s
engineer for parallel-computing work</a:t>
            </a:r>
          </a:p>
        </p:txBody>
      </p:sp>
    </p:spTree>
    <p:extLst>
      <p:ext uri="{BB962C8B-B14F-4D97-AF65-F5344CB8AC3E}">
        <p14:creationId xmlns:p14="http://schemas.microsoft.com/office/powerpoint/2010/main" val="2265832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Picture 64">
            <a:extLst>
              <a:ext uri="{FF2B5EF4-FFF2-40B4-BE49-F238E27FC236}">
                <a16:creationId xmlns:a16="http://schemas.microsoft.com/office/drawing/2014/main" id="{87343384-0CAA-A407-7ACF-16151FDB30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368" t="3368" b="78569"/>
          <a:stretch>
            <a:fillRect/>
          </a:stretch>
        </p:blipFill>
        <p:spPr>
          <a:xfrm>
            <a:off x="776207" y="1288788"/>
            <a:ext cx="496100" cy="513110"/>
          </a:xfrm>
          <a:custGeom>
            <a:avLst/>
            <a:gdLst>
              <a:gd name="csX0" fmla="*/ 149352 w 288802"/>
              <a:gd name="csY0" fmla="*/ 0 h 298704"/>
              <a:gd name="csX1" fmla="*/ 286967 w 288802"/>
              <a:gd name="csY1" fmla="*/ 91217 h 298704"/>
              <a:gd name="csX2" fmla="*/ 288802 w 288802"/>
              <a:gd name="csY2" fmla="*/ 100306 h 298704"/>
              <a:gd name="csX3" fmla="*/ 288802 w 288802"/>
              <a:gd name="csY3" fmla="*/ 198399 h 298704"/>
              <a:gd name="csX4" fmla="*/ 286967 w 288802"/>
              <a:gd name="csY4" fmla="*/ 207487 h 298704"/>
              <a:gd name="csX5" fmla="*/ 149352 w 288802"/>
              <a:gd name="csY5" fmla="*/ 298704 h 298704"/>
              <a:gd name="csX6" fmla="*/ 0 w 288802"/>
              <a:gd name="csY6" fmla="*/ 149352 h 298704"/>
              <a:gd name="csX7" fmla="*/ 149352 w 288802"/>
              <a:gd name="csY7" fmla="*/ 0 h 2987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88802" h="298704">
                <a:moveTo>
                  <a:pt x="149352" y="0"/>
                </a:moveTo>
                <a:cubicBezTo>
                  <a:pt x="211216" y="0"/>
                  <a:pt x="264295" y="37613"/>
                  <a:pt x="286967" y="91217"/>
                </a:cubicBezTo>
                <a:lnTo>
                  <a:pt x="288802" y="100306"/>
                </a:lnTo>
                <a:lnTo>
                  <a:pt x="288802" y="198399"/>
                </a:lnTo>
                <a:lnTo>
                  <a:pt x="286967" y="207487"/>
                </a:lnTo>
                <a:cubicBezTo>
                  <a:pt x="264295" y="261091"/>
                  <a:pt x="211216" y="298704"/>
                  <a:pt x="149352" y="298704"/>
                </a:cubicBezTo>
                <a:cubicBezTo>
                  <a:pt x="66867" y="298704"/>
                  <a:pt x="0" y="231837"/>
                  <a:pt x="0" y="149352"/>
                </a:cubicBezTo>
                <a:cubicBezTo>
                  <a:pt x="0" y="66867"/>
                  <a:pt x="66867" y="0"/>
                  <a:pt x="149352" y="0"/>
                </a:cubicBezTo>
                <a:close/>
              </a:path>
            </a:pathLst>
          </a:custGeom>
        </p:spPr>
      </p:pic>
      <p:sp>
        <p:nvSpPr>
          <p:cNvPr id="5" name="Text 10">
            <a:extLst>
              <a:ext uri="{FF2B5EF4-FFF2-40B4-BE49-F238E27FC236}">
                <a16:creationId xmlns:a16="http://schemas.microsoft.com/office/drawing/2014/main" id="{24594CC9-AB18-FF7A-BE57-35F4FC7CDCAD}"/>
              </a:ext>
            </a:extLst>
          </p:cNvPr>
          <p:cNvSpPr txBox="1"/>
          <p:nvPr/>
        </p:nvSpPr>
        <p:spPr>
          <a:xfrm>
            <a:off x="765141" y="500949"/>
            <a:ext cx="110496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Engine, Consistent Results Across Every Interface.</a:t>
            </a:r>
            <a:endParaRPr lang="en-US" sz="2400" dirty="0"/>
          </a:p>
        </p:txBody>
      </p:sp>
      <p:sp>
        <p:nvSpPr>
          <p:cNvPr id="7" name="Text 25">
            <a:extLst>
              <a:ext uri="{FF2B5EF4-FFF2-40B4-BE49-F238E27FC236}">
                <a16:creationId xmlns:a16="http://schemas.microsoft.com/office/drawing/2014/main" id="{19FB0C81-A516-D371-AFF7-A6D4E6F5E689}"/>
              </a:ext>
            </a:extLst>
          </p:cNvPr>
          <p:cNvSpPr txBox="1"/>
          <p:nvPr/>
        </p:nvSpPr>
        <p:spPr>
          <a:xfrm>
            <a:off x="786655" y="313424"/>
            <a:ext cx="110496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>
              <a:defRPr sz="1000" b="1" kern="0" spc="75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r>
              <a:rPr lang="en-US" dirty="0"/>
              <a:t>Section VII — Fixed Income Pricing Platform</a:t>
            </a:r>
          </a:p>
        </p:txBody>
      </p:sp>
      <p:sp>
        <p:nvSpPr>
          <p:cNvPr id="9" name="PageNumber5">
            <a:extLst>
              <a:ext uri="{FF2B5EF4-FFF2-40B4-BE49-F238E27FC236}">
                <a16:creationId xmlns:a16="http://schemas.microsoft.com/office/drawing/2014/main" id="{1CF0B6EF-E9FB-1D7D-4109-4BCFD316FD63}"/>
              </a:ext>
            </a:extLst>
          </p:cNvPr>
          <p:cNvSpPr txBox="1"/>
          <p:nvPr/>
        </p:nvSpPr>
        <p:spPr>
          <a:xfrm>
            <a:off x="7391400" y="65151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 algn="r"/>
            <a:r>
              <a:rPr lang="en-US" sz="10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Ryse Private and Confidential, One Mifflin Place, Ste 400, Cambridge, MA, 02138, Mario Pardo, mario@ryseinc.com | </a:t>
            </a:r>
            <a:fld id="{97AAD9E2-EBB5-4CA4-BA32-5E5F09000B3D}" type="slidenum">
              <a:rPr lang="en-US" sz="1000" b="0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US" sz="1000" b="0" i="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023023F-B6BF-1667-3089-0D54591A5777}"/>
              </a:ext>
            </a:extLst>
          </p:cNvPr>
          <p:cNvSpPr txBox="1"/>
          <p:nvPr/>
        </p:nvSpPr>
        <p:spPr>
          <a:xfrm>
            <a:off x="1280159" y="1297992"/>
            <a:ext cx="3194409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b="1" i="0" dirty="0">
                <a:solidFill>
                  <a:srgbClr val="22C9E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Calculates Spread &amp; Risk</a:t>
            </a:r>
            <a:endParaRPr b="1" i="0" dirty="0">
              <a:solidFill>
                <a:srgbClr val="22C9E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AC83CF7-F7CA-076D-B062-549D79ACCE1C}"/>
              </a:ext>
            </a:extLst>
          </p:cNvPr>
          <p:cNvSpPr txBox="1"/>
          <p:nvPr/>
        </p:nvSpPr>
        <p:spPr>
          <a:xfrm>
            <a:off x="1280160" y="1572312"/>
            <a:ext cx="4997704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200" b="0" i="0" dirty="0">
                <a:solidFill>
                  <a:srgbClr val="D6DF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Given a bond, today’s rate environment, and market price, calculates the implied spread and sensitivity to rate movements.</a:t>
            </a:r>
            <a:endParaRPr sz="1200" b="0" i="0" dirty="0">
              <a:solidFill>
                <a:srgbClr val="D6DFE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5807B8F-F01B-10B3-CF62-03F031FCA0F7}"/>
              </a:ext>
            </a:extLst>
          </p:cNvPr>
          <p:cNvSpPr txBox="1"/>
          <p:nvPr/>
        </p:nvSpPr>
        <p:spPr>
          <a:xfrm>
            <a:off x="1280159" y="2289048"/>
            <a:ext cx="3194409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i="0" dirty="0">
                <a:solidFill>
                  <a:srgbClr val="22C9E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Runs three ways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23FBE4E-2CD7-6B36-0A1E-28D77D3511B0}"/>
              </a:ext>
            </a:extLst>
          </p:cNvPr>
          <p:cNvSpPr txBox="1"/>
          <p:nvPr/>
        </p:nvSpPr>
        <p:spPr>
          <a:xfrm>
            <a:off x="1280160" y="2563368"/>
            <a:ext cx="4997704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200" b="0" i="0" dirty="0">
                <a:solidFill>
                  <a:srgbClr val="D6DF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Spreadsheet, command line, or API — all using the same calculation engine.</a:t>
            </a:r>
            <a:endParaRPr sz="1200" b="0" i="0" dirty="0">
              <a:solidFill>
                <a:srgbClr val="D6DFE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7238AE8-D802-9BE9-CD9D-644135A82957}"/>
              </a:ext>
            </a:extLst>
          </p:cNvPr>
          <p:cNvSpPr txBox="1"/>
          <p:nvPr/>
        </p:nvSpPr>
        <p:spPr>
          <a:xfrm>
            <a:off x="1280159" y="3221736"/>
            <a:ext cx="3194409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i="0">
                <a:solidFill>
                  <a:srgbClr val="22C9E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Reproducible to the byte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C575034-F98B-5FFA-E336-6CB4B3064E63}"/>
              </a:ext>
            </a:extLst>
          </p:cNvPr>
          <p:cNvSpPr txBox="1"/>
          <p:nvPr/>
        </p:nvSpPr>
        <p:spPr>
          <a:xfrm>
            <a:off x="1280160" y="3496055"/>
            <a:ext cx="4997704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200" b="0" i="0" dirty="0">
                <a:solidFill>
                  <a:srgbClr val="D6DF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Run the same inputs again and obtain exactly the same results</a:t>
            </a:r>
            <a:endParaRPr sz="1200" b="0" i="0" dirty="0">
              <a:solidFill>
                <a:srgbClr val="D6DFE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AAFFD61-642A-D37F-E150-CB6E6DE081B3}"/>
              </a:ext>
            </a:extLst>
          </p:cNvPr>
          <p:cNvSpPr txBox="1"/>
          <p:nvPr/>
        </p:nvSpPr>
        <p:spPr>
          <a:xfrm>
            <a:off x="1280159" y="4154424"/>
            <a:ext cx="3194409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i="0">
                <a:solidFill>
                  <a:srgbClr val="22C9E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Validated on a real portfolio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9B09409-DCAF-B24F-CE00-7975EBAD5089}"/>
              </a:ext>
            </a:extLst>
          </p:cNvPr>
          <p:cNvSpPr txBox="1"/>
          <p:nvPr/>
        </p:nvSpPr>
        <p:spPr>
          <a:xfrm>
            <a:off x="1280160" y="4428744"/>
            <a:ext cx="4997704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200" b="0" i="0" dirty="0">
                <a:solidFill>
                  <a:srgbClr val="D6DF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Tested against a pension fund fixed income portfolio from March 2009, where benchmark results were already known.</a:t>
            </a:r>
            <a:endParaRPr sz="1200" b="0" i="0" dirty="0">
              <a:solidFill>
                <a:srgbClr val="D6DFE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0C3F8486-3103-099F-9AE1-8AB14ED2E6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996" t="30831" r="1607" b="51106"/>
          <a:stretch>
            <a:fillRect/>
          </a:stretch>
        </p:blipFill>
        <p:spPr>
          <a:xfrm>
            <a:off x="772653" y="2242805"/>
            <a:ext cx="513110" cy="513110"/>
          </a:xfrm>
          <a:custGeom>
            <a:avLst/>
            <a:gdLst>
              <a:gd name="csX0" fmla="*/ 149352 w 298704"/>
              <a:gd name="csY0" fmla="*/ 0 h 298704"/>
              <a:gd name="csX1" fmla="*/ 298704 w 298704"/>
              <a:gd name="csY1" fmla="*/ 149352 h 298704"/>
              <a:gd name="csX2" fmla="*/ 149352 w 298704"/>
              <a:gd name="csY2" fmla="*/ 298704 h 298704"/>
              <a:gd name="csX3" fmla="*/ 0 w 298704"/>
              <a:gd name="csY3" fmla="*/ 149352 h 298704"/>
              <a:gd name="csX4" fmla="*/ 149352 w 298704"/>
              <a:gd name="csY4" fmla="*/ 0 h 2987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98704" h="298704">
                <a:moveTo>
                  <a:pt x="149352" y="0"/>
                </a:moveTo>
                <a:cubicBezTo>
                  <a:pt x="231837" y="0"/>
                  <a:pt x="298704" y="66867"/>
                  <a:pt x="298704" y="149352"/>
                </a:cubicBezTo>
                <a:cubicBezTo>
                  <a:pt x="298704" y="231837"/>
                  <a:pt x="231837" y="298704"/>
                  <a:pt x="149352" y="298704"/>
                </a:cubicBezTo>
                <a:cubicBezTo>
                  <a:pt x="66867" y="298704"/>
                  <a:pt x="0" y="231837"/>
                  <a:pt x="0" y="149352"/>
                </a:cubicBezTo>
                <a:cubicBezTo>
                  <a:pt x="0" y="66867"/>
                  <a:pt x="66867" y="0"/>
                  <a:pt x="149352" y="0"/>
                </a:cubicBezTo>
                <a:close/>
              </a:path>
            </a:pathLst>
          </a:cu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930061BB-4603-080D-FADB-6860FE39CD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031" t="59584" b="22353"/>
          <a:stretch>
            <a:fillRect/>
          </a:stretch>
        </p:blipFill>
        <p:spPr>
          <a:xfrm>
            <a:off x="779630" y="3229849"/>
            <a:ext cx="479716" cy="513110"/>
          </a:xfrm>
          <a:custGeom>
            <a:avLst/>
            <a:gdLst>
              <a:gd name="csX0" fmla="*/ 149352 w 279264"/>
              <a:gd name="csY0" fmla="*/ 0 h 298704"/>
              <a:gd name="csX1" fmla="*/ 254960 w 279264"/>
              <a:gd name="csY1" fmla="*/ 43744 h 298704"/>
              <a:gd name="csX2" fmla="*/ 279264 w 279264"/>
              <a:gd name="csY2" fmla="*/ 79792 h 298704"/>
              <a:gd name="csX3" fmla="*/ 279264 w 279264"/>
              <a:gd name="csY3" fmla="*/ 218912 h 298704"/>
              <a:gd name="csX4" fmla="*/ 254960 w 279264"/>
              <a:gd name="csY4" fmla="*/ 254960 h 298704"/>
              <a:gd name="csX5" fmla="*/ 149352 w 279264"/>
              <a:gd name="csY5" fmla="*/ 298704 h 298704"/>
              <a:gd name="csX6" fmla="*/ 0 w 279264"/>
              <a:gd name="csY6" fmla="*/ 149352 h 298704"/>
              <a:gd name="csX7" fmla="*/ 149352 w 279264"/>
              <a:gd name="csY7" fmla="*/ 0 h 2987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79264" h="298704">
                <a:moveTo>
                  <a:pt x="149352" y="0"/>
                </a:moveTo>
                <a:cubicBezTo>
                  <a:pt x="190594" y="0"/>
                  <a:pt x="227932" y="16717"/>
                  <a:pt x="254960" y="43744"/>
                </a:cubicBezTo>
                <a:lnTo>
                  <a:pt x="279264" y="79792"/>
                </a:lnTo>
                <a:lnTo>
                  <a:pt x="279264" y="218912"/>
                </a:lnTo>
                <a:lnTo>
                  <a:pt x="254960" y="254960"/>
                </a:lnTo>
                <a:cubicBezTo>
                  <a:pt x="227932" y="281987"/>
                  <a:pt x="190594" y="298704"/>
                  <a:pt x="149352" y="298704"/>
                </a:cubicBezTo>
                <a:cubicBezTo>
                  <a:pt x="66867" y="298704"/>
                  <a:pt x="0" y="231837"/>
                  <a:pt x="0" y="149352"/>
                </a:cubicBezTo>
                <a:cubicBezTo>
                  <a:pt x="0" y="66867"/>
                  <a:pt x="66867" y="0"/>
                  <a:pt x="149352" y="0"/>
                </a:cubicBezTo>
                <a:close/>
              </a:path>
            </a:pathLst>
          </a:cu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9A3DDB37-D718-2236-E6D1-226C8D2AC8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555" t="83914"/>
          <a:stretch>
            <a:fillRect/>
          </a:stretch>
        </p:blipFill>
        <p:spPr>
          <a:xfrm>
            <a:off x="781988" y="4215510"/>
            <a:ext cx="488792" cy="456948"/>
          </a:xfrm>
          <a:custGeom>
            <a:avLst/>
            <a:gdLst>
              <a:gd name="csX0" fmla="*/ 149352 w 284549"/>
              <a:gd name="csY0" fmla="*/ 0 h 266010"/>
              <a:gd name="csX1" fmla="*/ 254960 w 284549"/>
              <a:gd name="csY1" fmla="*/ 43744 h 266010"/>
              <a:gd name="csX2" fmla="*/ 284549 w 284549"/>
              <a:gd name="csY2" fmla="*/ 87631 h 266010"/>
              <a:gd name="csX3" fmla="*/ 284549 w 284549"/>
              <a:gd name="csY3" fmla="*/ 211073 h 266010"/>
              <a:gd name="csX4" fmla="*/ 254960 w 284549"/>
              <a:gd name="csY4" fmla="*/ 254960 h 266010"/>
              <a:gd name="csX5" fmla="*/ 238570 w 284549"/>
              <a:gd name="csY5" fmla="*/ 266010 h 266010"/>
              <a:gd name="csX6" fmla="*/ 60134 w 284549"/>
              <a:gd name="csY6" fmla="*/ 266010 h 266010"/>
              <a:gd name="csX7" fmla="*/ 43744 w 284549"/>
              <a:gd name="csY7" fmla="*/ 254960 h 266010"/>
              <a:gd name="csX8" fmla="*/ 0 w 284549"/>
              <a:gd name="csY8" fmla="*/ 149352 h 266010"/>
              <a:gd name="csX9" fmla="*/ 149352 w 284549"/>
              <a:gd name="csY9" fmla="*/ 0 h 2660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284549" h="266010">
                <a:moveTo>
                  <a:pt x="149352" y="0"/>
                </a:moveTo>
                <a:cubicBezTo>
                  <a:pt x="190594" y="0"/>
                  <a:pt x="227932" y="16717"/>
                  <a:pt x="254960" y="43744"/>
                </a:cubicBezTo>
                <a:lnTo>
                  <a:pt x="284549" y="87631"/>
                </a:lnTo>
                <a:lnTo>
                  <a:pt x="284549" y="211073"/>
                </a:lnTo>
                <a:lnTo>
                  <a:pt x="254960" y="254960"/>
                </a:lnTo>
                <a:lnTo>
                  <a:pt x="238570" y="266010"/>
                </a:lnTo>
                <a:lnTo>
                  <a:pt x="60134" y="266010"/>
                </a:lnTo>
                <a:lnTo>
                  <a:pt x="43744" y="254960"/>
                </a:lnTo>
                <a:cubicBezTo>
                  <a:pt x="16717" y="227933"/>
                  <a:pt x="0" y="190595"/>
                  <a:pt x="0" y="149352"/>
                </a:cubicBezTo>
                <a:cubicBezTo>
                  <a:pt x="0" y="66867"/>
                  <a:pt x="66867" y="0"/>
                  <a:pt x="149352" y="0"/>
                </a:cubicBezTo>
                <a:close/>
              </a:path>
            </a:pathLst>
          </a:custGeom>
        </p:spPr>
      </p:pic>
      <p:sp>
        <p:nvSpPr>
          <p:cNvPr id="69" name="Rounded Rectangle 16">
            <a:extLst>
              <a:ext uri="{FF2B5EF4-FFF2-40B4-BE49-F238E27FC236}">
                <a16:creationId xmlns:a16="http://schemas.microsoft.com/office/drawing/2014/main" id="{13714E26-36DF-004A-24B1-8E60BE3E5119}"/>
              </a:ext>
            </a:extLst>
          </p:cNvPr>
          <p:cNvSpPr/>
          <p:nvPr/>
        </p:nvSpPr>
        <p:spPr>
          <a:xfrm>
            <a:off x="6693408" y="1204930"/>
            <a:ext cx="3171952" cy="3547872"/>
          </a:xfrm>
          <a:prstGeom prst="roundRect">
            <a:avLst>
              <a:gd name="adj" fmla="val 8362"/>
            </a:avLst>
          </a:prstGeom>
          <a:solidFill>
            <a:srgbClr val="0F2239"/>
          </a:solidFill>
          <a:ln w="12700">
            <a:solidFill>
              <a:srgbClr val="275D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F4969A0-74EA-3256-DF0F-A8204F2F6D34}"/>
              </a:ext>
            </a:extLst>
          </p:cNvPr>
          <p:cNvSpPr txBox="1"/>
          <p:nvPr/>
        </p:nvSpPr>
        <p:spPr>
          <a:xfrm>
            <a:off x="7022592" y="150668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 dirty="0">
                <a:solidFill>
                  <a:srgbClr val="F4F7FB"/>
                </a:solidFill>
                <a:latin typeface="Consolas"/>
              </a:rPr>
              <a:t>&gt; price(bond)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A808BF8-C907-4172-81BD-5C885503A58B}"/>
              </a:ext>
            </a:extLst>
          </p:cNvPr>
          <p:cNvSpPr txBox="1"/>
          <p:nvPr/>
        </p:nvSpPr>
        <p:spPr>
          <a:xfrm>
            <a:off x="7022592" y="2055322"/>
            <a:ext cx="26517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 dirty="0">
                <a:solidFill>
                  <a:srgbClr val="E3EAF1"/>
                </a:solidFill>
                <a:latin typeface="Consolas"/>
              </a:rPr>
              <a:t>Price       98.42
Spread      125 bps
Duration    5.8
Convexity   0.42</a:t>
            </a:r>
          </a:p>
        </p:txBody>
      </p:sp>
      <p:cxnSp>
        <p:nvCxnSpPr>
          <p:cNvPr id="72" name="Connector 19">
            <a:extLst>
              <a:ext uri="{FF2B5EF4-FFF2-40B4-BE49-F238E27FC236}">
                <a16:creationId xmlns:a16="http://schemas.microsoft.com/office/drawing/2014/main" id="{835B94EC-C1E0-C865-2089-4136AFB39E16}"/>
              </a:ext>
            </a:extLst>
          </p:cNvPr>
          <p:cNvCxnSpPr>
            <a:cxnSpLocks/>
          </p:cNvCxnSpPr>
          <p:nvPr/>
        </p:nvCxnSpPr>
        <p:spPr>
          <a:xfrm>
            <a:off x="7022592" y="3820114"/>
            <a:ext cx="2517648" cy="0"/>
          </a:xfrm>
          <a:prstGeom prst="line">
            <a:avLst/>
          </a:prstGeom>
          <a:ln w="10160">
            <a:solidFill>
              <a:srgbClr val="275D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F8FA5886-79FB-1EA1-E6D0-86AF4DB5BE09}"/>
              </a:ext>
            </a:extLst>
          </p:cNvPr>
          <p:cNvSpPr txBox="1"/>
          <p:nvPr/>
        </p:nvSpPr>
        <p:spPr>
          <a:xfrm>
            <a:off x="7022592" y="4048714"/>
            <a:ext cx="2578608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22C9E5"/>
                </a:solidFill>
                <a:latin typeface="Aptos"/>
              </a:rPr>
              <a:t>Same calculation engine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7F3F5DD-8912-0D74-0091-34ADA0DA1D5F}"/>
              </a:ext>
            </a:extLst>
          </p:cNvPr>
          <p:cNvSpPr txBox="1"/>
          <p:nvPr/>
        </p:nvSpPr>
        <p:spPr>
          <a:xfrm>
            <a:off x="7022592" y="4368754"/>
            <a:ext cx="2639568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D6DFE8"/>
                </a:solidFill>
                <a:latin typeface="Aptos"/>
              </a:rPr>
              <a:t>Excel  •  CLI  •  API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4DFF50A-C7B6-9C70-C616-1D264EBFA873}"/>
              </a:ext>
            </a:extLst>
          </p:cNvPr>
          <p:cNvSpPr txBox="1"/>
          <p:nvPr/>
        </p:nvSpPr>
        <p:spPr>
          <a:xfrm>
            <a:off x="7446264" y="1239982"/>
            <a:ext cx="28346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400" b="1" i="0" dirty="0">
                <a:solidFill>
                  <a:srgbClr val="22C9E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Illustrative Output</a:t>
            </a:r>
            <a:endParaRPr sz="1400" b="1" i="0" dirty="0">
              <a:solidFill>
                <a:srgbClr val="22C9E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83582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B9499-820F-DC21-E890-45180DA6A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0">
            <a:extLst>
              <a:ext uri="{FF2B5EF4-FFF2-40B4-BE49-F238E27FC236}">
                <a16:creationId xmlns:a16="http://schemas.microsoft.com/office/drawing/2014/main" id="{B62C092B-05FB-3C27-50A1-67746A3045ED}"/>
              </a:ext>
            </a:extLst>
          </p:cNvPr>
          <p:cNvSpPr txBox="1"/>
          <p:nvPr/>
        </p:nvSpPr>
        <p:spPr>
          <a:xfrm>
            <a:off x="765141" y="500949"/>
            <a:ext cx="110496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2,260 Securities, 81% of the Portfolio Is Complete or Engine-Ready</a:t>
            </a:r>
            <a:endParaRPr lang="en-US" sz="2400" dirty="0"/>
          </a:p>
        </p:txBody>
      </p:sp>
      <p:sp>
        <p:nvSpPr>
          <p:cNvPr id="7" name="Text 25">
            <a:extLst>
              <a:ext uri="{FF2B5EF4-FFF2-40B4-BE49-F238E27FC236}">
                <a16:creationId xmlns:a16="http://schemas.microsoft.com/office/drawing/2014/main" id="{8DB5C528-DD34-8501-100E-296C617F6212}"/>
              </a:ext>
            </a:extLst>
          </p:cNvPr>
          <p:cNvSpPr txBox="1"/>
          <p:nvPr/>
        </p:nvSpPr>
        <p:spPr>
          <a:xfrm>
            <a:off x="786655" y="313424"/>
            <a:ext cx="110496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>
              <a:defRPr sz="1000" b="1" kern="0" spc="75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r>
              <a:rPr lang="en-US" dirty="0"/>
              <a:t>Section VII — Fixed Income Pricing Platform</a:t>
            </a:r>
          </a:p>
        </p:txBody>
      </p:sp>
      <p:sp>
        <p:nvSpPr>
          <p:cNvPr id="9" name="PageNumber5">
            <a:extLst>
              <a:ext uri="{FF2B5EF4-FFF2-40B4-BE49-F238E27FC236}">
                <a16:creationId xmlns:a16="http://schemas.microsoft.com/office/drawing/2014/main" id="{A20C914C-304D-580E-A80A-94292644FD0A}"/>
              </a:ext>
            </a:extLst>
          </p:cNvPr>
          <p:cNvSpPr txBox="1"/>
          <p:nvPr/>
        </p:nvSpPr>
        <p:spPr>
          <a:xfrm>
            <a:off x="7391400" y="65151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 algn="r"/>
            <a:r>
              <a:rPr lang="en-US" sz="10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Ryse Private and Confidential, One Mifflin Place, Ste 400, Cambridge, MA, 02138, Mario Pardo, mario@ryseinc.com | </a:t>
            </a:r>
            <a:fld id="{97AAD9E2-EBB5-4CA4-BA32-5E5F09000B3D}" type="slidenum">
              <a:rPr lang="en-US" sz="1000" b="0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n-US" sz="1000" b="0" i="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" name="Connector 16">
            <a:extLst>
              <a:ext uri="{FF2B5EF4-FFF2-40B4-BE49-F238E27FC236}">
                <a16:creationId xmlns:a16="http://schemas.microsoft.com/office/drawing/2014/main" id="{0320911F-B006-F6BE-3A7C-CC28CF07E62B}"/>
              </a:ext>
            </a:extLst>
          </p:cNvPr>
          <p:cNvCxnSpPr/>
          <p:nvPr/>
        </p:nvCxnSpPr>
        <p:spPr>
          <a:xfrm>
            <a:off x="804672" y="3730752"/>
            <a:ext cx="10561320" cy="0"/>
          </a:xfrm>
          <a:prstGeom prst="line">
            <a:avLst/>
          </a:prstGeom>
          <a:ln w="10160">
            <a:solidFill>
              <a:srgbClr val="22C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B9822CD-6241-020E-B495-0F59ACFA25CE}"/>
              </a:ext>
            </a:extLst>
          </p:cNvPr>
          <p:cNvSpPr txBox="1"/>
          <p:nvPr/>
        </p:nvSpPr>
        <p:spPr>
          <a:xfrm>
            <a:off x="868680" y="4050791"/>
            <a:ext cx="20116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22C9E5"/>
                </a:solidFill>
                <a:latin typeface="Aptos"/>
              </a:rPr>
              <a:t>•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8BFE0C-7372-2368-3009-2BA874F7790D}"/>
              </a:ext>
            </a:extLst>
          </p:cNvPr>
          <p:cNvSpPr txBox="1"/>
          <p:nvPr/>
        </p:nvSpPr>
        <p:spPr>
          <a:xfrm>
            <a:off x="1170432" y="4091939"/>
            <a:ext cx="97840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200" b="0" i="0" dirty="0">
                <a:solidFill>
                  <a:srgbClr val="D6DF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2,260 securities across thirteen categories. Six categories are complete, representing 42% of the portfolio</a:t>
            </a:r>
            <a:endParaRPr sz="1200" b="0" i="0" dirty="0">
              <a:solidFill>
                <a:srgbClr val="D6DFE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AC9B5A-7177-88A5-75DA-69975A486935}"/>
              </a:ext>
            </a:extLst>
          </p:cNvPr>
          <p:cNvSpPr txBox="1"/>
          <p:nvPr/>
        </p:nvSpPr>
        <p:spPr>
          <a:xfrm>
            <a:off x="868680" y="4690872"/>
            <a:ext cx="20116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22C9E5"/>
                </a:solidFill>
                <a:latin typeface="Aptos"/>
              </a:rPr>
              <a:t>•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13A9ED-FD31-AF04-797F-F8A6C30991D3}"/>
              </a:ext>
            </a:extLst>
          </p:cNvPr>
          <p:cNvSpPr txBox="1"/>
          <p:nvPr/>
        </p:nvSpPr>
        <p:spPr>
          <a:xfrm>
            <a:off x="1170432" y="4721352"/>
            <a:ext cx="978408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lvl1pPr>
              <a:defRPr sz="1050" b="0" i="0">
                <a:solidFill>
                  <a:srgbClr val="D6DFE8"/>
                </a:solidFill>
                <a:latin typeface="Aptos"/>
              </a:defRPr>
            </a:lvl1pPr>
          </a:lstStyle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Of the 949 securities in completed categories, 766 are priced by the new engine. The remaining 183 are individually identified, with most lacking required bond terms in the source records.</a:t>
            </a:r>
            <a:endParaRPr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GraphicFramePr>
            <a:graphicFrameLocks/>
          </p:cNvGraphicFramePr>
          <p:nvPr/>
        </p:nvGraphicFramePr>
        <p:xfrm>
          <a:off x="1631400" y="1365282"/>
          <a:ext cx="6547400" cy="20460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665969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6251E-ED1F-9904-0039-C1BE69173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0">
            <a:extLst>
              <a:ext uri="{FF2B5EF4-FFF2-40B4-BE49-F238E27FC236}">
                <a16:creationId xmlns:a16="http://schemas.microsoft.com/office/drawing/2014/main" id="{11DB4F2D-8E73-6AE0-5DEC-BB6499C58552}"/>
              </a:ext>
            </a:extLst>
          </p:cNvPr>
          <p:cNvSpPr txBox="1"/>
          <p:nvPr/>
        </p:nvSpPr>
        <p:spPr>
          <a:xfrm>
            <a:off x="765141" y="500949"/>
            <a:ext cx="110496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Progress by Instrument Class</a:t>
            </a:r>
            <a:endParaRPr lang="en-US" sz="2400" dirty="0"/>
          </a:p>
        </p:txBody>
      </p:sp>
      <p:sp>
        <p:nvSpPr>
          <p:cNvPr id="7" name="Text 25">
            <a:extLst>
              <a:ext uri="{FF2B5EF4-FFF2-40B4-BE49-F238E27FC236}">
                <a16:creationId xmlns:a16="http://schemas.microsoft.com/office/drawing/2014/main" id="{8A3B7BB2-FFB1-D67A-469F-441B9867DAC8}"/>
              </a:ext>
            </a:extLst>
          </p:cNvPr>
          <p:cNvSpPr txBox="1"/>
          <p:nvPr/>
        </p:nvSpPr>
        <p:spPr>
          <a:xfrm>
            <a:off x="786655" y="313424"/>
            <a:ext cx="110496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>
              <a:defRPr sz="1000" b="1" kern="0" spc="75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r>
              <a:rPr lang="en-US" dirty="0"/>
              <a:t>Section VII — Fixed Income Pricing Platform</a:t>
            </a:r>
          </a:p>
        </p:txBody>
      </p:sp>
      <p:sp>
        <p:nvSpPr>
          <p:cNvPr id="9" name="PageNumber5">
            <a:extLst>
              <a:ext uri="{FF2B5EF4-FFF2-40B4-BE49-F238E27FC236}">
                <a16:creationId xmlns:a16="http://schemas.microsoft.com/office/drawing/2014/main" id="{ED71B136-D5BB-4E4E-3FAE-5EDFB1D77ECE}"/>
              </a:ext>
            </a:extLst>
          </p:cNvPr>
          <p:cNvSpPr txBox="1"/>
          <p:nvPr/>
        </p:nvSpPr>
        <p:spPr>
          <a:xfrm>
            <a:off x="7391400" y="65151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 algn="r"/>
            <a:r>
              <a:rPr lang="en-US" sz="10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Ryse Private and Confidential, One Mifflin Place, Ste 400, Cambridge, MA, 02138, Mario Pardo, mario@ryseinc.com | </a:t>
            </a:r>
            <a:fld id="{97AAD9E2-EBB5-4CA4-BA32-5E5F09000B3D}" type="slidenum">
              <a:rPr lang="en-US" sz="1000" b="0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US" sz="1000" b="0" i="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4F267DEA-8126-2AC2-5EB4-7F219A55B2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8021056"/>
              </p:ext>
            </p:extLst>
          </p:nvPr>
        </p:nvGraphicFramePr>
        <p:xfrm>
          <a:off x="2198153" y="1206365"/>
          <a:ext cx="5970487" cy="50216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29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6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5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34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0326"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1ACAE8"/>
                          </a:solidFill>
                          <a:latin typeface="Aptos"/>
                        </a:rPr>
                        <a:t>#</a:t>
                      </a:r>
                    </a:p>
                  </a:txBody>
                  <a:tcPr marL="65639" marR="49229" marT="24615" marB="16409" anchor="ctr">
                    <a:solidFill>
                      <a:srgbClr val="163B5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CAE8"/>
                          </a:solidFill>
                          <a:latin typeface="Aptos"/>
                        </a:rPr>
                        <a:t>Category</a:t>
                      </a:r>
                    </a:p>
                  </a:txBody>
                  <a:tcPr marL="65639" marR="49229" marT="24615" marB="16409" anchor="ctr">
                    <a:solidFill>
                      <a:srgbClr val="163B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ACAE8"/>
                          </a:solidFill>
                          <a:latin typeface="Aptos"/>
                        </a:rPr>
                        <a:t>Lines</a:t>
                      </a:r>
                    </a:p>
                  </a:txBody>
                  <a:tcPr marL="65639" marR="49229" marT="24615" marB="16409" anchor="ctr">
                    <a:solidFill>
                      <a:srgbClr val="163B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ACAE8"/>
                          </a:solidFill>
                          <a:latin typeface="Aptos"/>
                        </a:rPr>
                        <a:t>Securities</a:t>
                      </a:r>
                    </a:p>
                  </a:txBody>
                  <a:tcPr marL="65639" marR="49229" marT="24615" marB="16409" anchor="ctr">
                    <a:solidFill>
                      <a:srgbClr val="163B5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dirty="0">
                          <a:solidFill>
                            <a:srgbClr val="1ACAE8"/>
                          </a:solidFill>
                          <a:latin typeface="Aptos"/>
                        </a:rPr>
                        <a:t>Status</a:t>
                      </a:r>
                    </a:p>
                  </a:txBody>
                  <a:tcPr marL="65639" marR="49229" marT="24615" marB="16409" anchor="ctr">
                    <a:solidFill>
                      <a:srgbClr val="163B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119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EFF4F9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65639" marR="49229" marT="24615" marB="16409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dirty="0">
                          <a:solidFill>
                            <a:srgbClr val="EFF4F9"/>
                          </a:solidFill>
                          <a:latin typeface="Aptos"/>
                        </a:rPr>
                        <a:t>Corporate Bonds</a:t>
                      </a:r>
                    </a:p>
                  </a:txBody>
                  <a:tcPr marL="65639" marR="49229" marT="24615" marB="16409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EFF4F9"/>
                          </a:solidFill>
                          <a:latin typeface="Aptos"/>
                        </a:rPr>
                        <a:t>811</a:t>
                      </a:r>
                    </a:p>
                  </a:txBody>
                  <a:tcPr marL="65639" marR="49229" marT="24615" marB="16409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EFF4F9"/>
                          </a:solidFill>
                          <a:latin typeface="Aptos"/>
                        </a:rPr>
                        <a:t>732</a:t>
                      </a:r>
                    </a:p>
                  </a:txBody>
                  <a:tcPr marL="65639" marR="49229" marT="24615" marB="16409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Aptos"/>
                        </a:rPr>
                        <a:t>Complete</a:t>
                      </a:r>
                    </a:p>
                  </a:txBody>
                  <a:tcPr marL="65639" marR="49229" marT="24615" marB="16409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119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EFF4F9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65639" marR="49229" marT="24615" marB="16409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dirty="0">
                          <a:solidFill>
                            <a:srgbClr val="EFF4F9"/>
                          </a:solidFill>
                          <a:latin typeface="Aptos"/>
                        </a:rPr>
                        <a:t>Government Bonds</a:t>
                      </a:r>
                    </a:p>
                  </a:txBody>
                  <a:tcPr marL="65639" marR="49229" marT="24615" marB="16409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EFF4F9"/>
                          </a:solidFill>
                          <a:latin typeface="Aptos"/>
                        </a:rPr>
                        <a:t>153</a:t>
                      </a:r>
                    </a:p>
                  </a:txBody>
                  <a:tcPr marL="65639" marR="49229" marT="24615" marB="16409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EFF4F9"/>
                          </a:solidFill>
                          <a:latin typeface="Aptos"/>
                        </a:rPr>
                        <a:t>147</a:t>
                      </a:r>
                    </a:p>
                  </a:txBody>
                  <a:tcPr marL="65639" marR="49229" marT="24615" marB="16409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Aptos"/>
                        </a:rPr>
                        <a:t>Complete</a:t>
                      </a:r>
                    </a:p>
                  </a:txBody>
                  <a:tcPr marL="65639" marR="49229" marT="24615" marB="16409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119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EFF4F9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65639" marR="49229" marT="24615" marB="16409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dirty="0">
                          <a:solidFill>
                            <a:srgbClr val="EFF4F9"/>
                          </a:solidFill>
                          <a:latin typeface="Aptos"/>
                        </a:rPr>
                        <a:t>Government Agencies</a:t>
                      </a:r>
                    </a:p>
                  </a:txBody>
                  <a:tcPr marL="65639" marR="49229" marT="24615" marB="16409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EFF4F9"/>
                          </a:solidFill>
                          <a:latin typeface="Aptos"/>
                        </a:rPr>
                        <a:t>42</a:t>
                      </a:r>
                    </a:p>
                  </a:txBody>
                  <a:tcPr marL="65639" marR="49229" marT="24615" marB="16409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EFF4F9"/>
                          </a:solidFill>
                          <a:latin typeface="Aptos"/>
                        </a:rPr>
                        <a:t>39</a:t>
                      </a:r>
                    </a:p>
                  </a:txBody>
                  <a:tcPr marL="65639" marR="49229" marT="24615" marB="16409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Aptos"/>
                        </a:rPr>
                        <a:t>Complete</a:t>
                      </a:r>
                    </a:p>
                  </a:txBody>
                  <a:tcPr marL="65639" marR="49229" marT="24615" marB="16409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119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EFF4F9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65639" marR="49229" marT="24615" marB="16409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EFF4F9"/>
                          </a:solidFill>
                          <a:latin typeface="Aptos"/>
                        </a:rPr>
                        <a:t>Index-Linked Government Bonds</a:t>
                      </a:r>
                    </a:p>
                  </a:txBody>
                  <a:tcPr marL="65639" marR="49229" marT="24615" marB="16409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EFF4F9"/>
                          </a:solidFill>
                          <a:latin typeface="Aptos"/>
                        </a:rPr>
                        <a:t>16</a:t>
                      </a:r>
                    </a:p>
                  </a:txBody>
                  <a:tcPr marL="65639" marR="49229" marT="24615" marB="16409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EFF4F9"/>
                          </a:solidFill>
                          <a:latin typeface="Aptos"/>
                        </a:rPr>
                        <a:t>15</a:t>
                      </a:r>
                    </a:p>
                  </a:txBody>
                  <a:tcPr marL="65639" marR="49229" marT="24615" marB="16409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Aptos"/>
                        </a:rPr>
                        <a:t>Complete</a:t>
                      </a:r>
                    </a:p>
                  </a:txBody>
                  <a:tcPr marL="65639" marR="49229" marT="24615" marB="16409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119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EFF4F9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65639" marR="49229" marT="24615" marB="16409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dirty="0">
                          <a:solidFill>
                            <a:srgbClr val="EFF4F9"/>
                          </a:solidFill>
                          <a:latin typeface="Aptos"/>
                        </a:rPr>
                        <a:t>Guaranteed Fixed Income</a:t>
                      </a:r>
                    </a:p>
                  </a:txBody>
                  <a:tcPr marL="65639" marR="49229" marT="24615" marB="16409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EFF4F9"/>
                          </a:solidFill>
                          <a:latin typeface="Aptos"/>
                        </a:rPr>
                        <a:t>11</a:t>
                      </a:r>
                    </a:p>
                  </a:txBody>
                  <a:tcPr marL="65639" marR="49229" marT="24615" marB="16409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EFF4F9"/>
                          </a:solidFill>
                          <a:latin typeface="Aptos"/>
                        </a:rPr>
                        <a:t>9</a:t>
                      </a:r>
                    </a:p>
                  </a:txBody>
                  <a:tcPr marL="65639" marR="49229" marT="24615" marB="16409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Aptos"/>
                        </a:rPr>
                        <a:t>Complete</a:t>
                      </a:r>
                    </a:p>
                  </a:txBody>
                  <a:tcPr marL="65639" marR="49229" marT="24615" marB="16409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119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EFF4F9"/>
                          </a:solidFill>
                          <a:latin typeface="Aptos"/>
                        </a:rPr>
                        <a:t>6</a:t>
                      </a:r>
                    </a:p>
                  </a:txBody>
                  <a:tcPr marL="65639" marR="49229" marT="24615" marB="16409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dirty="0">
                          <a:solidFill>
                            <a:srgbClr val="EFF4F9"/>
                          </a:solidFill>
                          <a:latin typeface="Aptos"/>
                        </a:rPr>
                        <a:t>Municipal / Provincial Bonds</a:t>
                      </a:r>
                    </a:p>
                  </a:txBody>
                  <a:tcPr marL="65639" marR="49229" marT="24615" marB="16409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EFF4F9"/>
                          </a:solidFill>
                          <a:latin typeface="Aptos"/>
                        </a:rPr>
                        <a:t>7</a:t>
                      </a:r>
                    </a:p>
                  </a:txBody>
                  <a:tcPr marL="65639" marR="49229" marT="24615" marB="16409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EFF4F9"/>
                          </a:solidFill>
                          <a:latin typeface="Aptos"/>
                        </a:rPr>
                        <a:t>7</a:t>
                      </a:r>
                    </a:p>
                  </a:txBody>
                  <a:tcPr marL="65639" marR="49229" marT="24615" marB="16409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Aptos"/>
                        </a:rPr>
                        <a:t>Complete</a:t>
                      </a:r>
                    </a:p>
                  </a:txBody>
                  <a:tcPr marL="65639" marR="49229" marT="24615" marB="16409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4119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EFF4F9"/>
                          </a:solidFill>
                          <a:latin typeface="Aptos"/>
                        </a:rPr>
                        <a:t>7</a:t>
                      </a:r>
                    </a:p>
                  </a:txBody>
                  <a:tcPr marL="65639" marR="49229" marT="24615" marB="16409" anchor="ctr">
                    <a:solidFill>
                      <a:srgbClr val="1941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dirty="0">
                          <a:solidFill>
                            <a:srgbClr val="EFF4F9"/>
                          </a:solidFill>
                          <a:latin typeface="Aptos"/>
                        </a:rPr>
                        <a:t>Government Mortgage-Backed</a:t>
                      </a:r>
                    </a:p>
                  </a:txBody>
                  <a:tcPr marL="65639" marR="49229" marT="24615" marB="16409" anchor="ctr">
                    <a:solidFill>
                      <a:srgbClr val="1941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EFF4F9"/>
                          </a:solidFill>
                          <a:latin typeface="Aptos"/>
                        </a:rPr>
                        <a:t>888</a:t>
                      </a:r>
                    </a:p>
                  </a:txBody>
                  <a:tcPr marL="65639" marR="49229" marT="24615" marB="16409" anchor="ctr">
                    <a:solidFill>
                      <a:srgbClr val="1941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EFF4F9"/>
                          </a:solidFill>
                          <a:latin typeface="Aptos"/>
                        </a:rPr>
                        <a:t>882</a:t>
                      </a:r>
                    </a:p>
                  </a:txBody>
                  <a:tcPr marL="65639" marR="49229" marT="24615" marB="16409" anchor="ctr">
                    <a:solidFill>
                      <a:srgbClr val="1941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dirty="0">
                          <a:solidFill>
                            <a:srgbClr val="2E9BF5"/>
                          </a:solidFill>
                          <a:latin typeface="Aptos"/>
                        </a:rPr>
                        <a:t>Engine built — next</a:t>
                      </a:r>
                    </a:p>
                  </a:txBody>
                  <a:tcPr marL="65639" marR="49229" marT="24615" marB="16409" anchor="ctr">
                    <a:solidFill>
                      <a:srgbClr val="1941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4119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EFF4F9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L="65639" marR="49229" marT="24615" marB="16409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dirty="0">
                          <a:solidFill>
                            <a:srgbClr val="EFF4F9"/>
                          </a:solidFill>
                          <a:latin typeface="Aptos"/>
                        </a:rPr>
                        <a:t>Non-Government C.M.O.s</a:t>
                      </a:r>
                    </a:p>
                  </a:txBody>
                  <a:tcPr marL="65639" marR="49229" marT="24615" marB="16409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EFF4F9"/>
                          </a:solidFill>
                          <a:latin typeface="Aptos"/>
                        </a:rPr>
                        <a:t>265</a:t>
                      </a:r>
                    </a:p>
                  </a:txBody>
                  <a:tcPr marL="65639" marR="49229" marT="24615" marB="16409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EFF4F9"/>
                          </a:solidFill>
                          <a:latin typeface="Aptos"/>
                        </a:rPr>
                        <a:t>264</a:t>
                      </a:r>
                    </a:p>
                  </a:txBody>
                  <a:tcPr marL="65639" marR="49229" marT="24615" marB="16409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bg2"/>
                          </a:solidFill>
                          <a:latin typeface="Aptos"/>
                        </a:rPr>
                        <a:t>WIP</a:t>
                      </a:r>
                      <a:endParaRPr sz="1200" dirty="0">
                        <a:solidFill>
                          <a:schemeClr val="bg2"/>
                        </a:solidFill>
                        <a:latin typeface="Aptos"/>
                      </a:endParaRPr>
                    </a:p>
                  </a:txBody>
                  <a:tcPr marL="65639" marR="49229" marT="24615" marB="16409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4119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EFF4F9"/>
                          </a:solidFill>
                          <a:latin typeface="Aptos"/>
                        </a:rPr>
                        <a:t>9</a:t>
                      </a:r>
                    </a:p>
                  </a:txBody>
                  <a:tcPr marL="65639" marR="49229" marT="24615" marB="16409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EFF4F9"/>
                          </a:solidFill>
                          <a:latin typeface="Aptos"/>
                        </a:rPr>
                        <a:t>Asset-Backed Securities</a:t>
                      </a:r>
                    </a:p>
                  </a:txBody>
                  <a:tcPr marL="65639" marR="49229" marT="24615" marB="16409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EFF4F9"/>
                          </a:solidFill>
                          <a:latin typeface="Aptos"/>
                        </a:rPr>
                        <a:t>79</a:t>
                      </a:r>
                    </a:p>
                  </a:txBody>
                  <a:tcPr marL="65639" marR="49229" marT="24615" marB="16409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EFF4F9"/>
                          </a:solidFill>
                          <a:latin typeface="Aptos"/>
                        </a:rPr>
                        <a:t>79</a:t>
                      </a:r>
                    </a:p>
                  </a:txBody>
                  <a:tcPr marL="65639" marR="49229" marT="24615" marB="16409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8E8E8"/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WIP</a:t>
                      </a:r>
                    </a:p>
                  </a:txBody>
                  <a:tcPr marL="65639" marR="49229" marT="24615" marB="16409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4119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EFF4F9"/>
                          </a:solidFill>
                          <a:latin typeface="Aptos"/>
                        </a:rPr>
                        <a:t>10</a:t>
                      </a:r>
                    </a:p>
                  </a:txBody>
                  <a:tcPr marL="65639" marR="49229" marT="24615" marB="16409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EFF4F9"/>
                          </a:solidFill>
                          <a:latin typeface="Aptos"/>
                        </a:rPr>
                        <a:t>Commercial Mortgage-Backed</a:t>
                      </a:r>
                    </a:p>
                  </a:txBody>
                  <a:tcPr marL="65639" marR="49229" marT="24615" marB="16409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EFF4F9"/>
                          </a:solidFill>
                          <a:latin typeface="Aptos"/>
                        </a:rPr>
                        <a:t>73</a:t>
                      </a:r>
                    </a:p>
                  </a:txBody>
                  <a:tcPr marL="65639" marR="49229" marT="24615" marB="16409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EFF4F9"/>
                          </a:solidFill>
                          <a:latin typeface="Aptos"/>
                        </a:rPr>
                        <a:t>69</a:t>
                      </a:r>
                    </a:p>
                  </a:txBody>
                  <a:tcPr marL="65639" marR="49229" marT="24615" marB="16409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8E8E8"/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WIP</a:t>
                      </a:r>
                    </a:p>
                  </a:txBody>
                  <a:tcPr marL="65639" marR="49229" marT="24615" marB="16409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4119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EFF4F9"/>
                          </a:solidFill>
                          <a:latin typeface="Aptos"/>
                        </a:rPr>
                        <a:t>11</a:t>
                      </a:r>
                    </a:p>
                  </a:txBody>
                  <a:tcPr marL="65639" marR="49229" marT="24615" marB="16409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EFF4F9"/>
                          </a:solidFill>
                          <a:latin typeface="Aptos"/>
                        </a:rPr>
                        <a:t>FI Derivatives — Futures</a:t>
                      </a:r>
                    </a:p>
                  </a:txBody>
                  <a:tcPr marL="65639" marR="49229" marT="24615" marB="16409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EFF4F9"/>
                          </a:solidFill>
                          <a:latin typeface="Aptos"/>
                        </a:rPr>
                        <a:t>11</a:t>
                      </a:r>
                    </a:p>
                  </a:txBody>
                  <a:tcPr marL="65639" marR="49229" marT="24615" marB="16409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EFF4F9"/>
                          </a:solidFill>
                          <a:latin typeface="Aptos"/>
                        </a:rPr>
                        <a:t>7</a:t>
                      </a:r>
                    </a:p>
                  </a:txBody>
                  <a:tcPr marL="65639" marR="49229" marT="24615" marB="16409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200" dirty="0">
                        <a:solidFill>
                          <a:schemeClr val="bg2"/>
                        </a:solidFill>
                        <a:latin typeface="Aptos"/>
                      </a:endParaRPr>
                    </a:p>
                  </a:txBody>
                  <a:tcPr marL="65639" marR="49229" marT="24615" marB="16409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4119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EFF4F9"/>
                          </a:solidFill>
                          <a:latin typeface="Aptos"/>
                        </a:rPr>
                        <a:t>12</a:t>
                      </a:r>
                    </a:p>
                  </a:txBody>
                  <a:tcPr marL="65639" marR="49229" marT="24615" marB="16409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EFF4F9"/>
                          </a:solidFill>
                          <a:latin typeface="Aptos"/>
                        </a:rPr>
                        <a:t>FI Derivatives — Options</a:t>
                      </a:r>
                    </a:p>
                  </a:txBody>
                  <a:tcPr marL="65639" marR="49229" marT="24615" marB="16409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EFF4F9"/>
                          </a:solidFill>
                          <a:latin typeface="Aptos"/>
                        </a:rPr>
                        <a:t>9</a:t>
                      </a:r>
                    </a:p>
                  </a:txBody>
                  <a:tcPr marL="65639" marR="49229" marT="24615" marB="16409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EFF4F9"/>
                          </a:solidFill>
                          <a:latin typeface="Aptos"/>
                        </a:rPr>
                        <a:t>9</a:t>
                      </a:r>
                    </a:p>
                  </a:txBody>
                  <a:tcPr marL="65639" marR="49229" marT="24615" marB="16409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200" dirty="0">
                        <a:solidFill>
                          <a:schemeClr val="bg2"/>
                        </a:solidFill>
                        <a:latin typeface="Aptos"/>
                      </a:endParaRPr>
                    </a:p>
                  </a:txBody>
                  <a:tcPr marL="65639" marR="49229" marT="24615" marB="16409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4119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EFF4F9"/>
                          </a:solidFill>
                          <a:latin typeface="Aptos"/>
                        </a:rPr>
                        <a:t>13</a:t>
                      </a:r>
                    </a:p>
                  </a:txBody>
                  <a:tcPr marL="65639" marR="49229" marT="24615" marB="16409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EFF4F9"/>
                          </a:solidFill>
                          <a:latin typeface="Aptos"/>
                        </a:rPr>
                        <a:t>Other Fixed Income</a:t>
                      </a:r>
                    </a:p>
                  </a:txBody>
                  <a:tcPr marL="65639" marR="49229" marT="24615" marB="16409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EFF4F9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65639" marR="49229" marT="24615" marB="16409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EFF4F9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65639" marR="49229" marT="24615" marB="16409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dirty="0">
                          <a:solidFill>
                            <a:srgbClr val="A6B4C3"/>
                          </a:solidFill>
                          <a:latin typeface="Aptos"/>
                        </a:rPr>
                        <a:t>Out of scope</a:t>
                      </a:r>
                    </a:p>
                  </a:txBody>
                  <a:tcPr marL="65639" marR="49229" marT="24615" marB="16409" anchor="ctr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40326">
                <a:tc>
                  <a:txBody>
                    <a:bodyPr/>
                    <a:lstStyle/>
                    <a:p>
                      <a:pPr algn="ctr"/>
                      <a:endParaRPr sz="2800"/>
                    </a:p>
                  </a:txBody>
                  <a:tcPr marL="65639" marR="49229" marT="24615" marB="16409" anchor="ctr">
                    <a:solidFill>
                      <a:srgbClr val="163B5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EFF4F9"/>
                          </a:solidFill>
                          <a:latin typeface="Aptos"/>
                        </a:rPr>
                        <a:t>Total</a:t>
                      </a:r>
                    </a:p>
                  </a:txBody>
                  <a:tcPr marL="65639" marR="49229" marT="24615" marB="16409" anchor="ctr">
                    <a:solidFill>
                      <a:srgbClr val="163B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FF4F9"/>
                          </a:solidFill>
                          <a:latin typeface="Aptos"/>
                        </a:rPr>
                        <a:t>2,366</a:t>
                      </a:r>
                    </a:p>
                  </a:txBody>
                  <a:tcPr marL="65639" marR="49229" marT="24615" marB="16409" anchor="ctr">
                    <a:solidFill>
                      <a:srgbClr val="163B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FF4F9"/>
                          </a:solidFill>
                          <a:latin typeface="Aptos"/>
                        </a:rPr>
                        <a:t>2,260</a:t>
                      </a:r>
                    </a:p>
                  </a:txBody>
                  <a:tcPr marL="65639" marR="49229" marT="24615" marB="16409" anchor="ctr">
                    <a:solidFill>
                      <a:srgbClr val="163B5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2800" dirty="0"/>
                    </a:p>
                  </a:txBody>
                  <a:tcPr marL="65639" marR="49229" marT="24615" marB="16409" anchor="ctr">
                    <a:solidFill>
                      <a:srgbClr val="163B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06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A4347-C3EC-02C5-60CE-9DA657976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0">
            <a:extLst>
              <a:ext uri="{FF2B5EF4-FFF2-40B4-BE49-F238E27FC236}">
                <a16:creationId xmlns:a16="http://schemas.microsoft.com/office/drawing/2014/main" id="{B35A3BDD-7D8C-115A-7B8F-6907AC68417E}"/>
              </a:ext>
            </a:extLst>
          </p:cNvPr>
          <p:cNvSpPr txBox="1"/>
          <p:nvPr/>
        </p:nvSpPr>
        <p:spPr>
          <a:xfrm>
            <a:off x="765141" y="500949"/>
            <a:ext cx="110496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Independent Checks Validate the New Engine</a:t>
            </a:r>
            <a:endParaRPr lang="en-US" sz="2400" dirty="0"/>
          </a:p>
        </p:txBody>
      </p:sp>
      <p:sp>
        <p:nvSpPr>
          <p:cNvPr id="7" name="Text 25">
            <a:extLst>
              <a:ext uri="{FF2B5EF4-FFF2-40B4-BE49-F238E27FC236}">
                <a16:creationId xmlns:a16="http://schemas.microsoft.com/office/drawing/2014/main" id="{9696F3DE-4D0C-1A98-3E8F-C4B41312AB68}"/>
              </a:ext>
            </a:extLst>
          </p:cNvPr>
          <p:cNvSpPr txBox="1"/>
          <p:nvPr/>
        </p:nvSpPr>
        <p:spPr>
          <a:xfrm>
            <a:off x="786655" y="313424"/>
            <a:ext cx="110496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>
              <a:defRPr sz="1000" b="1" kern="0" spc="75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r>
              <a:rPr lang="en-US" dirty="0"/>
              <a:t>Section VII — Fixed Income Pricing Platform</a:t>
            </a:r>
          </a:p>
        </p:txBody>
      </p:sp>
      <p:sp>
        <p:nvSpPr>
          <p:cNvPr id="9" name="PageNumber5">
            <a:extLst>
              <a:ext uri="{FF2B5EF4-FFF2-40B4-BE49-F238E27FC236}">
                <a16:creationId xmlns:a16="http://schemas.microsoft.com/office/drawing/2014/main" id="{32B3BC3B-84BA-4A2E-4147-DA89E81316D4}"/>
              </a:ext>
            </a:extLst>
          </p:cNvPr>
          <p:cNvSpPr txBox="1"/>
          <p:nvPr/>
        </p:nvSpPr>
        <p:spPr>
          <a:xfrm>
            <a:off x="7391400" y="65151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 algn="r"/>
            <a:r>
              <a:rPr lang="en-US" sz="10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Ryse Private and Confidential, One Mifflin Place, Ste 400, Cambridge, MA, 02138, Mario Pardo, mario@ryseinc.com | </a:t>
            </a:r>
            <a:fld id="{97AAD9E2-EBB5-4CA4-BA32-5E5F09000B3D}" type="slidenum">
              <a:rPr lang="en-US" sz="1000" b="0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US" sz="1000" b="0" i="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ounded Rectangle 1">
            <a:extLst>
              <a:ext uri="{FF2B5EF4-FFF2-40B4-BE49-F238E27FC236}">
                <a16:creationId xmlns:a16="http://schemas.microsoft.com/office/drawing/2014/main" id="{271E9333-FE89-B144-8D5E-10A6702F6786}"/>
              </a:ext>
            </a:extLst>
          </p:cNvPr>
          <p:cNvSpPr/>
          <p:nvPr/>
        </p:nvSpPr>
        <p:spPr>
          <a:xfrm>
            <a:off x="502920" y="1143000"/>
            <a:ext cx="3611880" cy="4434840"/>
          </a:xfrm>
          <a:prstGeom prst="roundRect">
            <a:avLst/>
          </a:prstGeom>
          <a:solidFill>
            <a:srgbClr val="0C344F"/>
          </a:solidFill>
          <a:ln w="15875">
            <a:solidFill>
              <a:srgbClr val="156F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AA5BA4-B37A-321A-E629-74DC1F376329}"/>
              </a:ext>
            </a:extLst>
          </p:cNvPr>
          <p:cNvSpPr txBox="1"/>
          <p:nvPr/>
        </p:nvSpPr>
        <p:spPr>
          <a:xfrm>
            <a:off x="1252728" y="1307592"/>
            <a:ext cx="2697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500" b="1" dirty="0">
                <a:solidFill>
                  <a:srgbClr val="19CCE7"/>
                </a:solidFill>
                <a:latin typeface="Aptos"/>
              </a:rPr>
              <a:t>Sanity Check</a:t>
            </a:r>
            <a:endParaRPr sz="1500" b="1" dirty="0">
              <a:solidFill>
                <a:srgbClr val="19CCE7"/>
              </a:solidFill>
              <a:latin typeface="Apto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6D9F26-F3F6-A05E-4026-1D4226B9FFD5}"/>
              </a:ext>
            </a:extLst>
          </p:cNvPr>
          <p:cNvSpPr txBox="1"/>
          <p:nvPr/>
        </p:nvSpPr>
        <p:spPr>
          <a:xfrm>
            <a:off x="704088" y="1947672"/>
            <a:ext cx="3209544" cy="7848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500" b="1" dirty="0">
                <a:solidFill>
                  <a:srgbClr val="F1F6F9"/>
                </a:solidFill>
                <a:latin typeface="Aptos"/>
              </a:rPr>
              <a:t>For a government's own bond, there should be no spread — it is the government curve 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A498CF2-9E9A-3BA6-9C30-F245695CA513}"/>
              </a:ext>
            </a:extLst>
          </p:cNvPr>
          <p:cNvSpPr txBox="1"/>
          <p:nvPr/>
        </p:nvSpPr>
        <p:spPr>
          <a:xfrm>
            <a:off x="704088" y="2792035"/>
            <a:ext cx="3209544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400" b="0" dirty="0">
                <a:solidFill>
                  <a:srgbClr val="DDE6ED"/>
                </a:solidFill>
                <a:latin typeface="Aptos"/>
              </a:rPr>
              <a:t>Japan's come out at 0.0 basis points, the UK's at 4.4 — the thermometer reads right in ice water</a:t>
            </a:r>
            <a:endParaRPr sz="1400" b="0" dirty="0">
              <a:solidFill>
                <a:srgbClr val="DDE6ED"/>
              </a:solidFill>
              <a:latin typeface="Apto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DD37EA-3046-7652-4975-1558D8544B6E}"/>
              </a:ext>
            </a:extLst>
          </p:cNvPr>
          <p:cNvSpPr txBox="1"/>
          <p:nvPr/>
        </p:nvSpPr>
        <p:spPr>
          <a:xfrm>
            <a:off x="704088" y="4846320"/>
            <a:ext cx="3209544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CCE7"/>
                </a:solidFill>
                <a:latin typeface="Aptos"/>
              </a:rPr>
              <a:t>Japan: 0.00%
UK: 0.04%</a:t>
            </a:r>
          </a:p>
        </p:txBody>
      </p:sp>
      <p:sp>
        <p:nvSpPr>
          <p:cNvPr id="23" name="Rounded Rectangle 9">
            <a:extLst>
              <a:ext uri="{FF2B5EF4-FFF2-40B4-BE49-F238E27FC236}">
                <a16:creationId xmlns:a16="http://schemas.microsoft.com/office/drawing/2014/main" id="{F2D77283-9D2C-D667-99E3-742B43D1FA94}"/>
              </a:ext>
            </a:extLst>
          </p:cNvPr>
          <p:cNvSpPr/>
          <p:nvPr/>
        </p:nvSpPr>
        <p:spPr>
          <a:xfrm>
            <a:off x="4315968" y="1143000"/>
            <a:ext cx="3611880" cy="4434840"/>
          </a:xfrm>
          <a:prstGeom prst="roundRect">
            <a:avLst/>
          </a:prstGeom>
          <a:solidFill>
            <a:srgbClr val="0C344F"/>
          </a:solidFill>
          <a:ln w="15875">
            <a:solidFill>
              <a:srgbClr val="156F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75EC84E-94C6-4543-488E-021D3A2D35A4}"/>
              </a:ext>
            </a:extLst>
          </p:cNvPr>
          <p:cNvSpPr txBox="1"/>
          <p:nvPr/>
        </p:nvSpPr>
        <p:spPr>
          <a:xfrm>
            <a:off x="5065776" y="1307592"/>
            <a:ext cx="2697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500" b="1" dirty="0">
                <a:solidFill>
                  <a:srgbClr val="19CCE7"/>
                </a:solidFill>
                <a:latin typeface="Aptos"/>
              </a:rPr>
              <a:t>Independent Check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EFE0DA6-96DA-B3D3-32AC-138C99675974}"/>
              </a:ext>
            </a:extLst>
          </p:cNvPr>
          <p:cNvSpPr txBox="1"/>
          <p:nvPr/>
        </p:nvSpPr>
        <p:spPr>
          <a:xfrm>
            <a:off x="4517136" y="1947672"/>
            <a:ext cx="3209544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dirty="0">
                <a:solidFill>
                  <a:srgbClr val="F1F6F9"/>
                </a:solidFill>
                <a:latin typeface="Aptos"/>
              </a:rPr>
              <a:t>Match an external s</a:t>
            </a:r>
            <a:r>
              <a:rPr lang="en-US" sz="1500" b="1" dirty="0">
                <a:solidFill>
                  <a:srgbClr val="F1F6F9"/>
                </a:solidFill>
                <a:latin typeface="Aptos"/>
              </a:rPr>
              <a:t>ystem</a:t>
            </a:r>
            <a:endParaRPr sz="1500" b="1" dirty="0">
              <a:solidFill>
                <a:srgbClr val="F1F6F9"/>
              </a:solidFill>
              <a:latin typeface="Apto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0EE3931-68E9-9F75-EBF7-CAB29B4FFC49}"/>
              </a:ext>
            </a:extLst>
          </p:cNvPr>
          <p:cNvSpPr txBox="1"/>
          <p:nvPr/>
        </p:nvSpPr>
        <p:spPr>
          <a:xfrm>
            <a:off x="4517136" y="2587752"/>
            <a:ext cx="3209544" cy="11695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400" b="0" dirty="0">
                <a:solidFill>
                  <a:srgbClr val="DDE6ED"/>
                </a:solidFill>
                <a:latin typeface="Aptos"/>
              </a:rPr>
              <a:t>Where the client's custodian independently reports a risk figure, our system agrees — four of five agency bonds, with sensitivities of one to nine years, match within 0.75 years.</a:t>
            </a:r>
          </a:p>
        </p:txBody>
      </p:sp>
      <p:sp>
        <p:nvSpPr>
          <p:cNvPr id="41" name="Rounded Rectangle 18">
            <a:extLst>
              <a:ext uri="{FF2B5EF4-FFF2-40B4-BE49-F238E27FC236}">
                <a16:creationId xmlns:a16="http://schemas.microsoft.com/office/drawing/2014/main" id="{3E61EF5A-A076-8035-BB81-731C9EF55EB8}"/>
              </a:ext>
            </a:extLst>
          </p:cNvPr>
          <p:cNvSpPr/>
          <p:nvPr/>
        </p:nvSpPr>
        <p:spPr>
          <a:xfrm>
            <a:off x="8129016" y="1143000"/>
            <a:ext cx="3611880" cy="4434840"/>
          </a:xfrm>
          <a:prstGeom prst="roundRect">
            <a:avLst/>
          </a:prstGeom>
          <a:solidFill>
            <a:srgbClr val="0C344F"/>
          </a:solidFill>
          <a:ln w="15875">
            <a:solidFill>
              <a:srgbClr val="156F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441E0B1-629B-0A9A-4303-4279E5B67869}"/>
              </a:ext>
            </a:extLst>
          </p:cNvPr>
          <p:cNvSpPr txBox="1"/>
          <p:nvPr/>
        </p:nvSpPr>
        <p:spPr>
          <a:xfrm>
            <a:off x="8878824" y="1307592"/>
            <a:ext cx="2697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500" b="1" dirty="0">
                <a:solidFill>
                  <a:srgbClr val="19CCE7"/>
                </a:solidFill>
                <a:latin typeface="Aptos"/>
              </a:rPr>
              <a:t>Validation Check</a:t>
            </a:r>
            <a:endParaRPr sz="1500" b="1" dirty="0">
              <a:solidFill>
                <a:srgbClr val="19CCE7"/>
              </a:solidFill>
              <a:latin typeface="Aptos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D9D83A1-3799-BB4D-1E6B-34D71860DD67}"/>
              </a:ext>
            </a:extLst>
          </p:cNvPr>
          <p:cNvSpPr txBox="1"/>
          <p:nvPr/>
        </p:nvSpPr>
        <p:spPr>
          <a:xfrm>
            <a:off x="8330184" y="1947672"/>
            <a:ext cx="3209544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1F6F9"/>
                </a:solidFill>
                <a:latin typeface="Aptos"/>
              </a:rPr>
              <a:t>Recompute known values.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FEC43AC-4708-B5B0-1B2F-1917A891D751}"/>
              </a:ext>
            </a:extLst>
          </p:cNvPr>
          <p:cNvSpPr txBox="1"/>
          <p:nvPr/>
        </p:nvSpPr>
        <p:spPr>
          <a:xfrm>
            <a:off x="8330184" y="2587752"/>
            <a:ext cx="3209544" cy="11695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400" b="0" dirty="0">
                <a:solidFill>
                  <a:srgbClr val="DDE6ED"/>
                </a:solidFill>
                <a:latin typeface="Aptos"/>
              </a:rPr>
              <a:t>The team rebuilt the client's inflation adjustments from published government data: thirteen US inflation-linked bonds, matching to six parts in a million.</a:t>
            </a:r>
            <a:endParaRPr sz="1400" b="0" dirty="0">
              <a:solidFill>
                <a:srgbClr val="DDE6ED"/>
              </a:solidFill>
              <a:latin typeface="Aptos"/>
            </a:endParaRPr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2B6F6D38-D297-3DBD-E545-B8A9966281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486" y="1224264"/>
            <a:ext cx="435300" cy="532416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CDAA3E78-AEAE-74E6-788E-0A5CD68852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7520" y="1307592"/>
            <a:ext cx="518256" cy="538480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2E106ECD-57F1-6139-6EF3-4890621B83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4650" y="1322166"/>
            <a:ext cx="544174" cy="446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9645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B0712AAD-5335-0263-A9E8-53C4D35C7DD0}"/>
              </a:ext>
            </a:extLst>
          </p:cNvPr>
          <p:cNvSpPr/>
          <p:nvPr/>
        </p:nvSpPr>
        <p:spPr>
          <a:xfrm>
            <a:off x="786655" y="1109744"/>
            <a:ext cx="566928" cy="566928"/>
          </a:xfrm>
          <a:prstGeom prst="ellipse">
            <a:avLst/>
          </a:prstGeom>
          <a:noFill/>
          <a:ln w="25400">
            <a:solidFill>
              <a:srgbClr val="15C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dirty="0">
                <a:solidFill>
                  <a:srgbClr val="15CF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20C70C-3DFB-F2FF-60D6-31070B8D576C}"/>
              </a:ext>
            </a:extLst>
          </p:cNvPr>
          <p:cNvSpPr txBox="1"/>
          <p:nvPr/>
        </p:nvSpPr>
        <p:spPr>
          <a:xfrm>
            <a:off x="1627903" y="1091456"/>
            <a:ext cx="383951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dirty="0">
                <a:solidFill>
                  <a:srgbClr val="F4F7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Complete mortgage-backed book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5938C3-AEFF-1BDC-440E-F1617D88D1F1}"/>
              </a:ext>
            </a:extLst>
          </p:cNvPr>
          <p:cNvSpPr txBox="1"/>
          <p:nvPr/>
        </p:nvSpPr>
        <p:spPr>
          <a:xfrm>
            <a:off x="1627903" y="1466360"/>
            <a:ext cx="557987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4D3E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Engine is built and tested; needs terms data, not development.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E718FFD-C067-05FC-2C06-178F5E4BE7C2}"/>
              </a:ext>
            </a:extLst>
          </p:cNvPr>
          <p:cNvSpPr/>
          <p:nvPr/>
        </p:nvSpPr>
        <p:spPr>
          <a:xfrm>
            <a:off x="786655" y="2527064"/>
            <a:ext cx="566928" cy="566928"/>
          </a:xfrm>
          <a:prstGeom prst="ellipse">
            <a:avLst/>
          </a:prstGeom>
          <a:noFill/>
          <a:ln w="25400">
            <a:solidFill>
              <a:srgbClr val="15C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15CF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CD299D-5E23-8CA6-4DAE-18C945A2D114}"/>
              </a:ext>
            </a:extLst>
          </p:cNvPr>
          <p:cNvSpPr txBox="1"/>
          <p:nvPr/>
        </p:nvSpPr>
        <p:spPr>
          <a:xfrm>
            <a:off x="1627903" y="2508776"/>
            <a:ext cx="374974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4F7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Finish remaining pooled classes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AA00C6-A0A1-5C61-F673-0FC55B6EE6D3}"/>
              </a:ext>
            </a:extLst>
          </p:cNvPr>
          <p:cNvSpPr txBox="1"/>
          <p:nvPr/>
        </p:nvSpPr>
        <p:spPr>
          <a:xfrm>
            <a:off x="1627903" y="2883680"/>
            <a:ext cx="557987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4D3E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Mortgage obligations, asset-backed and commercial mortgage-backed;
each reuses existing machinery.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927AC56-FAD6-5DB2-292B-93EEEDDE4DFE}"/>
              </a:ext>
            </a:extLst>
          </p:cNvPr>
          <p:cNvSpPr/>
          <p:nvPr/>
        </p:nvSpPr>
        <p:spPr>
          <a:xfrm>
            <a:off x="786655" y="3944384"/>
            <a:ext cx="566928" cy="566928"/>
          </a:xfrm>
          <a:prstGeom prst="ellipse">
            <a:avLst/>
          </a:prstGeom>
          <a:noFill/>
          <a:ln w="25400">
            <a:solidFill>
              <a:srgbClr val="15C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15CF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CA8BD25-253B-AAB8-079E-F5CA38854B22}"/>
              </a:ext>
            </a:extLst>
          </p:cNvPr>
          <p:cNvSpPr txBox="1"/>
          <p:nvPr/>
        </p:nvSpPr>
        <p:spPr>
          <a:xfrm>
            <a:off x="1627903" y="3926096"/>
            <a:ext cx="412164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4F7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Host as a service and run in parallel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D27CAE0-3C3F-2ABB-BB65-D262AE9F7DC3}"/>
              </a:ext>
            </a:extLst>
          </p:cNvPr>
          <p:cNvSpPr txBox="1"/>
          <p:nvPr/>
        </p:nvSpPr>
        <p:spPr>
          <a:xfrm>
            <a:off x="1627903" y="4301000"/>
            <a:ext cx="557987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4D3E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 Ryse’s engineer. Defined work, not a rewrite — system already
answers one request at a time.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3BDE64C-08B5-786B-CA69-CBC694830060}"/>
              </a:ext>
            </a:extLst>
          </p:cNvPr>
          <p:cNvSpPr/>
          <p:nvPr/>
        </p:nvSpPr>
        <p:spPr>
          <a:xfrm>
            <a:off x="786655" y="5361704"/>
            <a:ext cx="566928" cy="566928"/>
          </a:xfrm>
          <a:prstGeom prst="ellipse">
            <a:avLst/>
          </a:prstGeom>
          <a:noFill/>
          <a:ln w="25400">
            <a:solidFill>
              <a:srgbClr val="15C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15CF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ED969D-D0B2-9444-DA29-977A4036223F}"/>
              </a:ext>
            </a:extLst>
          </p:cNvPr>
          <p:cNvSpPr txBox="1"/>
          <p:nvPr/>
        </p:nvSpPr>
        <p:spPr>
          <a:xfrm>
            <a:off x="1627903" y="5343416"/>
            <a:ext cx="351891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800" b="1" dirty="0">
                <a:solidFill>
                  <a:srgbClr val="F4F7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Integrate to </a:t>
            </a:r>
            <a:r>
              <a:rPr sz="1800" b="1" dirty="0">
                <a:solidFill>
                  <a:srgbClr val="F4F7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portfolio risk layer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3217E2F-ACAB-2F99-DD2C-572FA10BB7B5}"/>
              </a:ext>
            </a:extLst>
          </p:cNvPr>
          <p:cNvSpPr txBox="1"/>
          <p:nvPr/>
        </p:nvSpPr>
        <p:spPr>
          <a:xfrm>
            <a:off x="1627903" y="5718320"/>
            <a:ext cx="557987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4D3E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Once coverage is complete.</a:t>
            </a:r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D8F0B102-D6F7-C669-FAC8-7D5CF0ED660D}"/>
              </a:ext>
            </a:extLst>
          </p:cNvPr>
          <p:cNvSpPr txBox="1"/>
          <p:nvPr/>
        </p:nvSpPr>
        <p:spPr>
          <a:xfrm>
            <a:off x="765141" y="500949"/>
            <a:ext cx="110496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Complete, Scale, Deliver</a:t>
            </a:r>
            <a:endParaRPr lang="en-US" sz="2400" dirty="0"/>
          </a:p>
        </p:txBody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2B58EAED-150A-A56F-9A3F-EAD9990A3E44}"/>
              </a:ext>
            </a:extLst>
          </p:cNvPr>
          <p:cNvSpPr txBox="1"/>
          <p:nvPr/>
        </p:nvSpPr>
        <p:spPr>
          <a:xfrm>
            <a:off x="786655" y="313424"/>
            <a:ext cx="110496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>
              <a:defRPr sz="1000" b="1" kern="0" spc="75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r>
              <a:rPr lang="en-US" dirty="0"/>
              <a:t>Section VII — Fixed Income Pricing Platform</a:t>
            </a:r>
          </a:p>
        </p:txBody>
      </p:sp>
      <p:cxnSp>
        <p:nvCxnSpPr>
          <p:cNvPr id="46" name="Connector 16">
            <a:extLst>
              <a:ext uri="{FF2B5EF4-FFF2-40B4-BE49-F238E27FC236}">
                <a16:creationId xmlns:a16="http://schemas.microsoft.com/office/drawing/2014/main" id="{657367D3-5BA7-D7B8-9F06-A5B495653FB6}"/>
              </a:ext>
            </a:extLst>
          </p:cNvPr>
          <p:cNvCxnSpPr>
            <a:cxnSpLocks/>
          </p:cNvCxnSpPr>
          <p:nvPr/>
        </p:nvCxnSpPr>
        <p:spPr>
          <a:xfrm>
            <a:off x="7319772" y="1091456"/>
            <a:ext cx="0" cy="4919252"/>
          </a:xfrm>
          <a:prstGeom prst="line">
            <a:avLst/>
          </a:prstGeom>
          <a:ln w="10160">
            <a:solidFill>
              <a:srgbClr val="22C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15870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7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594360"/>
            <a:ext cx="210312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200" b="1">
                <a:solidFill>
                  <a:srgbClr val="1FC6DE"/>
                </a:solidFill>
                <a:latin typeface="Aptos"/>
              </a:defRPr>
            </a:pPr>
            <a:r>
              <a:t>MBS</a:t>
            </a:r>
            <a:br/>
            <a:r>
              <a:t>ABS</a:t>
            </a:r>
            <a:br/>
            <a:r>
              <a:t>CMO</a:t>
            </a:r>
            <a:br/>
            <a:r>
              <a:t>CMBS</a:t>
            </a:r>
            <a:br/>
            <a:r>
              <a:t>CLO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3240" y="1353312"/>
            <a:ext cx="8046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308FD0"/>
                </a:solidFill>
                <a:latin typeface="Aptos"/>
              </a:defRPr>
            </a:pPr>
            <a:r>
              <a:t>Structured Securities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63240" y="1847088"/>
            <a:ext cx="80467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100" b="1">
                <a:solidFill>
                  <a:srgbClr val="F5F7FA"/>
                </a:solidFill>
                <a:latin typeface="Aptos"/>
              </a:defRPr>
            </a:pPr>
            <a:r>
              <a:t>Pricing &amp; Risk</a:t>
            </a:r>
            <a:br/>
            <a:r>
              <a:t>Modeling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90672" y="3246120"/>
            <a:ext cx="7772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1BECD"/>
                </a:solidFill>
                <a:latin typeface="Aptos"/>
              </a:defRPr>
            </a:pPr>
            <a:r>
              <a:t>A phased approach: establish portfolio risk quickly, then enhance the model with Bloomberg and empirical cash-flow behavior.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6473952"/>
            <a:ext cx="4114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650" b="0">
                <a:solidFill>
                  <a:srgbClr val="B1BECD"/>
                </a:solidFill>
                <a:latin typeface="Aptos"/>
              </a:defRPr>
            </a:pPr>
            <a:r>
              <a:t>Ryse Private and Confidential, One Mifflin Place, Ste 400, Cambridge, MA, 02138,</a:t>
            </a:r>
            <a:br/>
            <a:r>
              <a:t>Mario Pardo, mario@ryseinc.com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7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0116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1FC6DE"/>
                </a:solidFill>
                <a:latin typeface="Aptos"/>
              </a:defRPr>
            </a:pPr>
            <a:r>
              <a:t>Section VII — Fixed Income Pricing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5F7FA"/>
                </a:solidFill>
                <a:latin typeface="Aptos"/>
              </a:defRPr>
            </a:pPr>
            <a:r>
              <a:t>Three Approaches — Different Levels of Detail, Cost and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52360" y="6473952"/>
            <a:ext cx="4160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650" b="0">
                <a:solidFill>
                  <a:srgbClr val="B1BECD"/>
                </a:solidFill>
                <a:latin typeface="Aptos"/>
              </a:defRPr>
            </a:pPr>
            <a:r>
              <a:t>Ryse Private and Confidential, One Mifflin Place, Ste 400, Cambridge, MA, 02138,</a:t>
            </a:r>
            <a:br/>
            <a:r>
              <a:t>Mario Pardo, mario@ryseinc.com |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3246120" cy="4434840"/>
          </a:xfrm>
          <a:prstGeom prst="roundRect">
            <a:avLst/>
          </a:prstGeom>
          <a:solidFill>
            <a:srgbClr val="123D59"/>
          </a:solidFill>
          <a:ln w="12700"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4088" y="1572768"/>
            <a:ext cx="28346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C6DE"/>
                </a:solidFill>
                <a:latin typeface="Aptos"/>
              </a:defRPr>
            </a:pPr>
            <a:r>
              <a:t>1  Reduced-Form Market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2067560"/>
            <a:ext cx="283464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B1BECD"/>
                </a:solidFill>
                <a:latin typeface="Aptos"/>
              </a:defRPr>
            </a:pPr>
            <a:r>
              <a:rPr lang="en-US" dirty="0"/>
              <a:t>Mario’s</a:t>
            </a:r>
            <a:r>
              <a:rPr dirty="0"/>
              <a:t> recommendation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96512" y="1325880"/>
            <a:ext cx="3246120" cy="4434840"/>
          </a:xfrm>
          <a:prstGeom prst="roundRect">
            <a:avLst/>
          </a:prstGeom>
          <a:solidFill>
            <a:srgbClr val="123D59"/>
          </a:solidFill>
          <a:ln w="12700"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97680" y="1572768"/>
            <a:ext cx="3962400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C6DE"/>
                </a:solidFill>
                <a:latin typeface="Aptos"/>
              </a:defRPr>
            </a:pPr>
            <a:r>
              <a:rPr dirty="0"/>
              <a:t>2  Bloomberg + Empirical</a:t>
            </a:r>
            <a:r>
              <a:rPr lang="en-US" dirty="0"/>
              <a:t> </a:t>
            </a:r>
          </a:p>
          <a:p>
            <a:pPr algn="l">
              <a:defRPr sz="1500" b="1">
                <a:solidFill>
                  <a:srgbClr val="1FC6DE"/>
                </a:solidFill>
                <a:latin typeface="Aptos"/>
              </a:defRPr>
            </a:pPr>
            <a:r>
              <a:rPr lang="en-US" dirty="0"/>
              <a:t>     </a:t>
            </a:r>
            <a:r>
              <a:rPr dirty="0"/>
              <a:t>Enhancement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067560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B1BECD"/>
                </a:solidFill>
                <a:latin typeface="Aptos"/>
              </a:defRPr>
            </a:pPr>
            <a:r>
              <a:t>Next-round enhancement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90104" y="1325880"/>
            <a:ext cx="3246120" cy="4434840"/>
          </a:xfrm>
          <a:prstGeom prst="roundRect">
            <a:avLst/>
          </a:prstGeom>
          <a:solidFill>
            <a:srgbClr val="123D59"/>
          </a:solidFill>
          <a:ln w="12700"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91272" y="1572768"/>
            <a:ext cx="28346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C6DE"/>
                </a:solidFill>
                <a:latin typeface="Aptos"/>
              </a:defRPr>
            </a:pPr>
            <a:r>
              <a:t>3  Full Structural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1272" y="2067560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B1BECD"/>
                </a:solidFill>
                <a:latin typeface="Aptos"/>
              </a:defRPr>
            </a:pPr>
            <a:r>
              <a:t>Intex / deal-model approach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468880"/>
            <a:ext cx="278892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F5F7FA"/>
                </a:solidFill>
                <a:latin typeface="Aptos"/>
              </a:defRPr>
            </a:pPr>
            <a:r>
              <a:t>• Use custodian market price as the anchor.</a:t>
            </a:r>
          </a:p>
          <a:p>
            <a:pPr>
              <a:spcAft>
                <a:spcPts val="700"/>
              </a:spcAft>
              <a:defRPr sz="1150">
                <a:solidFill>
                  <a:srgbClr val="F5F7FA"/>
                </a:solidFill>
                <a:latin typeface="Aptos"/>
              </a:defRPr>
            </a:pPr>
            <a:r>
              <a:t>• Represent the security with simplified bond-equivalent cash flows.</a:t>
            </a:r>
          </a:p>
          <a:p>
            <a:pPr>
              <a:spcAft>
                <a:spcPts val="700"/>
              </a:spcAft>
              <a:defRPr sz="1150">
                <a:solidFill>
                  <a:srgbClr val="F5F7FA"/>
                </a:solidFill>
                <a:latin typeface="Aptos"/>
              </a:defRPr>
            </a:pPr>
            <a:r>
              <a:t>• Calibrate an implied spread, then shock rates and spreads.</a:t>
            </a:r>
          </a:p>
          <a:p>
            <a:pPr>
              <a:spcAft>
                <a:spcPts val="700"/>
              </a:spcAft>
              <a:defRPr sz="1150">
                <a:solidFill>
                  <a:srgbClr val="F5F7FA"/>
                </a:solidFill>
                <a:latin typeface="Aptos"/>
              </a:defRPr>
            </a:pPr>
            <a:r>
              <a:t>• Fastest path to portfolio VaR, ES and stress risk.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06824" y="2468880"/>
            <a:ext cx="2788920" cy="1777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F5F7FA"/>
                </a:solidFill>
                <a:latin typeface="Aptos"/>
              </a:defRPr>
            </a:pPr>
            <a:r>
              <a:rPr dirty="0"/>
              <a:t>• Build on the historical Bloomberg extraction already developed</a:t>
            </a:r>
            <a:r>
              <a:rPr lang="en-US" dirty="0"/>
              <a:t> by Lichen</a:t>
            </a:r>
            <a:r>
              <a:rPr dirty="0"/>
              <a:t>.</a:t>
            </a:r>
          </a:p>
          <a:p>
            <a:pPr>
              <a:spcAft>
                <a:spcPts val="700"/>
              </a:spcAft>
              <a:defRPr sz="1150">
                <a:solidFill>
                  <a:srgbClr val="F5F7FA"/>
                </a:solidFill>
                <a:latin typeface="Aptos"/>
              </a:defRPr>
            </a:pPr>
            <a:r>
              <a:rPr dirty="0"/>
              <a:t>• Add principal paydowns, WAL and other available structured analytics.</a:t>
            </a:r>
          </a:p>
          <a:p>
            <a:pPr>
              <a:spcAft>
                <a:spcPts val="700"/>
              </a:spcAft>
              <a:defRPr sz="1150">
                <a:solidFill>
                  <a:srgbClr val="F5F7FA"/>
                </a:solidFill>
                <a:latin typeface="Aptos"/>
              </a:defRPr>
            </a:pPr>
            <a:r>
              <a:rPr dirty="0"/>
              <a:t>• Improve prepayment, contraction and extension behavior empirically.</a:t>
            </a:r>
          </a:p>
          <a:p>
            <a:pPr>
              <a:spcAft>
                <a:spcPts val="700"/>
              </a:spcAft>
              <a:defRPr sz="1150">
                <a:solidFill>
                  <a:srgbClr val="F5F7FA"/>
                </a:solidFill>
                <a:latin typeface="Aptos"/>
              </a:defRPr>
            </a:pPr>
            <a:r>
              <a:rPr dirty="0"/>
              <a:t>• Moderate effort; improves the reduced-form model rather than replacing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0416" y="2468880"/>
            <a:ext cx="278892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F5F7FA"/>
                </a:solidFill>
                <a:latin typeface="Aptos"/>
              </a:defRPr>
            </a:pPr>
            <a:r>
              <a:t>• Model collateral, CPR/CDR, severity, recoveries and deal waterfalls.</a:t>
            </a:r>
          </a:p>
          <a:p>
            <a:pPr>
              <a:spcAft>
                <a:spcPts val="700"/>
              </a:spcAft>
              <a:defRPr sz="1150">
                <a:solidFill>
                  <a:srgbClr val="F5F7FA"/>
                </a:solidFill>
                <a:latin typeface="Aptos"/>
              </a:defRPr>
            </a:pPr>
            <a:r>
              <a:t>• Generate scenario-dependent tranche cash flows.</a:t>
            </a:r>
          </a:p>
          <a:p>
            <a:pPr>
              <a:spcAft>
                <a:spcPts val="700"/>
              </a:spcAft>
              <a:defRPr sz="1150">
                <a:solidFill>
                  <a:srgbClr val="F5F7FA"/>
                </a:solidFill>
                <a:latin typeface="Aptos"/>
              </a:defRPr>
            </a:pPr>
            <a:r>
              <a:t>• Highest structural fidelity.</a:t>
            </a:r>
          </a:p>
          <a:p>
            <a:pPr>
              <a:spcAft>
                <a:spcPts val="700"/>
              </a:spcAft>
              <a:defRPr sz="1150">
                <a:solidFill>
                  <a:srgbClr val="F5F7FA"/>
                </a:solidFill>
                <a:latin typeface="Aptos"/>
              </a:defRPr>
            </a:pPr>
            <a:r>
              <a:t>• Highest licensing, implementation and operating cost.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92531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50" b="1">
                <a:solidFill>
                  <a:srgbClr val="F5F7FA"/>
                </a:solidFill>
                <a:latin typeface="Aptos"/>
              </a:defRPr>
            </a:pPr>
            <a:r>
              <a:t>Recommendation: implement Level 1 now; use the existing engineering work and Bloomberg data to build Level 2; reserve Level 3 for cases requiring full deal-level analysis.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7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0116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1FC6DE"/>
                </a:solidFill>
                <a:latin typeface="Aptos"/>
              </a:defRPr>
            </a:pPr>
            <a:r>
              <a:t>Section VII — Fixed Income Pricing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5F7FA"/>
                </a:solidFill>
                <a:latin typeface="Aptos"/>
              </a:defRPr>
            </a:pPr>
            <a:r>
              <a:t>Quick Project — Put the Remaining Structured Securities Into Portfolio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52360" y="6473952"/>
            <a:ext cx="4160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650" b="0">
                <a:solidFill>
                  <a:srgbClr val="B1BECD"/>
                </a:solidFill>
                <a:latin typeface="Aptos"/>
              </a:defRPr>
            </a:pPr>
            <a:r>
              <a:t>Ryse Private and Confidential, One Mifflin Place, Ste 400, Cambridge, MA, 02138,</a:t>
            </a:r>
            <a:br/>
            <a:r>
              <a:t>Mario Pardo, mario@ryseinc.com |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1691640" cy="932688"/>
          </a:xfrm>
          <a:prstGeom prst="roundRect">
            <a:avLst/>
          </a:prstGeom>
          <a:solidFill>
            <a:srgbClr val="164865"/>
          </a:solidFill>
          <a:ln w="12700"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76072" y="1627632"/>
            <a:ext cx="154533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5F7FA"/>
                </a:solidFill>
                <a:latin typeface="Aptos"/>
              </a:defRPr>
            </a:pPr>
            <a:r>
              <a:t>Custodian</a:t>
            </a:r>
            <a:br/>
            <a:r>
              <a:t>Market Price</a:t>
            </a:r>
          </a:p>
        </p:txBody>
      </p:sp>
      <p:sp>
        <p:nvSpPr>
          <p:cNvPr id="7" name="Chevron 6"/>
          <p:cNvSpPr/>
          <p:nvPr/>
        </p:nvSpPr>
        <p:spPr>
          <a:xfrm>
            <a:off x="2276856" y="1755648"/>
            <a:ext cx="256032" cy="228600"/>
          </a:xfrm>
          <a:prstGeom prst="chevron">
            <a:avLst/>
          </a:prstGeom>
          <a:solidFill>
            <a:srgbClr val="1FC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670048" y="1417320"/>
            <a:ext cx="1691640" cy="932688"/>
          </a:xfrm>
          <a:prstGeom prst="roundRect">
            <a:avLst/>
          </a:prstGeom>
          <a:solidFill>
            <a:srgbClr val="164865"/>
          </a:solidFill>
          <a:ln w="12700"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0" y="1627632"/>
            <a:ext cx="154533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5F7FA"/>
                </a:solidFill>
                <a:latin typeface="Aptos"/>
              </a:defRPr>
            </a:pPr>
            <a:r>
              <a:t>Bloomberg</a:t>
            </a:r>
            <a:br/>
            <a:r>
              <a:t>Contractual Terms</a:t>
            </a:r>
          </a:p>
        </p:txBody>
      </p:sp>
      <p:sp>
        <p:nvSpPr>
          <p:cNvPr id="10" name="Chevron 9"/>
          <p:cNvSpPr/>
          <p:nvPr/>
        </p:nvSpPr>
        <p:spPr>
          <a:xfrm>
            <a:off x="4443983" y="1755648"/>
            <a:ext cx="256032" cy="228600"/>
          </a:xfrm>
          <a:prstGeom prst="chevron">
            <a:avLst/>
          </a:prstGeom>
          <a:solidFill>
            <a:srgbClr val="1FC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837176" y="1417320"/>
            <a:ext cx="1691640" cy="932688"/>
          </a:xfrm>
          <a:prstGeom prst="roundRect">
            <a:avLst/>
          </a:prstGeom>
          <a:solidFill>
            <a:srgbClr val="164865"/>
          </a:solidFill>
          <a:ln w="12700"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10328" y="1627632"/>
            <a:ext cx="154533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5F7FA"/>
                </a:solidFill>
                <a:latin typeface="Aptos"/>
              </a:defRPr>
            </a:pPr>
            <a:r>
              <a:t>Bond-Equivalent</a:t>
            </a:r>
            <a:br/>
            <a:r>
              <a:t>Cash Flows</a:t>
            </a:r>
          </a:p>
        </p:txBody>
      </p:sp>
      <p:sp>
        <p:nvSpPr>
          <p:cNvPr id="13" name="Chevron 12"/>
          <p:cNvSpPr/>
          <p:nvPr/>
        </p:nvSpPr>
        <p:spPr>
          <a:xfrm>
            <a:off x="6611112" y="1755648"/>
            <a:ext cx="256032" cy="228600"/>
          </a:xfrm>
          <a:prstGeom prst="chevron">
            <a:avLst/>
          </a:prstGeom>
          <a:solidFill>
            <a:srgbClr val="1FC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004304" y="1417320"/>
            <a:ext cx="1691640" cy="932688"/>
          </a:xfrm>
          <a:prstGeom prst="roundRect">
            <a:avLst/>
          </a:prstGeom>
          <a:solidFill>
            <a:srgbClr val="164865"/>
          </a:solidFill>
          <a:ln w="12700"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77456" y="1627632"/>
            <a:ext cx="154533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5F7FA"/>
                </a:solidFill>
                <a:latin typeface="Aptos"/>
              </a:defRPr>
            </a:pPr>
            <a:r>
              <a:t>Calibrate</a:t>
            </a:r>
            <a:br/>
            <a:r>
              <a:t>Implied Spread</a:t>
            </a:r>
          </a:p>
        </p:txBody>
      </p:sp>
      <p:sp>
        <p:nvSpPr>
          <p:cNvPr id="16" name="Chevron 15"/>
          <p:cNvSpPr/>
          <p:nvPr/>
        </p:nvSpPr>
        <p:spPr>
          <a:xfrm>
            <a:off x="8778240" y="1755648"/>
            <a:ext cx="256032" cy="228600"/>
          </a:xfrm>
          <a:prstGeom prst="chevron">
            <a:avLst/>
          </a:prstGeom>
          <a:solidFill>
            <a:srgbClr val="1FC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171432" y="1417320"/>
            <a:ext cx="1691640" cy="932688"/>
          </a:xfrm>
          <a:prstGeom prst="roundRect">
            <a:avLst/>
          </a:prstGeom>
          <a:solidFill>
            <a:srgbClr val="164865"/>
          </a:solidFill>
          <a:ln w="12700"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44584" y="1627632"/>
            <a:ext cx="154533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5F7FA"/>
                </a:solidFill>
                <a:latin typeface="Aptos"/>
              </a:defRPr>
            </a:pPr>
            <a:r>
              <a:t>Shock Rates</a:t>
            </a:r>
            <a:br/>
            <a:r>
              <a:t>+ Spreads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278892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C6DE"/>
                </a:solidFill>
                <a:latin typeface="Aptos"/>
              </a:defRPr>
            </a:pPr>
            <a:r>
              <a:t>Why this is the expedited solution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200400"/>
            <a:ext cx="5166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F5F7FA"/>
                </a:solidFill>
                <a:latin typeface="Aptos"/>
              </a:defRPr>
            </a:pPr>
            <a:r>
              <a:t>• The portfolio already has an observed custodian price.</a:t>
            </a:r>
          </a:p>
          <a:p>
            <a:pPr>
              <a:spcAft>
                <a:spcPts val="700"/>
              </a:spcAft>
              <a:defRPr sz="1220">
                <a:solidFill>
                  <a:srgbClr val="F5F7FA"/>
                </a:solidFill>
                <a:latin typeface="Aptos"/>
              </a:defRPr>
            </a:pPr>
            <a:r>
              <a:t>• No need to rebuild deal waterfalls before risk can be calculated.</a:t>
            </a:r>
          </a:p>
          <a:p>
            <a:pPr>
              <a:spcAft>
                <a:spcPts val="700"/>
              </a:spcAft>
              <a:defRPr sz="1220">
                <a:solidFill>
                  <a:srgbClr val="F5F7FA"/>
                </a:solidFill>
                <a:latin typeface="Aptos"/>
              </a:defRPr>
            </a:pPr>
            <a:r>
              <a:t>• Uses the same rate/spread simulation architecture already developed for fixed income.</a:t>
            </a:r>
          </a:p>
          <a:p>
            <a:pPr>
              <a:spcAft>
                <a:spcPts val="700"/>
              </a:spcAft>
              <a:defRPr sz="1220">
                <a:solidFill>
                  <a:srgbClr val="F5F7FA"/>
                </a:solidFill>
                <a:latin typeface="Aptos"/>
              </a:defRPr>
            </a:pPr>
            <a:r>
              <a:t>• Scales naturally to Monte Carlo and portfolio-level stress testing.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44768" y="278892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C6DE"/>
                </a:solidFill>
                <a:latin typeface="Aptos"/>
              </a:defRPr>
            </a:pPr>
            <a:r>
              <a:t>What it captures — and what it does not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1344" y="3200400"/>
            <a:ext cx="5166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F5F7FA"/>
                </a:solidFill>
                <a:latin typeface="Aptos"/>
              </a:defRPr>
            </a:pPr>
            <a:r>
              <a:t>• The starting price reflects the market's aggregate assessment of structure, credit, liquidity and prepayment expectations.</a:t>
            </a:r>
          </a:p>
          <a:p>
            <a:pPr>
              <a:spcAft>
                <a:spcPts val="700"/>
              </a:spcAft>
              <a:defRPr sz="1220">
                <a:solidFill>
                  <a:srgbClr val="F5F7FA"/>
                </a:solidFill>
                <a:latin typeface="Aptos"/>
              </a:defRPr>
            </a:pPr>
            <a:r>
              <a:t>• Spread shocks capture changes in required market compensation for risk.</a:t>
            </a:r>
          </a:p>
          <a:p>
            <a:pPr>
              <a:spcAft>
                <a:spcPts val="700"/>
              </a:spcAft>
              <a:defRPr sz="1220">
                <a:solidFill>
                  <a:srgbClr val="F5F7FA"/>
                </a:solidFill>
                <a:latin typeface="Aptos"/>
              </a:defRPr>
            </a:pPr>
            <a:r>
              <a:t>• Cash flows do not yet respond explicitly to CPR, defaults, extension/contraction or waterfall rules.</a:t>
            </a:r>
          </a:p>
          <a:p>
            <a:pPr>
              <a:spcAft>
                <a:spcPts val="700"/>
              </a:spcAft>
              <a:defRPr sz="1220">
                <a:solidFill>
                  <a:srgbClr val="F5F7FA"/>
                </a:solidFill>
                <a:latin typeface="Aptos"/>
              </a:defRPr>
            </a:pPr>
            <a:r>
              <a:t>• Sensitivities are therefore bond-equivalent risk measures, not full structural analytics.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715000"/>
            <a:ext cx="10561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5F7FA"/>
                </a:solidFill>
                <a:latin typeface="Aptos"/>
              </a:defRPr>
            </a:pPr>
            <a:r>
              <a:t>Objective: obtain a consistent, market-calibrated risk estimate now — without claiming to reproduce the security's full structural valuation.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7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0116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1FC6DE"/>
                </a:solidFill>
                <a:latin typeface="Aptos"/>
              </a:defRPr>
            </a:pPr>
            <a:r>
              <a:t>Section VII — Fixed Income Pricing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5F7FA"/>
                </a:solidFill>
                <a:latin typeface="Aptos"/>
              </a:defRPr>
            </a:pPr>
            <a:r>
              <a:t>Next Round — Use Bloomberg and the Existing Engineering Work to Improve the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52360" y="6473952"/>
            <a:ext cx="4160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650" b="0">
                <a:solidFill>
                  <a:srgbClr val="B1BECD"/>
                </a:solidFill>
                <a:latin typeface="Aptos"/>
              </a:defRPr>
            </a:pPr>
            <a:r>
              <a:t>Ryse Private and Confidential, One Mifflin Place, Ste 400, Cambridge, MA, 02138,</a:t>
            </a:r>
            <a:br/>
            <a:r>
              <a:t>Mario Pardo, mario@ryseinc.com |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50" b="1">
                <a:solidFill>
                  <a:srgbClr val="F5F7FA"/>
                </a:solidFill>
                <a:latin typeface="Aptos"/>
              </a:defRPr>
            </a:pPr>
            <a:r>
              <a:t>The historical work already completed becomes the empirical enhancement layer — not discarded work.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965960"/>
            <a:ext cx="3246120" cy="3337560"/>
          </a:xfrm>
          <a:prstGeom prst="roundRect">
            <a:avLst/>
          </a:prstGeom>
          <a:solidFill>
            <a:srgbClr val="123D59"/>
          </a:solidFill>
          <a:ln w="12700"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212848"/>
            <a:ext cx="2788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C6DE"/>
                </a:solidFill>
                <a:latin typeface="Aptos"/>
              </a:defRPr>
            </a:pPr>
            <a:r>
              <a:t>Existing Engineering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97480"/>
            <a:ext cx="27432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80">
                <a:solidFill>
                  <a:srgbClr val="F5F7FA"/>
                </a:solidFill>
                <a:latin typeface="Aptos"/>
              </a:defRPr>
            </a:pPr>
            <a:r>
              <a:t>• Historical monthly principal repayments.</a:t>
            </a:r>
          </a:p>
          <a:p>
            <a:pPr>
              <a:spcAft>
                <a:spcPts val="700"/>
              </a:spcAft>
              <a:defRPr sz="1180">
                <a:solidFill>
                  <a:srgbClr val="F5F7FA"/>
                </a:solidFill>
                <a:latin typeface="Aptos"/>
              </a:defRPr>
            </a:pPr>
            <a:r>
              <a:t>• Observed realized cash-flow behavior.</a:t>
            </a:r>
          </a:p>
          <a:p>
            <a:pPr>
              <a:spcAft>
                <a:spcPts val="700"/>
              </a:spcAft>
              <a:defRPr sz="1180">
                <a:solidFill>
                  <a:srgbClr val="F5F7FA"/>
                </a:solidFill>
                <a:latin typeface="Aptos"/>
              </a:defRPr>
            </a:pPr>
            <a:r>
              <a:t>• Existing validation against pools priced by another method.</a:t>
            </a:r>
          </a:p>
          <a:p>
            <a:pPr>
              <a:spcAft>
                <a:spcPts val="700"/>
              </a:spcAft>
              <a:defRPr sz="1180">
                <a:solidFill>
                  <a:srgbClr val="F5F7FA"/>
                </a:solidFill>
                <a:latin typeface="Aptos"/>
              </a:defRPr>
            </a:pPr>
            <a:r>
              <a:t>• Infrastructure for Bloomberg-based data extraction.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62272" y="1965960"/>
            <a:ext cx="3246120" cy="3337560"/>
          </a:xfrm>
          <a:prstGeom prst="roundRect">
            <a:avLst/>
          </a:prstGeom>
          <a:solidFill>
            <a:srgbClr val="123D59"/>
          </a:solidFill>
          <a:ln w="12700"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90872" y="2212848"/>
            <a:ext cx="2788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C6DE"/>
                </a:solidFill>
                <a:latin typeface="Aptos"/>
              </a:defRPr>
            </a:pPr>
            <a:r>
              <a:t>Expand Bloomberg Inputs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90872" y="2697480"/>
            <a:ext cx="27432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80">
                <a:solidFill>
                  <a:srgbClr val="F5F7FA"/>
                </a:solidFill>
                <a:latin typeface="Aptos"/>
              </a:defRPr>
            </a:pPr>
            <a:r>
              <a:t>• WAL and effective life, where available.</a:t>
            </a:r>
          </a:p>
          <a:p>
            <a:pPr>
              <a:spcAft>
                <a:spcPts val="700"/>
              </a:spcAft>
              <a:defRPr sz="1180">
                <a:solidFill>
                  <a:srgbClr val="F5F7FA"/>
                </a:solidFill>
                <a:latin typeface="Aptos"/>
              </a:defRPr>
            </a:pPr>
            <a:r>
              <a:t>• Prepayment / CPR analytics and projected cash flows, where available.</a:t>
            </a:r>
          </a:p>
          <a:p>
            <a:pPr>
              <a:spcAft>
                <a:spcPts val="700"/>
              </a:spcAft>
              <a:defRPr sz="1180">
                <a:solidFill>
                  <a:srgbClr val="F5F7FA"/>
                </a:solidFill>
                <a:latin typeface="Aptos"/>
              </a:defRPr>
            </a:pPr>
            <a:r>
              <a:t>• Effective duration and convexity.</a:t>
            </a:r>
          </a:p>
          <a:p>
            <a:pPr>
              <a:spcAft>
                <a:spcPts val="700"/>
              </a:spcAft>
              <a:defRPr sz="1180">
                <a:solidFill>
                  <a:srgbClr val="F5F7FA"/>
                </a:solidFill>
                <a:latin typeface="Aptos"/>
              </a:defRPr>
            </a:pPr>
            <a:r>
              <a:t>• OAS / spread and additional structured-security analytics.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30183" y="1965960"/>
            <a:ext cx="3246120" cy="3337560"/>
          </a:xfrm>
          <a:prstGeom prst="roundRect">
            <a:avLst/>
          </a:prstGeom>
          <a:solidFill>
            <a:srgbClr val="123D59"/>
          </a:solidFill>
          <a:ln w="12700"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58784" y="2212848"/>
            <a:ext cx="2788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C6DE"/>
                </a:solidFill>
                <a:latin typeface="Aptos"/>
              </a:defRPr>
            </a:pPr>
            <a:r>
              <a:t>Enhanced Ryse 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58784" y="2697480"/>
            <a:ext cx="27432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80">
                <a:solidFill>
                  <a:srgbClr val="F5F7FA"/>
                </a:solidFill>
                <a:latin typeface="Aptos"/>
              </a:defRPr>
            </a:pPr>
            <a:r>
              <a:t>• Replace legal-maturity bullet behavior with a more realistic effective-life representation.</a:t>
            </a:r>
          </a:p>
          <a:p>
            <a:pPr>
              <a:spcAft>
                <a:spcPts val="700"/>
              </a:spcAft>
              <a:defRPr sz="1180">
                <a:solidFill>
                  <a:srgbClr val="F5F7FA"/>
                </a:solidFill>
                <a:latin typeface="Aptos"/>
              </a:defRPr>
            </a:pPr>
            <a:r>
              <a:t>• Model contraction / extension more accurately.</a:t>
            </a:r>
          </a:p>
          <a:p>
            <a:pPr>
              <a:spcAft>
                <a:spcPts val="700"/>
              </a:spcAft>
              <a:defRPr sz="1180">
                <a:solidFill>
                  <a:srgbClr val="F5F7FA"/>
                </a:solidFill>
                <a:latin typeface="Aptos"/>
              </a:defRPr>
            </a:pPr>
            <a:r>
              <a:t>• Relate historical paydowns to rates and other drivers.</a:t>
            </a:r>
          </a:p>
          <a:p>
            <a:pPr>
              <a:spcAft>
                <a:spcPts val="700"/>
              </a:spcAft>
              <a:defRPr sz="1180">
                <a:solidFill>
                  <a:srgbClr val="F5F7FA"/>
                </a:solidFill>
                <a:latin typeface="Aptos"/>
              </a:defRPr>
            </a:pPr>
            <a:r>
              <a:t>• Retain the custodian market price as the calibration anchor.</a:t>
            </a:r>
          </a:p>
        </p:txBody>
      </p:sp>
      <p:sp>
        <p:nvSpPr>
          <p:cNvPr id="15" name="Chevron 14"/>
          <p:cNvSpPr/>
          <p:nvPr/>
        </p:nvSpPr>
        <p:spPr>
          <a:xfrm>
            <a:off x="3968496" y="3429000"/>
            <a:ext cx="329184" cy="274320"/>
          </a:xfrm>
          <a:prstGeom prst="chevron">
            <a:avLst/>
          </a:prstGeom>
          <a:solidFill>
            <a:srgbClr val="1FC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Chevron 15"/>
          <p:cNvSpPr/>
          <p:nvPr/>
        </p:nvSpPr>
        <p:spPr>
          <a:xfrm>
            <a:off x="7836408" y="3429000"/>
            <a:ext cx="329184" cy="274320"/>
          </a:xfrm>
          <a:prstGeom prst="chevron">
            <a:avLst/>
          </a:prstGeom>
          <a:solidFill>
            <a:srgbClr val="1FC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5650992"/>
            <a:ext cx="10561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5F7FA"/>
                </a:solidFill>
                <a:latin typeface="Aptos"/>
              </a:defRPr>
            </a:pPr>
            <a:r>
              <a:t>Key benefit: improve prepayment and cash-flow behavior incrementally without requiring a full deal-waterfall engine on day one.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7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0116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1FC6DE"/>
                </a:solidFill>
                <a:latin typeface="Aptos"/>
              </a:defRPr>
            </a:pPr>
            <a:r>
              <a:t>Section VII — Fixed Income Pricing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5F7FA"/>
                </a:solidFill>
                <a:latin typeface="Aptos"/>
              </a:defRPr>
            </a:pPr>
            <a:r>
              <a:t>Longer-Term Choice — Full Structural Modeling Only Where the Use Case Requires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52360" y="6473952"/>
            <a:ext cx="4160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650" b="0">
                <a:solidFill>
                  <a:srgbClr val="B1BECD"/>
                </a:solidFill>
                <a:latin typeface="Aptos"/>
              </a:defRPr>
            </a:pPr>
            <a:r>
              <a:t>Ryse Private and Confidential, One Mifflin Place, Ste 400, Cambridge, MA, 02138,</a:t>
            </a:r>
            <a:br/>
            <a:r>
              <a:t>Mario Pardo, mario@ryseinc.com |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337560" cy="1024128"/>
          </a:xfrm>
          <a:prstGeom prst="roundRect">
            <a:avLst/>
          </a:prstGeom>
          <a:solidFill>
            <a:srgbClr val="164865"/>
          </a:solidFill>
          <a:ln w="25400">
            <a:solidFill>
              <a:srgbClr val="89D2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19" y="1536192"/>
            <a:ext cx="3154679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5F7FA"/>
                </a:solidFill>
                <a:latin typeface="Aptos"/>
              </a:defRPr>
            </a:pPr>
            <a:r>
              <a:t>NOW</a:t>
            </a:r>
            <a:br/>
            <a:r>
              <a:t>Reduced-Form Risk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325880"/>
            <a:ext cx="3337560" cy="1024128"/>
          </a:xfrm>
          <a:prstGeom prst="roundRect">
            <a:avLst/>
          </a:prstGeom>
          <a:solidFill>
            <a:srgbClr val="164865"/>
          </a:solidFill>
          <a:ln w="25400">
            <a:solidFill>
              <a:srgbClr val="1FC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17136" y="1536192"/>
            <a:ext cx="3154679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5F7FA"/>
                </a:solidFill>
                <a:latin typeface="Aptos"/>
              </a:defRPr>
            </a:pPr>
            <a:r>
              <a:t>NEXT</a:t>
            </a:r>
            <a:br/>
            <a:r>
              <a:t>Bloomberg + Empirical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11312" y="1325880"/>
            <a:ext cx="3337560" cy="1024128"/>
          </a:xfrm>
          <a:prstGeom prst="roundRect">
            <a:avLst/>
          </a:prstGeom>
          <a:solidFill>
            <a:srgbClr val="164865"/>
          </a:solidFill>
          <a:ln w="25400">
            <a:solidFill>
              <a:srgbClr val="B22F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02752" y="1536192"/>
            <a:ext cx="3154679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5F7FA"/>
                </a:solidFill>
                <a:latin typeface="Aptos"/>
              </a:defRPr>
            </a:pPr>
            <a:r>
              <a:t>OPTIONAL</a:t>
            </a:r>
            <a:br/>
            <a:r>
              <a:t>Full Structural / Intex</a:t>
            </a:r>
          </a:p>
        </p:txBody>
      </p:sp>
      <p:sp>
        <p:nvSpPr>
          <p:cNvPr id="11" name="Chevron 10"/>
          <p:cNvSpPr/>
          <p:nvPr/>
        </p:nvSpPr>
        <p:spPr>
          <a:xfrm>
            <a:off x="4078224" y="1700784"/>
            <a:ext cx="228600" cy="219456"/>
          </a:xfrm>
          <a:prstGeom prst="chevron">
            <a:avLst/>
          </a:prstGeom>
          <a:solidFill>
            <a:srgbClr val="1FC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Chevron 11"/>
          <p:cNvSpPr/>
          <p:nvPr/>
        </p:nvSpPr>
        <p:spPr>
          <a:xfrm>
            <a:off x="7863840" y="1700784"/>
            <a:ext cx="228600" cy="219456"/>
          </a:xfrm>
          <a:prstGeom prst="chevron">
            <a:avLst/>
          </a:prstGeom>
          <a:solidFill>
            <a:srgbClr val="1FC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743200"/>
            <a:ext cx="187451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FC6DE"/>
                </a:solidFill>
                <a:latin typeface="Aptos"/>
              </a:defRPr>
            </a:pPr>
            <a:r>
              <a:t>Dimension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743200"/>
            <a:ext cx="2514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FC6DE"/>
                </a:solidFill>
                <a:latin typeface="Aptos"/>
              </a:defRPr>
            </a:pPr>
            <a:r>
              <a:t>Reduced-Form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2743200"/>
            <a:ext cx="2514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FC6DE"/>
                </a:solidFill>
                <a:latin typeface="Aptos"/>
              </a:defRPr>
            </a:pPr>
            <a:r>
              <a:t>Enhanced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743200"/>
            <a:ext cx="2514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FC6DE"/>
                </a:solidFill>
                <a:latin typeface="Aptos"/>
              </a:defRPr>
            </a:pPr>
            <a:r>
              <a:t>Full Structural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182112"/>
            <a:ext cx="1965960" cy="420624"/>
          </a:xfrm>
          <a:prstGeom prst="rect">
            <a:avLst/>
          </a:prstGeom>
          <a:solidFill>
            <a:srgbClr val="123D59"/>
          </a:solidFill>
          <a:ln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94944" y="3255264"/>
            <a:ext cx="1856231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70" b="0">
                <a:solidFill>
                  <a:srgbClr val="F5F7FA"/>
                </a:solidFill>
                <a:latin typeface="Aptos"/>
              </a:defRPr>
            </a:pPr>
            <a:r>
              <a:t>Implementation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97480" y="3182112"/>
            <a:ext cx="2606040" cy="420624"/>
          </a:xfrm>
          <a:prstGeom prst="rect">
            <a:avLst/>
          </a:prstGeom>
          <a:solidFill>
            <a:srgbClr val="123D59"/>
          </a:solidFill>
          <a:ln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752344" y="3255264"/>
            <a:ext cx="24963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70" b="0">
                <a:solidFill>
                  <a:srgbClr val="F5F7FA"/>
                </a:solidFill>
                <a:latin typeface="Aptos"/>
              </a:defRPr>
            </a:pPr>
            <a:r>
              <a:t>Fast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0" y="3182112"/>
            <a:ext cx="2606040" cy="420624"/>
          </a:xfrm>
          <a:prstGeom prst="rect">
            <a:avLst/>
          </a:prstGeom>
          <a:solidFill>
            <a:srgbClr val="123D59"/>
          </a:solidFill>
          <a:ln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541264" y="3255264"/>
            <a:ext cx="24963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70" b="0">
                <a:solidFill>
                  <a:srgbClr val="F5F7FA"/>
                </a:solidFill>
                <a:latin typeface="Aptos"/>
              </a:defRPr>
            </a:pPr>
            <a:r>
              <a:t>Moderate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75320" y="3182112"/>
            <a:ext cx="2743200" cy="420624"/>
          </a:xfrm>
          <a:prstGeom prst="rect">
            <a:avLst/>
          </a:prstGeom>
          <a:solidFill>
            <a:srgbClr val="123D59"/>
          </a:solidFill>
          <a:ln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30184" y="3255264"/>
            <a:ext cx="26334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70" b="0">
                <a:solidFill>
                  <a:srgbClr val="F5F7FA"/>
                </a:solidFill>
                <a:latin typeface="Aptos"/>
              </a:defRPr>
            </a:pPr>
            <a:r>
              <a:t>Major project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602736"/>
            <a:ext cx="1965960" cy="420624"/>
          </a:xfrm>
          <a:prstGeom prst="rect">
            <a:avLst/>
          </a:prstGeom>
          <a:solidFill>
            <a:srgbClr val="132742"/>
          </a:solidFill>
          <a:ln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94944" y="3675887"/>
            <a:ext cx="1856231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70" b="0">
                <a:solidFill>
                  <a:srgbClr val="F5F7FA"/>
                </a:solidFill>
                <a:latin typeface="Aptos"/>
              </a:defRPr>
            </a:pPr>
            <a:r>
              <a:t>Incremental cost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97480" y="3602736"/>
            <a:ext cx="2606040" cy="420624"/>
          </a:xfrm>
          <a:prstGeom prst="rect">
            <a:avLst/>
          </a:prstGeom>
          <a:solidFill>
            <a:srgbClr val="132742"/>
          </a:solidFill>
          <a:ln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752344" y="3675887"/>
            <a:ext cx="24963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70" b="0">
                <a:solidFill>
                  <a:srgbClr val="F5F7FA"/>
                </a:solidFill>
                <a:latin typeface="Aptos"/>
              </a:defRPr>
            </a:pPr>
            <a:r>
              <a:t>Low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0" y="3602736"/>
            <a:ext cx="2606040" cy="420624"/>
          </a:xfrm>
          <a:prstGeom prst="rect">
            <a:avLst/>
          </a:prstGeom>
          <a:solidFill>
            <a:srgbClr val="132742"/>
          </a:solidFill>
          <a:ln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541264" y="3675887"/>
            <a:ext cx="24963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70" b="0">
                <a:solidFill>
                  <a:srgbClr val="F5F7FA"/>
                </a:solidFill>
                <a:latin typeface="Aptos"/>
              </a:defRPr>
            </a:pPr>
            <a:r>
              <a:t>Moderate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75320" y="3602736"/>
            <a:ext cx="2743200" cy="420624"/>
          </a:xfrm>
          <a:prstGeom prst="rect">
            <a:avLst/>
          </a:prstGeom>
          <a:solidFill>
            <a:srgbClr val="132742"/>
          </a:solidFill>
          <a:ln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30184" y="3675887"/>
            <a:ext cx="26334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70" b="0">
                <a:solidFill>
                  <a:srgbClr val="F5F7FA"/>
                </a:solidFill>
                <a:latin typeface="Aptos"/>
              </a:defRPr>
            </a:pPr>
            <a:r>
              <a:t>High / licensing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4023360"/>
            <a:ext cx="1965960" cy="420624"/>
          </a:xfrm>
          <a:prstGeom prst="rect">
            <a:avLst/>
          </a:prstGeom>
          <a:solidFill>
            <a:srgbClr val="123D59"/>
          </a:solidFill>
          <a:ln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94944" y="4096512"/>
            <a:ext cx="1856231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70" b="0">
                <a:solidFill>
                  <a:srgbClr val="F5F7FA"/>
                </a:solidFill>
                <a:latin typeface="Aptos"/>
              </a:defRPr>
            </a:pPr>
            <a:r>
              <a:t>Rates &amp; spreads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697480" y="4023360"/>
            <a:ext cx="2606040" cy="420624"/>
          </a:xfrm>
          <a:prstGeom prst="rect">
            <a:avLst/>
          </a:prstGeom>
          <a:solidFill>
            <a:srgbClr val="123D59"/>
          </a:solidFill>
          <a:ln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752344" y="4096512"/>
            <a:ext cx="24963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70" b="0">
                <a:solidFill>
                  <a:srgbClr val="F5F7FA"/>
                </a:solidFill>
                <a:latin typeface="Aptos"/>
              </a:defRPr>
            </a:pPr>
            <a:r>
              <a:t>Yes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0" y="4023360"/>
            <a:ext cx="2606040" cy="420624"/>
          </a:xfrm>
          <a:prstGeom prst="rect">
            <a:avLst/>
          </a:prstGeom>
          <a:solidFill>
            <a:srgbClr val="123D59"/>
          </a:solidFill>
          <a:ln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541264" y="4096512"/>
            <a:ext cx="24963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70" b="0">
                <a:solidFill>
                  <a:srgbClr val="F5F7FA"/>
                </a:solidFill>
                <a:latin typeface="Aptos"/>
              </a:defRPr>
            </a:pPr>
            <a:r>
              <a:t>Yes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75320" y="4023360"/>
            <a:ext cx="2743200" cy="420624"/>
          </a:xfrm>
          <a:prstGeom prst="rect">
            <a:avLst/>
          </a:prstGeom>
          <a:solidFill>
            <a:srgbClr val="123D59"/>
          </a:solidFill>
          <a:ln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330184" y="4096512"/>
            <a:ext cx="26334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70" b="0">
                <a:solidFill>
                  <a:srgbClr val="F5F7FA"/>
                </a:solidFill>
                <a:latin typeface="Aptos"/>
              </a:defRPr>
            </a:pPr>
            <a:r>
              <a:t>Yes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4443984"/>
            <a:ext cx="1965960" cy="420624"/>
          </a:xfrm>
          <a:prstGeom prst="rect">
            <a:avLst/>
          </a:prstGeom>
          <a:solidFill>
            <a:srgbClr val="132742"/>
          </a:solidFill>
          <a:ln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94944" y="4517136"/>
            <a:ext cx="1856231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70" b="0">
                <a:solidFill>
                  <a:srgbClr val="F5F7FA"/>
                </a:solidFill>
                <a:latin typeface="Aptos"/>
              </a:defRPr>
            </a:pPr>
            <a:r>
              <a:t>Prepayment behavior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697480" y="4443984"/>
            <a:ext cx="2606040" cy="420624"/>
          </a:xfrm>
          <a:prstGeom prst="rect">
            <a:avLst/>
          </a:prstGeom>
          <a:solidFill>
            <a:srgbClr val="132742"/>
          </a:solidFill>
          <a:ln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752344" y="4517136"/>
            <a:ext cx="24963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70" b="0">
                <a:solidFill>
                  <a:srgbClr val="F5F7FA"/>
                </a:solidFill>
                <a:latin typeface="Aptos"/>
              </a:defRPr>
            </a:pPr>
            <a:r>
              <a:t>Limited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0" y="4443984"/>
            <a:ext cx="2606040" cy="420624"/>
          </a:xfrm>
          <a:prstGeom prst="rect">
            <a:avLst/>
          </a:prstGeom>
          <a:solidFill>
            <a:srgbClr val="132742"/>
          </a:solidFill>
          <a:ln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541264" y="4517136"/>
            <a:ext cx="24963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70" b="0">
                <a:solidFill>
                  <a:srgbClr val="F5F7FA"/>
                </a:solidFill>
                <a:latin typeface="Aptos"/>
              </a:defRPr>
            </a:pPr>
            <a:r>
              <a:t>Improved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75320" y="4443984"/>
            <a:ext cx="2743200" cy="420624"/>
          </a:xfrm>
          <a:prstGeom prst="rect">
            <a:avLst/>
          </a:prstGeom>
          <a:solidFill>
            <a:srgbClr val="132742"/>
          </a:solidFill>
          <a:ln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330184" y="4517136"/>
            <a:ext cx="26334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70" b="0">
                <a:solidFill>
                  <a:srgbClr val="F5F7FA"/>
                </a:solidFill>
                <a:latin typeface="Aptos"/>
              </a:defRPr>
            </a:pPr>
            <a:r>
              <a:t>Explicit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" y="4864608"/>
            <a:ext cx="1965960" cy="420624"/>
          </a:xfrm>
          <a:prstGeom prst="rect">
            <a:avLst/>
          </a:prstGeom>
          <a:solidFill>
            <a:srgbClr val="123D59"/>
          </a:solidFill>
          <a:ln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94944" y="4937760"/>
            <a:ext cx="1856231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70" b="0">
                <a:solidFill>
                  <a:srgbClr val="F5F7FA"/>
                </a:solidFill>
                <a:latin typeface="Aptos"/>
              </a:defRPr>
            </a:pPr>
            <a:r>
              <a:t>Waterfall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697480" y="4864608"/>
            <a:ext cx="2606040" cy="420624"/>
          </a:xfrm>
          <a:prstGeom prst="rect">
            <a:avLst/>
          </a:prstGeom>
          <a:solidFill>
            <a:srgbClr val="123D59"/>
          </a:solidFill>
          <a:ln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752344" y="4937760"/>
            <a:ext cx="24963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70" b="0">
                <a:solidFill>
                  <a:srgbClr val="F5F7FA"/>
                </a:solidFill>
                <a:latin typeface="Aptos"/>
              </a:defRPr>
            </a:pPr>
            <a:r>
              <a:t>No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0" y="4864608"/>
            <a:ext cx="2606040" cy="420624"/>
          </a:xfrm>
          <a:prstGeom prst="rect">
            <a:avLst/>
          </a:prstGeom>
          <a:solidFill>
            <a:srgbClr val="123D59"/>
          </a:solidFill>
          <a:ln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541264" y="4937760"/>
            <a:ext cx="24963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70" b="0">
                <a:solidFill>
                  <a:srgbClr val="F5F7FA"/>
                </a:solidFill>
                <a:latin typeface="Aptos"/>
              </a:defRPr>
            </a:pPr>
            <a:r>
              <a:t>Limited / observed outcome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275320" y="4864608"/>
            <a:ext cx="2743200" cy="420624"/>
          </a:xfrm>
          <a:prstGeom prst="rect">
            <a:avLst/>
          </a:prstGeom>
          <a:solidFill>
            <a:srgbClr val="123D59"/>
          </a:solidFill>
          <a:ln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330184" y="4937760"/>
            <a:ext cx="26334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70" b="0">
                <a:solidFill>
                  <a:srgbClr val="F5F7FA"/>
                </a:solidFill>
                <a:latin typeface="Aptos"/>
              </a:defRPr>
            </a:pPr>
            <a:r>
              <a:t>Explicit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5800" y="5715000"/>
            <a:ext cx="107442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5F7FA"/>
                </a:solidFill>
                <a:latin typeface="Aptos"/>
              </a:defRPr>
            </a:pPr>
            <a:r>
              <a:t>Recommended sequence: deliver portfolio risk first, enhance it with Bloomberg and empirical behavior second, and purchase/build full structural capability only when the analytical requirement justifies the cost.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621792" y="1901952"/>
            <a:ext cx="841248" cy="841248"/>
          </a:xfrm>
          <a:prstGeom prst="ellipse">
            <a:avLst/>
          </a:prstGeom>
          <a:solidFill>
            <a:srgbClr val="4EB9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5F7FA"/>
                </a:solidFill>
                <a:latin typeface="Aptos"/>
              </a:rPr>
              <a:t>LC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993392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F5F7FA"/>
                </a:solidFill>
                <a:latin typeface="Aptos"/>
              </a:rPr>
              <a:t>Lichen Chen (Charlie)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350008"/>
            <a:ext cx="4297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1">
                <a:solidFill>
                  <a:srgbClr val="28C2E8"/>
                </a:solidFill>
                <a:latin typeface="Aptos"/>
              </a:rPr>
              <a:t>Pricing Engine, Calibration &amp; Risk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3072384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90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r>
              <a:rPr dirty="0"/>
              <a:t>MS Business Analytics, Columbia University • BS Mathematics, University of Michigan</a:t>
            </a:r>
          </a:p>
        </p:txBody>
      </p:sp>
      <p:sp>
        <p:nvSpPr>
          <p:cNvPr id="10" name="Oval 9"/>
          <p:cNvSpPr/>
          <p:nvPr/>
        </p:nvSpPr>
        <p:spPr>
          <a:xfrm>
            <a:off x="6473952" y="1901952"/>
            <a:ext cx="841248" cy="841248"/>
          </a:xfrm>
          <a:prstGeom prst="ellipse">
            <a:avLst/>
          </a:prstGeom>
          <a:solidFill>
            <a:srgbClr val="4EB9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5F7FA"/>
                </a:solidFill>
                <a:latin typeface="Aptos"/>
              </a:rPr>
              <a:t>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1993392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F5F7FA"/>
                </a:solidFill>
                <a:latin typeface="Aptos"/>
              </a:rPr>
              <a:t>Liping Yin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350008"/>
            <a:ext cx="429768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1" dirty="0">
                <a:solidFill>
                  <a:srgbClr val="28C2E8"/>
                </a:solidFill>
                <a:latin typeface="Aptos"/>
              </a:rPr>
              <a:t>Fixed Income Pricing Platform </a:t>
            </a:r>
            <a:r>
              <a:rPr lang="en-US" sz="1250" b="1" i="1" dirty="0">
                <a:solidFill>
                  <a:srgbClr val="28C2E8"/>
                </a:solidFill>
                <a:latin typeface="Aptos"/>
              </a:rPr>
              <a:t>Engineer</a:t>
            </a:r>
            <a:endParaRPr sz="1250" b="1" i="1" dirty="0">
              <a:solidFill>
                <a:srgbClr val="28C2E8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73952" y="3072384"/>
            <a:ext cx="5257800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90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r>
              <a:rPr lang="en-US" dirty="0"/>
              <a:t>Fordham University (Quantitative Finance ), UCLA (Data Science), IUB (Computer Science)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" y="5779008"/>
            <a:ext cx="111099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500" dirty="0">
                <a:solidFill>
                  <a:srgbClr val="B0BEC5"/>
                </a:solidFill>
                <a:latin typeface="Arial" pitchFamily="34" charset="0"/>
                <a:cs typeface="Arial" pitchFamily="34" charset="-120"/>
              </a:rPr>
              <a:t>A focused team </a:t>
            </a:r>
            <a:r>
              <a:rPr lang="en-US" sz="1500" dirty="0">
                <a:solidFill>
                  <a:srgbClr val="B0BEC5"/>
                </a:solidFill>
                <a:latin typeface="Arial" pitchFamily="34" charset="0"/>
                <a:cs typeface="Arial" pitchFamily="34" charset="-120"/>
              </a:rPr>
              <a:t>is building the pricing engine, calibration framework,</a:t>
            </a:r>
            <a:r>
              <a:rPr sz="1500" dirty="0">
                <a:solidFill>
                  <a:srgbClr val="B0BEC5"/>
                </a:solidFill>
                <a:latin typeface="Arial" pitchFamily="34" charset="0"/>
                <a:cs typeface="Arial" pitchFamily="34" charset="-120"/>
              </a:rPr>
              <a:t> and portfolio risk foundation.</a:t>
            </a:r>
          </a:p>
        </p:txBody>
      </p:sp>
      <p:sp>
        <p:nvSpPr>
          <p:cNvPr id="18" name="PageNumber5">
            <a:extLst>
              <a:ext uri="{FF2B5EF4-FFF2-40B4-BE49-F238E27FC236}">
                <a16:creationId xmlns:a16="http://schemas.microsoft.com/office/drawing/2014/main" id="{3E3EC957-8E9E-D1CF-EFC3-B8D5F97982D0}"/>
              </a:ext>
            </a:extLst>
          </p:cNvPr>
          <p:cNvSpPr txBox="1"/>
          <p:nvPr/>
        </p:nvSpPr>
        <p:spPr>
          <a:xfrm>
            <a:off x="7391400" y="65151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 algn="r"/>
            <a:r>
              <a:rPr lang="en-US" sz="10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Ryse Private and Confidential, One Mifflin Place, Ste 400, Cambridge, MA, 02138, Mario Pardo, mario@ryseinc.com | </a:t>
            </a:r>
            <a:fld id="{97AAD9E2-EBB5-4CA4-BA32-5E5F09000B3D}" type="slidenum">
              <a:rPr lang="en-US" sz="1000" b="0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fld>
            <a:endParaRPr lang="en-US" sz="1000" b="0" i="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C670DC2-0DC1-48C7-4137-B5DCDD0DC80B}"/>
              </a:ext>
            </a:extLst>
          </p:cNvPr>
          <p:cNvSpPr txBox="1"/>
          <p:nvPr/>
        </p:nvSpPr>
        <p:spPr>
          <a:xfrm>
            <a:off x="515112" y="3627120"/>
            <a:ext cx="489204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 dirty="0">
                <a:solidFill>
                  <a:srgbClr val="F5F7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Built the pricing engines, calibration and risk layer.
</a:t>
            </a:r>
            <a:endParaRPr lang="en-US" sz="1200" b="0" i="0" dirty="0">
              <a:solidFill>
                <a:srgbClr val="F5F7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b="0" i="0" dirty="0">
                <a:solidFill>
                  <a:srgbClr val="F5F7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Quantitative research internships at Turing Fund and </a:t>
            </a:r>
            <a:r>
              <a:rPr lang="en-US" sz="1200" b="0" i="0" dirty="0" err="1">
                <a:solidFill>
                  <a:srgbClr val="F5F7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QiLin</a:t>
            </a:r>
            <a:r>
              <a:rPr lang="en-US" sz="1200" b="0" i="0" dirty="0">
                <a:solidFill>
                  <a:srgbClr val="F5F7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Investment; work in equity alpha, volatility forecasting and market microstructure.</a:t>
            </a:r>
          </a:p>
          <a:p>
            <a:r>
              <a:rPr sz="1200" b="0" i="0" dirty="0">
                <a:solidFill>
                  <a:srgbClr val="F5F7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
Developed the core analytical components used to move the fixed-income pricing process toward a standardized, testable architecture.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A56D6E-1AB4-6EB4-B0F4-C652E0E30F2C}"/>
              </a:ext>
            </a:extLst>
          </p:cNvPr>
          <p:cNvSpPr txBox="1"/>
          <p:nvPr/>
        </p:nvSpPr>
        <p:spPr>
          <a:xfrm>
            <a:off x="6352032" y="3627120"/>
            <a:ext cx="489204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 dirty="0">
                <a:solidFill>
                  <a:srgbClr val="F5F7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team member supporting </a:t>
            </a:r>
            <a:r>
              <a:rPr lang="en-US" sz="1200" b="0" i="0" dirty="0">
                <a:solidFill>
                  <a:srgbClr val="F5F7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sz="1200" b="0" i="0" dirty="0">
                <a:solidFill>
                  <a:srgbClr val="F5F7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development of the fixed-income pricing platform.</a:t>
            </a:r>
            <a:endParaRPr lang="en-US" sz="1200" b="0" i="0" dirty="0">
              <a:solidFill>
                <a:srgbClr val="F5F7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sz="1200" b="0" i="0" dirty="0">
                <a:solidFill>
                  <a:srgbClr val="F5F7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
</a:t>
            </a:r>
            <a:r>
              <a:rPr lang="en-US" sz="1200" b="0" i="0" dirty="0">
                <a:solidFill>
                  <a:srgbClr val="F5F7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Built a sovereign bond pricing engine </a:t>
            </a:r>
            <a:r>
              <a:rPr lang="en-US" sz="1200" dirty="0">
                <a:solidFill>
                  <a:srgbClr val="F5F7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a </a:t>
            </a:r>
            <a:r>
              <a:rPr lang="en-US" sz="1200" b="0" i="0" dirty="0">
                <a:solidFill>
                  <a:srgbClr val="F5F7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$1.3B book — Monte Carlo analytics and cointegration analysis</a:t>
            </a:r>
          </a:p>
          <a:p>
            <a:r>
              <a:rPr sz="1200" b="0" i="0" dirty="0">
                <a:solidFill>
                  <a:srgbClr val="F5F7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
</a:t>
            </a:r>
            <a:r>
              <a:rPr lang="en-US" sz="1200" b="0" i="0" dirty="0">
                <a:solidFill>
                  <a:srgbClr val="F5F7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Developed an API integrated with client infrastructure using the Azure cloud interface</a:t>
            </a:r>
          </a:p>
          <a:p>
            <a:endParaRPr sz="1200" b="0" i="0" dirty="0">
              <a:solidFill>
                <a:srgbClr val="F5F7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2">
            <a:extLst>
              <a:ext uri="{FF2B5EF4-FFF2-40B4-BE49-F238E27FC236}">
                <a16:creationId xmlns:a16="http://schemas.microsoft.com/office/drawing/2014/main" id="{8A33E277-1D9D-1479-5D51-C68261D1F220}"/>
              </a:ext>
            </a:extLst>
          </p:cNvPr>
          <p:cNvSpPr txBox="1"/>
          <p:nvPr/>
        </p:nvSpPr>
        <p:spPr>
          <a:xfrm>
            <a:off x="761695" y="484022"/>
            <a:ext cx="10972800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Income Pricing Platform Development Team</a:t>
            </a: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FA77F8B5-7982-7EAA-ACB3-D7A0FE50CE7A}"/>
              </a:ext>
            </a:extLst>
          </p:cNvPr>
          <p:cNvSpPr txBox="1"/>
          <p:nvPr/>
        </p:nvSpPr>
        <p:spPr>
          <a:xfrm>
            <a:off x="786655" y="313424"/>
            <a:ext cx="110496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>
              <a:defRPr sz="1000" b="1" kern="0" spc="75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r>
              <a:rPr lang="en-US" dirty="0"/>
              <a:t>Section VII — Fixed Income Pricing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2094</Words>
  <Application>Microsoft Office PowerPoint</Application>
  <PresentationFormat>Widescreen</PresentationFormat>
  <Paragraphs>286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Aptos Display</vt:lpstr>
      <vt:lpstr>Arial</vt:lpstr>
      <vt:lpstr>Arial Narrow</vt:lpstr>
      <vt:lpstr>Consolas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 rodriguez</dc:creator>
  <cp:lastModifiedBy>luis rodriguez</cp:lastModifiedBy>
  <cp:revision>3</cp:revision>
  <dcterms:created xsi:type="dcterms:W3CDTF">2026-10-04T15:09:17Z</dcterms:created>
  <dcterms:modified xsi:type="dcterms:W3CDTF">2026-10-04T19:01:35Z</dcterms:modified>
</cp:coreProperties>
</file>