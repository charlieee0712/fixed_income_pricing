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guKy1CfqaB33TpFicAqQEEVft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8EF7D8-6D37-4CD0-B6B1-3559DAF05DB7}">
  <a:tblStyle styleId="{5A8EF7D8-6D37-4CD0-B6B1-3559DAF05DB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Complete</c:v>
                </c:pt>
              </c:strCache>
            </c:strRef>
          </c:tx>
          <c:spPr>
            <a:solidFill>
              <a:srgbClr val="1F4E79"/>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Sheet1!$B$2:$B$2</c:f>
              <c:numCache>
                <c:formatCode>General</c:formatCode>
                <c:ptCount val="1"/>
                <c:pt idx="0">
                  <c:v>949</c:v>
                </c:pt>
              </c:numCache>
            </c:numRef>
          </c:val>
        </c:ser>
        <c:ser>
          <c:idx val="1"/>
          <c:order val="1"/>
          <c:tx>
            <c:strRef>
              <c:f>Sheet1!$C$1</c:f>
              <c:strCache>
                <c:ptCount val="1"/>
                <c:pt idx="0">
                  <c:v>Engine built — next</c:v>
                </c:pt>
              </c:strCache>
            </c:strRef>
          </c:tx>
          <c:spPr>
            <a:solidFill>
              <a:srgbClr val="D68910"/>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Sheet1!$C$2:$C$2</c:f>
              <c:numCache>
                <c:formatCode>General</c:formatCode>
                <c:ptCount val="1"/>
                <c:pt idx="0">
                  <c:v>882</c:v>
                </c:pt>
              </c:numCache>
            </c:numRef>
          </c:val>
        </c:ser>
        <c:ser>
          <c:idx val="2"/>
          <c:order val="2"/>
          <c:tx>
            <c:strRef>
              <c:f>Sheet1!$D$1</c:f>
              <c:strCache>
                <c:ptCount val="1"/>
                <c:pt idx="0">
                  <c:v>Scoped, not started</c:v>
                </c:pt>
              </c:strCache>
            </c:strRef>
          </c:tx>
          <c:spPr>
            <a:solidFill>
              <a:srgbClr val="9E9E9E"/>
            </a:solidFill>
          </c:spPr>
          <c:dLbls>
            <c:numFmt formatCode="#,##0" sourceLinked="0"/>
            <c:txPr>
              <a:bodyPr/>
              <a:lstStyle/>
              <a:p>
                <a:pPr>
                  <a:defRPr sz="1200" b="1">
                    <a:solidFill>
                      <a:srgbClr val="FFFFFF"/>
                    </a:solidFill>
                  </a:defRPr>
                </a:pPr>
              </a:p>
            </c:txPr>
            <c:showLegendKey val="0"/>
            <c:showVal val="0"/>
            <c:showCatName val="0"/>
            <c:showSerName val="0"/>
            <c:showPercent val="0"/>
            <c:showBubbleSize val="0"/>
            <c:showLeaderLines val="1"/>
          </c:dLbls>
          <c:cat>
            <c:strRef>
              <c:f>Sheet1!$A$2:$A$2</c:f>
              <c:strCache>
                <c:ptCount val="1"/>
                <c:pt idx="0">
                  <c:v/>
                </c:pt>
              </c:strCache>
            </c:strRef>
          </c:cat>
          <c:val>
            <c:numRef>
              <c:f>Sheet1!$D$2:$D$2</c:f>
              <c:numCache>
                <c:formatCode>General</c:formatCode>
                <c:ptCount val="1"/>
                <c:pt idx="0">
                  <c:v>412</c:v>
                </c:pt>
              </c:numCache>
            </c:numRef>
          </c:val>
        </c:ser>
        <c:ser>
          <c:idx val="3"/>
          <c:order val="3"/>
          <c:tx>
            <c:strRef>
              <c:f>Sheet1!$E$1</c:f>
              <c:strCache>
                <c:ptCount val="1"/>
                <c:pt idx="0">
                  <c:v>Out of scope</c:v>
                </c:pt>
              </c:strCache>
            </c:strRef>
          </c:tx>
          <c:spPr>
            <a:solidFill>
              <a:srgbClr val="D9D9D9"/>
            </a:solidFill>
          </c:spPr>
          <c:cat>
            <c:strRef>
              <c:f>Sheet1!$A$2:$A$2</c:f>
              <c:strCache>
                <c:ptCount val="1"/>
                <c:pt idx="0">
                  <c:v/>
                </c:pt>
              </c:strCache>
            </c:strRef>
          </c:cat>
          <c:val>
            <c:numRef>
              <c:f>Sheet1!$E$2:$E$2</c:f>
              <c:numCache>
                <c:formatCode>General</c:formatCode>
                <c:ptCount val="1"/>
                <c:pt idx="0">
                  <c:v>17</c:v>
                </c:pt>
              </c:numCache>
            </c:numRef>
          </c:val>
        </c:ser>
        <c:gapWidth val="4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 seconds. No preamble.</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point to land is the second one. This is not a complaint about speed for its own sake — it is that a whole class of work, scenario analysis, simply cannot be done. A thousand rounds at minutes each is not slow, it is impossible, so nobody asks for it.</a:t>
            </a:r>
            <a:endParaRPr/>
          </a:p>
        </p:txBody>
      </p:sp>
      <p:sp>
        <p:nvSpPr>
          <p:cNvPr id="90" name="Google Shape;9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four are the definition of done, and they are in order of dependency: you cannot parallelise what you cannot reproduce, and you cannot trust a scenario engine whose base case nobody can check. The third bullet is the commercial one — it is the capability that does not exist today at all.</a:t>
            </a:r>
            <a:endParaRPr/>
          </a:p>
        </p:txBody>
      </p:sp>
      <p:sp>
        <p:nvSpPr>
          <p:cNvPr id="97" name="Google Shape;9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forty seconds is the number that makes the goal arithmetic rather than aspirational. A thousand scenarios is a thousand times forty seconds divided by however many machines you run it on — that is a capacity question, and capacity is something you can buy. It was not a capacity question before. If an engineer asks how it runs there: today it is a checkout in an Azure terminal, which proves the code is portable and fast. Making it a service other systems call is the next step and is on slide 9 — do not let "runs on Azure" be heard as "deployed as a service", because it is not one yet.</a:t>
            </a:r>
            <a:endParaRPr/>
          </a:p>
        </p:txBody>
      </p:sp>
      <p:sp>
        <p:nvSpPr>
          <p:cNvPr id="104" name="Google Shape;10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third point deserves a sentence. In a pricing system the number is the whole product, so we made "did anything change" a mechanical check rather than a matter of opinion: every time the code changes, every price the system has ever published is regenerated and compared. That is how we can say a restructuring changed nothing and mean it literally.</a:t>
            </a:r>
            <a:endParaRPr/>
          </a:p>
        </p:txBody>
      </p:sp>
      <p:sp>
        <p:nvSpPr>
          <p:cNvPr id="111" name="Google Shape;11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honest readings. First, "complete" means the category is built and running, not that every bond in it has our number — 183 do not, and every one of them is named in a register with its reason. That is not an apology: a real book has incomplete records, and a tool meant for any portfolio has to name what it cannot price rather than guess at it. Second, the largest remaining block is the mortgage book, and its engine is already built and tested; what it needs is terms data, not development.</a:t>
            </a:r>
            <a:endParaRPr/>
          </a:p>
        </p:txBody>
      </p:sp>
      <p:sp>
        <p:nvSpPr>
          <p:cNvPr id="118" name="Google Shape;11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columns because the client's own Summary sheet counts lines and we count securities, and the two differ: a bond held by two managers appears on two lines. Lines reconcile against their sheet exactly — 2,366 — and securities are what a pricing question is actually about.</a:t>
            </a:r>
            <a:endParaRPr/>
          </a:p>
        </p:txBody>
      </p:sp>
      <p:sp>
        <p:nvSpPr>
          <p:cNvPr id="126" name="Google Shape;12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None of these three uses anything we control — that is the point, we are not grading our own homework, and the last two are checked against a live institutional portfolio's own records rather than a test file. The third one also found something nobody knew: those records are struck one day after the valuation date. Small, and it had been invisible for months. If anyone asks for the populations: the zero test is over bonds priced on their own government's curve — eleven Japanese, twelve UK with the under-one-year bonds excluded, the same rule every median in this project uses. The duration comparison is the five agency bonds that carry an early-repayment right, which are the only ones where the custodian's number and ours are measuring the same thing.</a:t>
            </a:r>
            <a:endParaRPr/>
          </a:p>
        </p:txBody>
      </p:sp>
      <p:sp>
        <p:nvSpPr>
          <p:cNvPr id="133" name="Google Shape;133;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straight that the pooled classes are genuine remaining engineering, not a data problem. On the cloud step: today each of us runs the code in our own Azure terminal, which was the point of the trial in September. Hosting it so Excel or another system can call it over the network is a separate, known piece of work — we put it to Mario in that report as an explicit question and it is still open. What makes them tractable is that the hard parts — the cash-flow machinery, the option model, the market-data plumbing — are built and proven on the 766 we already price.</a:t>
            </a:r>
            <a:endParaRPr/>
          </a:p>
        </p:txBody>
      </p:sp>
      <p:sp>
        <p:nvSpPr>
          <p:cNvPr id="140" name="Google Shape;14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502920" y="1417320"/>
            <a:ext cx="81381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1F4E79"/>
                </a:solidFill>
                <a:latin typeface="Calibri"/>
                <a:ea typeface="Calibri"/>
                <a:cs typeface="Calibri"/>
                <a:sym typeface="Calibri"/>
              </a:rPr>
              <a:t>Upgrading the Fixed Income Pricing System</a:t>
            </a:r>
            <a:endParaRPr/>
          </a:p>
        </p:txBody>
      </p:sp>
      <p:sp>
        <p:nvSpPr>
          <p:cNvPr id="86" name="Google Shape;86;p1"/>
          <p:cNvSpPr txBox="1"/>
          <p:nvPr/>
        </p:nvSpPr>
        <p:spPr>
          <a:xfrm>
            <a:off x="502920" y="2331720"/>
            <a:ext cx="8138160" cy="262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707070"/>
                </a:solidFill>
                <a:latin typeface="Calibri"/>
                <a:ea typeface="Calibri"/>
                <a:cs typeface="Calibri"/>
                <a:sym typeface="Calibri"/>
              </a:rPr>
              <a:t>•  Ryse · progress update for investors</a:t>
            </a:r>
            <a:endParaRPr/>
          </a:p>
          <a:p>
            <a:pPr indent="0" lvl="0" marL="0" marR="0" rtl="0" algn="l">
              <a:spcBef>
                <a:spcPts val="900"/>
              </a:spcBef>
              <a:spcAft>
                <a:spcPts val="0"/>
              </a:spcAft>
              <a:buNone/>
            </a:pPr>
            <a:r>
              <a:rPr b="0" i="0" lang="en-US" sz="1300" u="none" cap="none" strike="noStrike">
                <a:solidFill>
                  <a:srgbClr val="707070"/>
                </a:solidFill>
                <a:latin typeface="Calibri"/>
                <a:ea typeface="Calibri"/>
                <a:cs typeface="Calibri"/>
                <a:sym typeface="Calibri"/>
              </a:rPr>
              <a:t>•  Presented by Lichen Chen and Liping Yin · Directed by Mario Pardo</a:t>
            </a:r>
            <a:endParaRPr/>
          </a:p>
          <a:p>
            <a:pPr indent="0" lvl="0" marL="0" marR="0" rtl="0" algn="l">
              <a:spcBef>
                <a:spcPts val="900"/>
              </a:spcBef>
              <a:spcAft>
                <a:spcPts val="0"/>
              </a:spcAft>
              <a:buNone/>
            </a:pPr>
            <a:r>
              <a:rPr b="0" i="0" lang="en-US" sz="1300" u="none" cap="none" strike="noStrike">
                <a:solidFill>
                  <a:srgbClr val="707070"/>
                </a:solidFill>
                <a:latin typeface="Calibri"/>
                <a:ea typeface="Calibri"/>
                <a:cs typeface="Calibri"/>
                <a:sym typeface="Calibri"/>
              </a:rPr>
              <a:t>•  Twelve weeks: 26 June – 21 September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nvSpPr>
        <p:spPr>
          <a:xfrm>
            <a:off x="502920" y="310896"/>
            <a:ext cx="8138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Situation</a:t>
            </a:r>
            <a:endParaRPr/>
          </a:p>
        </p:txBody>
      </p:sp>
      <p:sp>
        <p:nvSpPr>
          <p:cNvPr id="93" name="Google Shape;93;p2"/>
          <p:cNvSpPr txBox="1"/>
          <p:nvPr/>
        </p:nvSpPr>
        <p:spPr>
          <a:xfrm>
            <a:off x="502920" y="1078992"/>
            <a:ext cx="81381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Pricing depends on years of accumulated </a:t>
            </a:r>
            <a:r>
              <a:rPr b="1" lang="en-US" sz="1300">
                <a:solidFill>
                  <a:srgbClr val="262626"/>
                </a:solidFill>
                <a:latin typeface="Calibri"/>
                <a:ea typeface="Calibri"/>
                <a:cs typeface="Calibri"/>
                <a:sym typeface="Calibri"/>
              </a:rPr>
              <a:t>VBA code (~14,000 lines)</a:t>
            </a:r>
            <a:r>
              <a:rPr lang="en-US" sz="1300">
                <a:solidFill>
                  <a:srgbClr val="262626"/>
                </a:solidFill>
                <a:latin typeface="Calibri"/>
                <a:ea typeface="Calibri"/>
                <a:cs typeface="Calibri"/>
                <a:sym typeface="Calibri"/>
              </a:rPr>
              <a:t> spread across workbooks that only the owner can operate or modify.</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Running a thousand what-if scenarios takes far too long (or crash Excel), making scenario analysis and Monte Carlo </a:t>
            </a:r>
            <a:r>
              <a:rPr b="1" lang="en-US" sz="1300">
                <a:solidFill>
                  <a:srgbClr val="262626"/>
                </a:solidFill>
                <a:latin typeface="Calibri"/>
                <a:ea typeface="Calibri"/>
                <a:cs typeface="Calibri"/>
                <a:sym typeface="Calibri"/>
              </a:rPr>
              <a:t>simulations impractical</a:t>
            </a:r>
            <a:r>
              <a:rPr lang="en-US" sz="1300">
                <a:solidFill>
                  <a:srgbClr val="262626"/>
                </a:solidFill>
                <a:latin typeface="Calibri"/>
                <a:ea typeface="Calibri"/>
                <a:cs typeface="Calibri"/>
                <a:sym typeface="Calibri"/>
              </a:rPr>
              <a:t>.</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Spreadsheets </a:t>
            </a:r>
            <a:r>
              <a:rPr b="1" lang="en-US" sz="1300">
                <a:solidFill>
                  <a:srgbClr val="262626"/>
                </a:solidFill>
                <a:latin typeface="Calibri"/>
                <a:ea typeface="Calibri"/>
                <a:cs typeface="Calibri"/>
                <a:sym typeface="Calibri"/>
              </a:rPr>
              <a:t>cannot be tested</a:t>
            </a:r>
            <a:r>
              <a:rPr lang="en-US" sz="1300">
                <a:solidFill>
                  <a:srgbClr val="262626"/>
                </a:solidFill>
                <a:latin typeface="Calibri"/>
                <a:ea typeface="Calibri"/>
                <a:cs typeface="Calibri"/>
                <a:sym typeface="Calibri"/>
              </a:rPr>
              <a:t>: there is no systematic way to detect when a change produces a wrong result.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502920" y="310896"/>
            <a:ext cx="8138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Goal</a:t>
            </a:r>
            <a:endParaRPr/>
          </a:p>
        </p:txBody>
      </p:sp>
      <p:sp>
        <p:nvSpPr>
          <p:cNvPr id="100" name="Google Shape;100;p3"/>
          <p:cNvSpPr txBox="1"/>
          <p:nvPr/>
        </p:nvSpPr>
        <p:spPr>
          <a:xfrm>
            <a:off x="502920" y="1078992"/>
            <a:ext cx="8138100" cy="143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A single system </a:t>
            </a:r>
            <a:r>
              <a:rPr lang="en-US" sz="1300">
                <a:solidFill>
                  <a:srgbClr val="262626"/>
                </a:solidFill>
                <a:latin typeface="Calibri"/>
                <a:ea typeface="Calibri"/>
                <a:cs typeface="Calibri"/>
                <a:sym typeface="Calibri"/>
              </a:rPr>
              <a:t>prices every instrument class in the book.</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Outputs are </a:t>
            </a:r>
            <a:r>
              <a:rPr b="1" lang="en-US" sz="1300">
                <a:solidFill>
                  <a:srgbClr val="262626"/>
                </a:solidFill>
                <a:latin typeface="Calibri"/>
                <a:ea typeface="Calibri"/>
                <a:cs typeface="Calibri"/>
                <a:sym typeface="Calibri"/>
              </a:rPr>
              <a:t>reproducible and testable</a:t>
            </a:r>
            <a:r>
              <a:rPr lang="en-US" sz="1300">
                <a:solidFill>
                  <a:srgbClr val="262626"/>
                </a:solidFill>
                <a:latin typeface="Calibri"/>
                <a:ea typeface="Calibri"/>
                <a:cs typeface="Calibri"/>
                <a:sym typeface="Calibri"/>
              </a:rPr>
              <a:t>: a rate change that alters a result is detected automatically.</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Cloud-based parallel execution </a:t>
            </a:r>
            <a:r>
              <a:rPr lang="en-US" sz="1300">
                <a:solidFill>
                  <a:srgbClr val="262626"/>
                </a:solidFill>
                <a:latin typeface="Calibri"/>
                <a:ea typeface="Calibri"/>
                <a:cs typeface="Calibri"/>
                <a:sym typeface="Calibri"/>
              </a:rPr>
              <a:t>means a thousand-scenario what-if completes in minutes instead of being out of reach.</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Layered on top: </a:t>
            </a:r>
            <a:r>
              <a:rPr lang="en-US" sz="1300">
                <a:solidFill>
                  <a:srgbClr val="262626"/>
                </a:solidFill>
                <a:latin typeface="Calibri"/>
                <a:ea typeface="Calibri"/>
                <a:cs typeface="Calibri"/>
                <a:sym typeface="Calibri"/>
              </a:rPr>
              <a:t>portfolio-level risk, available once all instrument classes are coded.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502920" y="310896"/>
            <a:ext cx="8138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Current Stage</a:t>
            </a:r>
            <a:endParaRPr/>
          </a:p>
        </p:txBody>
      </p:sp>
      <p:sp>
        <p:nvSpPr>
          <p:cNvPr id="107" name="Google Shape;107;p4"/>
          <p:cNvSpPr txBox="1"/>
          <p:nvPr/>
        </p:nvSpPr>
        <p:spPr>
          <a:xfrm>
            <a:off x="502920" y="1078992"/>
            <a:ext cx="8138100" cy="143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6 of 13 categories done: </a:t>
            </a:r>
            <a:r>
              <a:rPr lang="en-US" sz="1300">
                <a:solidFill>
                  <a:srgbClr val="262626"/>
                </a:solidFill>
                <a:latin typeface="Calibri"/>
                <a:ea typeface="Calibri"/>
                <a:cs typeface="Calibri"/>
                <a:sym typeface="Calibri"/>
              </a:rPr>
              <a:t>949 securities, with 766 priceable by the new engine.</a:t>
            </a:r>
            <a:endParaRPr sz="1300">
              <a:solidFill>
                <a:srgbClr val="262626"/>
              </a:solidFill>
              <a:latin typeface="Calibri"/>
              <a:ea typeface="Calibri"/>
              <a:cs typeface="Calibri"/>
              <a:sym typeface="Calibri"/>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JSON dictionaries for every input and output </a:t>
            </a:r>
            <a:r>
              <a:rPr lang="en-US" sz="1300">
                <a:solidFill>
                  <a:srgbClr val="262626"/>
                </a:solidFill>
                <a:latin typeface="Calibri"/>
                <a:ea typeface="Calibri"/>
                <a:cs typeface="Calibri"/>
                <a:sym typeface="Calibri"/>
              </a:rPr>
              <a:t>— this makes parallel computing much easier.</a:t>
            </a:r>
            <a:endParaRPr sz="1300">
              <a:solidFill>
                <a:srgbClr val="262626"/>
              </a:solidFill>
              <a:latin typeface="Calibri"/>
              <a:ea typeface="Calibri"/>
              <a:cs typeface="Calibri"/>
              <a:sym typeface="Calibri"/>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The code will be ru</a:t>
            </a:r>
            <a:r>
              <a:rPr b="1" lang="en-US" sz="1300">
                <a:solidFill>
                  <a:srgbClr val="262626"/>
                </a:solidFill>
                <a:latin typeface="Calibri"/>
                <a:ea typeface="Calibri"/>
                <a:cs typeface="Calibri"/>
                <a:sym typeface="Calibri"/>
              </a:rPr>
              <a:t>n</a:t>
            </a:r>
            <a:r>
              <a:rPr b="1" i="0" lang="en-US" sz="1300" u="none" cap="none" strike="noStrike">
                <a:solidFill>
                  <a:srgbClr val="262626"/>
                </a:solidFill>
                <a:latin typeface="Calibri"/>
                <a:ea typeface="Calibri"/>
                <a:cs typeface="Calibri"/>
                <a:sym typeface="Calibri"/>
              </a:rPr>
              <a:t> unchanged on Azure</a:t>
            </a:r>
            <a:endParaRPr sz="1300">
              <a:solidFill>
                <a:srgbClr val="262626"/>
              </a:solidFill>
              <a:latin typeface="Calibri"/>
              <a:ea typeface="Calibri"/>
              <a:cs typeface="Calibri"/>
              <a:sym typeface="Calibri"/>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Next: focus on mortgage-backed securities and other instruments, then hand the code to Ryse's engineer for parallel-computing 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nvSpPr>
        <p:spPr>
          <a:xfrm>
            <a:off x="502920" y="310896"/>
            <a:ext cx="81381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What </a:t>
            </a:r>
            <a:r>
              <a:rPr b="1" lang="en-US" sz="2300">
                <a:solidFill>
                  <a:srgbClr val="1F4E79"/>
                </a:solidFill>
                <a:latin typeface="Calibri"/>
                <a:ea typeface="Calibri"/>
                <a:cs typeface="Calibri"/>
                <a:sym typeface="Calibri"/>
              </a:rPr>
              <a:t>our new</a:t>
            </a:r>
            <a:r>
              <a:rPr b="1" i="0" lang="en-US" sz="2300" u="none" cap="none" strike="noStrike">
                <a:solidFill>
                  <a:srgbClr val="1F4E79"/>
                </a:solidFill>
                <a:latin typeface="Calibri"/>
                <a:ea typeface="Calibri"/>
                <a:cs typeface="Calibri"/>
                <a:sym typeface="Calibri"/>
              </a:rPr>
              <a:t> system does today</a:t>
            </a:r>
            <a:endParaRPr/>
          </a:p>
        </p:txBody>
      </p:sp>
      <p:sp>
        <p:nvSpPr>
          <p:cNvPr id="114" name="Google Shape;114;p5"/>
          <p:cNvSpPr txBox="1"/>
          <p:nvPr/>
        </p:nvSpPr>
        <p:spPr>
          <a:xfrm>
            <a:off x="502920" y="1078992"/>
            <a:ext cx="8138100" cy="183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Given a bond, today's rate, and the market price, it returns the spread the market is charging that borrower and the bond's sensitivity to rate moves.</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Runs three ways — spreadsheet, command line, or as a service other systems call — and returns the same answer from all three.</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Reproducible to the byte</a:t>
            </a:r>
            <a:r>
              <a:rPr lang="en-US" sz="1300">
                <a:solidFill>
                  <a:srgbClr val="262626"/>
                </a:solidFill>
                <a:latin typeface="Calibri"/>
                <a:ea typeface="Calibri"/>
                <a:cs typeface="Calibri"/>
                <a:sym typeface="Calibri"/>
              </a:rPr>
              <a:t> — run it again a month later, same results.</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lang="en-US" sz="1300">
                <a:solidFill>
                  <a:srgbClr val="262626"/>
                </a:solidFill>
                <a:latin typeface="Calibri"/>
                <a:ea typeface="Calibri"/>
                <a:cs typeface="Calibri"/>
                <a:sym typeface="Calibri"/>
              </a:rPr>
              <a:t>Built and checked against a real portfolio — a pension fund's fixed-income book, March 2009 — chosen because the answers are already known.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nvSpPr>
        <p:spPr>
          <a:xfrm>
            <a:off x="502920" y="310896"/>
            <a:ext cx="8138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Coverage</a:t>
            </a:r>
            <a:endParaRPr/>
          </a:p>
        </p:txBody>
      </p:sp>
      <p:graphicFrame>
        <p:nvGraphicFramePr>
          <p:cNvPr id="121" name="Google Shape;121;p6"/>
          <p:cNvGraphicFramePr/>
          <p:nvPr/>
        </p:nvGraphicFramePr>
        <p:xfrm>
          <a:off x="502920" y="1078992"/>
          <a:ext cx="8138160" cy="1371600"/>
        </p:xfrm>
        <a:graphic>
          <a:graphicData uri="http://schemas.openxmlformats.org/drawingml/2006/chart">
            <c:chart r:id="rId3"/>
          </a:graphicData>
        </a:graphic>
      </p:graphicFrame>
      <p:sp>
        <p:nvSpPr>
          <p:cNvPr id="122" name="Google Shape;122;p6"/>
          <p:cNvSpPr txBox="1"/>
          <p:nvPr/>
        </p:nvSpPr>
        <p:spPr>
          <a:xfrm>
            <a:off x="502920" y="2560320"/>
            <a:ext cx="8138160" cy="240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2,260 securities in the portfolio. Six of the thirteen categories are complete — 42%</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Of those 949, </a:t>
            </a:r>
            <a:r>
              <a:rPr b="1" i="0" lang="en-US" sz="1300" u="none" cap="none" strike="noStrike">
                <a:solidFill>
                  <a:srgbClr val="262626"/>
                </a:solidFill>
                <a:latin typeface="Calibri"/>
                <a:ea typeface="Calibri"/>
                <a:cs typeface="Calibri"/>
                <a:sym typeface="Calibri"/>
              </a:rPr>
              <a:t>766 carry our own price</a:t>
            </a:r>
            <a:r>
              <a:rPr b="0" i="0" lang="en-US" sz="1300" u="none" cap="none" strike="noStrike">
                <a:solidFill>
                  <a:srgbClr val="262626"/>
                </a:solidFill>
                <a:latin typeface="Calibri"/>
                <a:ea typeface="Calibri"/>
                <a:cs typeface="Calibri"/>
                <a:sym typeface="Calibri"/>
              </a:rPr>
              <a:t>; the remaining 183 are individually named, most of them bonds whose terms are absent from the source records themselves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nvSpPr>
        <p:spPr>
          <a:xfrm>
            <a:off x="502920" y="310896"/>
            <a:ext cx="8138100" cy="73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The </a:t>
            </a:r>
            <a:r>
              <a:rPr b="1" i="0" lang="en-US" sz="2300" u="none" cap="none" strike="noStrike">
                <a:solidFill>
                  <a:srgbClr val="1F4E79"/>
                </a:solidFill>
                <a:latin typeface="Calibri"/>
                <a:ea typeface="Calibri"/>
                <a:cs typeface="Calibri"/>
                <a:sym typeface="Calibri"/>
              </a:rPr>
              <a:t>thirteen</a:t>
            </a:r>
            <a:r>
              <a:rPr b="1" i="0" lang="en-US" sz="2300" u="none" cap="none" strike="noStrike">
                <a:solidFill>
                  <a:srgbClr val="1F4E79"/>
                </a:solidFill>
                <a:latin typeface="Calibri"/>
                <a:ea typeface="Calibri"/>
                <a:cs typeface="Calibri"/>
                <a:sym typeface="Calibri"/>
              </a:rPr>
              <a:t> categories</a:t>
            </a:r>
            <a:endParaRPr/>
          </a:p>
        </p:txBody>
      </p:sp>
      <p:graphicFrame>
        <p:nvGraphicFramePr>
          <p:cNvPr id="129" name="Google Shape;129;p7"/>
          <p:cNvGraphicFramePr/>
          <p:nvPr/>
        </p:nvGraphicFramePr>
        <p:xfrm>
          <a:off x="502920" y="1078992"/>
          <a:ext cx="3000000" cy="3000000"/>
        </p:xfrm>
        <a:graphic>
          <a:graphicData uri="http://schemas.openxmlformats.org/drawingml/2006/table">
            <a:tbl>
              <a:tblPr bandRow="1" firstRow="1">
                <a:noFill/>
                <a:tableStyleId>{5A8EF7D8-6D37-4CD0-B6B1-3559DAF05DB7}</a:tableStyleId>
              </a:tblPr>
              <a:tblGrid>
                <a:gridCol w="347475"/>
                <a:gridCol w="2788925"/>
                <a:gridCol w="960125"/>
                <a:gridCol w="1143000"/>
                <a:gridCol w="2898650"/>
              </a:tblGrid>
              <a:tr h="214875">
                <a:tc>
                  <a:txBody>
                    <a:bodyPr/>
                    <a:lstStyle/>
                    <a:p>
                      <a:pPr indent="0" lvl="0" marL="0" marR="0" rtl="0" algn="l">
                        <a:spcBef>
                          <a:spcPts val="0"/>
                        </a:spcBef>
                        <a:spcAft>
                          <a:spcPts val="0"/>
                        </a:spcAft>
                        <a:buNone/>
                      </a:pPr>
                      <a:r>
                        <a:rPr b="1" lang="en-US" sz="950" u="none" cap="none" strike="noStrike">
                          <a:solidFill>
                            <a:srgbClr val="1F4E79"/>
                          </a:solidFill>
                        </a:rPr>
                        <a:t>#</a:t>
                      </a:r>
                      <a:endParaRPr/>
                    </a:p>
                  </a:txBody>
                  <a:tcPr marT="12700" marB="12700" marR="91450" marL="91450"/>
                </a:tc>
                <a:tc>
                  <a:txBody>
                    <a:bodyPr/>
                    <a:lstStyle/>
                    <a:p>
                      <a:pPr indent="0" lvl="0" marL="0" marR="0" rtl="0" algn="l">
                        <a:spcBef>
                          <a:spcPts val="0"/>
                        </a:spcBef>
                        <a:spcAft>
                          <a:spcPts val="0"/>
                        </a:spcAft>
                        <a:buNone/>
                      </a:pPr>
                      <a:r>
                        <a:rPr b="1" lang="en-US" sz="950" u="none" cap="none" strike="noStrike">
                          <a:solidFill>
                            <a:srgbClr val="1F4E79"/>
                          </a:solidFill>
                        </a:rPr>
                        <a:t>Category</a:t>
                      </a:r>
                      <a:endParaRPr/>
                    </a:p>
                  </a:txBody>
                  <a:tcPr marT="12700" marB="12700" marR="91450" marL="91450"/>
                </a:tc>
                <a:tc>
                  <a:txBody>
                    <a:bodyPr/>
                    <a:lstStyle/>
                    <a:p>
                      <a:pPr indent="0" lvl="0" marL="0" marR="0" rtl="0" algn="l">
                        <a:spcBef>
                          <a:spcPts val="0"/>
                        </a:spcBef>
                        <a:spcAft>
                          <a:spcPts val="0"/>
                        </a:spcAft>
                        <a:buNone/>
                      </a:pPr>
                      <a:r>
                        <a:rPr b="1" lang="en-US" sz="950" u="none" cap="none" strike="noStrike">
                          <a:solidFill>
                            <a:srgbClr val="1F4E79"/>
                          </a:solidFill>
                        </a:rPr>
                        <a:t>Lines</a:t>
                      </a:r>
                      <a:endParaRPr/>
                    </a:p>
                  </a:txBody>
                  <a:tcPr marT="12700" marB="12700" marR="91450" marL="91450"/>
                </a:tc>
                <a:tc>
                  <a:txBody>
                    <a:bodyPr/>
                    <a:lstStyle/>
                    <a:p>
                      <a:pPr indent="0" lvl="0" marL="0" marR="0" rtl="0" algn="l">
                        <a:spcBef>
                          <a:spcPts val="0"/>
                        </a:spcBef>
                        <a:spcAft>
                          <a:spcPts val="0"/>
                        </a:spcAft>
                        <a:buNone/>
                      </a:pPr>
                      <a:r>
                        <a:rPr b="1" lang="en-US" sz="950" u="none" cap="none" strike="noStrike">
                          <a:solidFill>
                            <a:srgbClr val="1F4E79"/>
                          </a:solidFill>
                        </a:rPr>
                        <a:t>Securities</a:t>
                      </a:r>
                      <a:endParaRPr/>
                    </a:p>
                  </a:txBody>
                  <a:tcPr marT="12700" marB="12700" marR="91450" marL="91450"/>
                </a:tc>
                <a:tc>
                  <a:txBody>
                    <a:bodyPr/>
                    <a:lstStyle/>
                    <a:p>
                      <a:pPr indent="0" lvl="0" marL="0" marR="0" rtl="0" algn="l">
                        <a:spcBef>
                          <a:spcPts val="0"/>
                        </a:spcBef>
                        <a:spcAft>
                          <a:spcPts val="0"/>
                        </a:spcAft>
                        <a:buNone/>
                      </a:pPr>
                      <a:r>
                        <a:rPr b="1" lang="en-US" sz="950" u="none" cap="none" strike="noStrike">
                          <a:solidFill>
                            <a:srgbClr val="1F4E79"/>
                          </a:solidFill>
                        </a:rPr>
                        <a:t>Status</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1</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Corporate Bonds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811</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732</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2</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Government Bonds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153</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147</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3</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Government Agencies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42</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39</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4</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Index-Linked Government Bonds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16</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15</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5</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Guaranteed Fixed Income</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11</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9</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6</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Municipal / Provincial Bonds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Complete</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7</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Government Mortgage-Backed</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888</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882</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Engine built — next</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8</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Non-Government C.M.O.s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265</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264</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Scoped</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9</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Asset-Backed Securities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79</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79</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Scoped</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10</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Commercial Mortgage-Backed</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73</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69</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Scoped</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11</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FI Derivatives — Futures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11</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7</a:t>
                      </a:r>
                      <a:endParaRPr/>
                    </a:p>
                  </a:txBody>
                  <a:tcPr marT="12700" marB="12700" marR="91450" marL="91450"/>
                </a:tc>
                <a:tc>
                  <a:txBody>
                    <a:bodyPr/>
                    <a:lstStyle/>
                    <a:p>
                      <a:pPr indent="0" lvl="0" marL="0" rtl="0" algn="l">
                        <a:spcBef>
                          <a:spcPts val="0"/>
                        </a:spcBef>
                        <a:spcAft>
                          <a:spcPts val="0"/>
                        </a:spcAft>
                        <a:buClr>
                          <a:schemeClr val="dk1"/>
                        </a:buClr>
                        <a:buFont typeface="Arial"/>
                        <a:buNone/>
                      </a:pPr>
                      <a:r>
                        <a:rPr lang="en-US" sz="950">
                          <a:solidFill>
                            <a:srgbClr val="262626"/>
                          </a:solidFill>
                        </a:rPr>
                        <a:t>Scoped</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12</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FI Derivatives — Options</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9</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9</a:t>
                      </a:r>
                      <a:endParaRPr/>
                    </a:p>
                  </a:txBody>
                  <a:tcPr marT="12700" marB="12700" marR="91450" marL="91450"/>
                </a:tc>
                <a:tc>
                  <a:txBody>
                    <a:bodyPr/>
                    <a:lstStyle/>
                    <a:p>
                      <a:pPr indent="0" lvl="0" marL="0" rtl="0" algn="l">
                        <a:spcBef>
                          <a:spcPts val="0"/>
                        </a:spcBef>
                        <a:spcAft>
                          <a:spcPts val="0"/>
                        </a:spcAft>
                        <a:buClr>
                          <a:schemeClr val="dk1"/>
                        </a:buClr>
                        <a:buFont typeface="Arial"/>
                        <a:buNone/>
                      </a:pPr>
                      <a:r>
                        <a:rPr lang="en-US" sz="950">
                          <a:solidFill>
                            <a:srgbClr val="262626"/>
                          </a:solidFill>
                        </a:rPr>
                        <a:t>Scoped</a:t>
                      </a:r>
                      <a:endParaRPr/>
                    </a:p>
                  </a:txBody>
                  <a:tcPr marT="12700" marB="12700" marR="91450" marL="91450"/>
                </a:tc>
              </a:tr>
              <a:tr h="214875">
                <a:tc>
                  <a:txBody>
                    <a:bodyPr/>
                    <a:lstStyle/>
                    <a:p>
                      <a:pPr indent="0" lvl="0" marL="0" marR="0" rtl="0" algn="r">
                        <a:spcBef>
                          <a:spcPts val="0"/>
                        </a:spcBef>
                        <a:spcAft>
                          <a:spcPts val="0"/>
                        </a:spcAft>
                        <a:buNone/>
                      </a:pPr>
                      <a:r>
                        <a:rPr b="0" lang="en-US" sz="950" u="none" cap="none" strike="noStrike">
                          <a:solidFill>
                            <a:srgbClr val="262626"/>
                          </a:solidFill>
                        </a:rPr>
                        <a:t>13</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Other Fixed Income</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a:t>
                      </a:r>
                      <a:endParaRPr/>
                    </a:p>
                  </a:txBody>
                  <a:tcPr marT="12700" marB="12700" marR="91450" marL="91450"/>
                </a:tc>
                <a:tc>
                  <a:txBody>
                    <a:bodyPr/>
                    <a:lstStyle/>
                    <a:p>
                      <a:pPr indent="0" lvl="0" marL="0" marR="0" rtl="0" algn="r">
                        <a:spcBef>
                          <a:spcPts val="0"/>
                        </a:spcBef>
                        <a:spcAft>
                          <a:spcPts val="0"/>
                        </a:spcAft>
                        <a:buNone/>
                      </a:pPr>
                      <a:r>
                        <a:rPr b="0" lang="en-US" sz="950" u="none" cap="none" strike="noStrike">
                          <a:solidFill>
                            <a:srgbClr val="262626"/>
                          </a:solidFill>
                        </a:rPr>
                        <a:t>1</a:t>
                      </a:r>
                      <a:endParaRPr/>
                    </a:p>
                  </a:txBody>
                  <a:tcPr marT="12700" marB="12700" marR="91450" marL="91450"/>
                </a:tc>
                <a:tc>
                  <a:txBody>
                    <a:bodyPr/>
                    <a:lstStyle/>
                    <a:p>
                      <a:pPr indent="0" lvl="0" marL="0" marR="0" rtl="0" algn="l">
                        <a:spcBef>
                          <a:spcPts val="0"/>
                        </a:spcBef>
                        <a:spcAft>
                          <a:spcPts val="0"/>
                        </a:spcAft>
                        <a:buNone/>
                      </a:pPr>
                      <a:r>
                        <a:rPr b="0" lang="en-US" sz="950" u="none" cap="none" strike="noStrike">
                          <a:solidFill>
                            <a:srgbClr val="262626"/>
                          </a:solidFill>
                        </a:rPr>
                        <a:t>Out of scope</a:t>
                      </a:r>
                      <a:endParaRPr/>
                    </a:p>
                  </a:txBody>
                  <a:tcPr marT="12700" marB="12700" marR="91450" marL="91450"/>
                </a:tc>
              </a:tr>
              <a:tr h="214875">
                <a:tc>
                  <a:txBody>
                    <a:bodyPr/>
                    <a:lstStyle/>
                    <a:p>
                      <a:pPr indent="0" lvl="0" marL="0" marR="0" rtl="0" algn="r">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12700" marB="12700" marR="91450" marL="91450"/>
                </a:tc>
                <a:tc>
                  <a:txBody>
                    <a:bodyPr/>
                    <a:lstStyle/>
                    <a:p>
                      <a:pPr indent="0" lvl="0" marL="0" marR="0" rtl="0" algn="l">
                        <a:spcBef>
                          <a:spcPts val="0"/>
                        </a:spcBef>
                        <a:spcAft>
                          <a:spcPts val="0"/>
                        </a:spcAft>
                        <a:buNone/>
                      </a:pPr>
                      <a:r>
                        <a:rPr b="1" lang="en-US" sz="950" u="none" cap="none" strike="noStrike">
                          <a:solidFill>
                            <a:srgbClr val="262626"/>
                          </a:solidFill>
                        </a:rPr>
                        <a:t>Total</a:t>
                      </a:r>
                      <a:endParaRPr/>
                    </a:p>
                  </a:txBody>
                  <a:tcPr marT="12700" marB="12700" marR="91450" marL="91450"/>
                </a:tc>
                <a:tc>
                  <a:txBody>
                    <a:bodyPr/>
                    <a:lstStyle/>
                    <a:p>
                      <a:pPr indent="0" lvl="0" marL="0" marR="0" rtl="0" algn="r">
                        <a:spcBef>
                          <a:spcPts val="0"/>
                        </a:spcBef>
                        <a:spcAft>
                          <a:spcPts val="0"/>
                        </a:spcAft>
                        <a:buNone/>
                      </a:pPr>
                      <a:r>
                        <a:rPr b="1" lang="en-US" sz="950" u="none" cap="none" strike="noStrike">
                          <a:solidFill>
                            <a:srgbClr val="262626"/>
                          </a:solidFill>
                        </a:rPr>
                        <a:t>2,366</a:t>
                      </a:r>
                      <a:endParaRPr/>
                    </a:p>
                  </a:txBody>
                  <a:tcPr marT="12700" marB="12700" marR="91450" marL="91450"/>
                </a:tc>
                <a:tc>
                  <a:txBody>
                    <a:bodyPr/>
                    <a:lstStyle/>
                    <a:p>
                      <a:pPr indent="0" lvl="0" marL="0" marR="0" rtl="0" algn="r">
                        <a:spcBef>
                          <a:spcPts val="0"/>
                        </a:spcBef>
                        <a:spcAft>
                          <a:spcPts val="0"/>
                        </a:spcAft>
                        <a:buNone/>
                      </a:pPr>
                      <a:r>
                        <a:rPr b="1" lang="en-US" sz="950" u="none" cap="none" strike="noStrike">
                          <a:solidFill>
                            <a:srgbClr val="262626"/>
                          </a:solidFill>
                        </a:rPr>
                        <a:t>2,260</a:t>
                      </a:r>
                      <a:endParaRPr/>
                    </a:p>
                  </a:txBody>
                  <a:tcPr marT="12700" marB="12700" marR="91450" marL="91450"/>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12700" marB="12700"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nvSpPr>
        <p:spPr>
          <a:xfrm>
            <a:off x="502920" y="310896"/>
            <a:ext cx="8138100" cy="44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How do we know the numbers are right</a:t>
            </a:r>
            <a:endParaRPr/>
          </a:p>
        </p:txBody>
      </p:sp>
      <p:sp>
        <p:nvSpPr>
          <p:cNvPr id="136" name="Google Shape;136;p8"/>
          <p:cNvSpPr txBox="1"/>
          <p:nvPr/>
        </p:nvSpPr>
        <p:spPr>
          <a:xfrm>
            <a:off x="502920" y="1078992"/>
            <a:ext cx="8138100" cy="235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S</a:t>
            </a:r>
            <a:r>
              <a:rPr b="1" i="0" lang="en-US" sz="1300" u="none" cap="none" strike="noStrike">
                <a:solidFill>
                  <a:srgbClr val="262626"/>
                </a:solidFill>
                <a:latin typeface="Calibri"/>
                <a:ea typeface="Calibri"/>
                <a:cs typeface="Calibri"/>
                <a:sym typeface="Calibri"/>
              </a:rPr>
              <a:t>anity check</a:t>
            </a:r>
            <a:endParaRPr b="1" sz="1300">
              <a:solidFill>
                <a:srgbClr val="262626"/>
              </a:solidFill>
              <a:latin typeface="Calibri"/>
              <a:ea typeface="Calibri"/>
              <a:cs typeface="Calibri"/>
              <a:sym typeface="Calibri"/>
            </a:endParaRPr>
          </a:p>
          <a:p>
            <a:pPr indent="-311150" lvl="0" marL="457200" marR="0" rtl="0" algn="l">
              <a:spcBef>
                <a:spcPts val="0"/>
              </a:spcBef>
              <a:spcAft>
                <a:spcPts val="0"/>
              </a:spcAft>
              <a:buClr>
                <a:srgbClr val="262626"/>
              </a:buClr>
              <a:buSzPts val="1300"/>
              <a:buFont typeface="Calibri"/>
              <a:buChar char="●"/>
            </a:pPr>
            <a:r>
              <a:rPr b="1" lang="en-US" sz="1300">
                <a:solidFill>
                  <a:srgbClr val="262626"/>
                </a:solidFill>
                <a:latin typeface="Calibri"/>
                <a:ea typeface="Calibri"/>
                <a:cs typeface="Calibri"/>
                <a:sym typeface="Calibri"/>
              </a:rPr>
              <a:t>For a government's own bond, there should be no spread</a:t>
            </a:r>
            <a:r>
              <a:rPr b="1" lang="en-US" sz="1300">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 it is the government curve</a:t>
            </a:r>
            <a:r>
              <a:rPr b="0" i="0" lang="en-US" sz="1300" u="none" cap="none" strike="noStrike">
                <a:solidFill>
                  <a:srgbClr val="262626"/>
                </a:solidFill>
                <a:latin typeface="Calibri"/>
                <a:ea typeface="Calibri"/>
                <a:cs typeface="Calibri"/>
                <a:sym typeface="Calibri"/>
              </a:rPr>
              <a:t> </a:t>
            </a:r>
            <a:endParaRPr b="0" i="0" sz="1300" u="none" cap="none" strike="noStrike">
              <a:solidFill>
                <a:srgbClr val="262626"/>
              </a:solidFill>
              <a:latin typeface="Calibri"/>
              <a:ea typeface="Calibri"/>
              <a:cs typeface="Calibri"/>
              <a:sym typeface="Calibri"/>
            </a:endParaRPr>
          </a:p>
          <a:p>
            <a:pPr indent="-311150" lvl="1" marL="914400" marR="0" rtl="0" algn="l">
              <a:spcBef>
                <a:spcPts val="0"/>
              </a:spcBef>
              <a:spcAft>
                <a:spcPts val="0"/>
              </a:spcAft>
              <a:buClr>
                <a:srgbClr val="262626"/>
              </a:buClr>
              <a:buSzPts val="1300"/>
              <a:buFont typeface="Calibri"/>
              <a:buChar char="○"/>
            </a:pPr>
            <a:r>
              <a:rPr i="0" lang="en-US" sz="1300" u="none" cap="none" strike="noStrike">
                <a:solidFill>
                  <a:srgbClr val="262626"/>
                </a:solidFill>
                <a:latin typeface="Calibri"/>
                <a:ea typeface="Calibri"/>
                <a:cs typeface="Calibri"/>
                <a:sym typeface="Calibri"/>
              </a:rPr>
              <a:t>Japan's come out at 0.0 basis points, the UK's at 4.4 — the ther</a:t>
            </a:r>
            <a:r>
              <a:rPr b="0" i="0" lang="en-US" sz="1300" u="none" cap="none" strike="noStrike">
                <a:solidFill>
                  <a:srgbClr val="262626"/>
                </a:solidFill>
                <a:latin typeface="Calibri"/>
                <a:ea typeface="Calibri"/>
                <a:cs typeface="Calibri"/>
                <a:sym typeface="Calibri"/>
              </a:rPr>
              <a:t>mometer reads right in ice water</a:t>
            </a:r>
            <a:endParaRPr/>
          </a:p>
          <a:p>
            <a:pPr indent="0" lvl="0" marL="0" marR="0" rtl="0" algn="l">
              <a:spcBef>
                <a:spcPts val="900"/>
              </a:spcBef>
              <a:spcAft>
                <a:spcPts val="0"/>
              </a:spcAft>
              <a:buNone/>
            </a:pPr>
            <a:r>
              <a:rPr b="1" lang="en-US" sz="1300">
                <a:solidFill>
                  <a:srgbClr val="262626"/>
                </a:solidFill>
                <a:latin typeface="Calibri"/>
                <a:ea typeface="Calibri"/>
                <a:cs typeface="Calibri"/>
                <a:sym typeface="Calibri"/>
              </a:rPr>
              <a:t>•  Independent check against an outsid</a:t>
            </a:r>
            <a:r>
              <a:rPr b="1" i="0" lang="en-US" sz="1300" u="none" cap="none" strike="noStrike">
                <a:solidFill>
                  <a:srgbClr val="262626"/>
                </a:solidFill>
                <a:latin typeface="Calibri"/>
                <a:ea typeface="Calibri"/>
                <a:cs typeface="Calibri"/>
                <a:sym typeface="Calibri"/>
              </a:rPr>
              <a:t>e so</a:t>
            </a:r>
            <a:r>
              <a:rPr b="1" i="0" lang="en-US" sz="1300" u="none" cap="none" strike="noStrike">
                <a:solidFill>
                  <a:srgbClr val="262626"/>
                </a:solidFill>
                <a:latin typeface="Calibri"/>
                <a:ea typeface="Calibri"/>
                <a:cs typeface="Calibri"/>
                <a:sym typeface="Calibri"/>
              </a:rPr>
              <a:t>urce</a:t>
            </a:r>
            <a:endParaRPr b="1" i="0" sz="1300" u="none" cap="none" strike="noStrike">
              <a:solidFill>
                <a:srgbClr val="262626"/>
              </a:solidFill>
              <a:latin typeface="Calibri"/>
              <a:ea typeface="Calibri"/>
              <a:cs typeface="Calibri"/>
              <a:sym typeface="Calibri"/>
            </a:endParaRPr>
          </a:p>
          <a:p>
            <a:pPr indent="-311150" lvl="0" marL="457200" marR="0" rtl="0" algn="l">
              <a:spcBef>
                <a:spcPts val="900"/>
              </a:spcBef>
              <a:spcAft>
                <a:spcPts val="0"/>
              </a:spcAft>
              <a:buClr>
                <a:srgbClr val="262626"/>
              </a:buClr>
              <a:buSzPts val="1300"/>
              <a:buFont typeface="Calibri"/>
              <a:buChar char="●"/>
            </a:pPr>
            <a:r>
              <a:rPr lang="en-US" sz="1300">
                <a:solidFill>
                  <a:srgbClr val="262626"/>
                </a:solidFill>
                <a:latin typeface="Calibri"/>
                <a:ea typeface="Calibri"/>
                <a:cs typeface="Calibri"/>
                <a:sym typeface="Calibri"/>
              </a:rPr>
              <a:t>Where the client's custodian independently reports a risk figure, our system agrees — four of five agency bonds, with sensitivities of one to nine years, match within 0.75 years.</a:t>
            </a:r>
            <a:endParaRPr/>
          </a:p>
          <a:p>
            <a:pPr indent="0" lvl="0" marL="0" marR="0" rtl="0" algn="l">
              <a:spcBef>
                <a:spcPts val="900"/>
              </a:spcBef>
              <a:spcAft>
                <a:spcPts val="0"/>
              </a:spcAft>
              <a:buNone/>
            </a:pPr>
            <a:r>
              <a:rPr b="1" i="0" lang="en-US" sz="1300" u="none" cap="none" strike="noStrike">
                <a:solidFill>
                  <a:srgbClr val="262626"/>
                </a:solidFill>
                <a:latin typeface="Calibri"/>
                <a:ea typeface="Calibri"/>
                <a:cs typeface="Calibri"/>
                <a:sym typeface="Calibri"/>
              </a:rPr>
              <a:t>•  </a:t>
            </a:r>
            <a:r>
              <a:rPr b="1" lang="en-US" sz="1300">
                <a:solidFill>
                  <a:srgbClr val="262626"/>
                </a:solidFill>
                <a:latin typeface="Calibri"/>
                <a:ea typeface="Calibri"/>
                <a:cs typeface="Calibri"/>
                <a:sym typeface="Calibri"/>
              </a:rPr>
              <a:t>V</a:t>
            </a:r>
            <a:r>
              <a:rPr b="1" i="0" lang="en-US" sz="1300" u="none" cap="none" strike="noStrike">
                <a:solidFill>
                  <a:srgbClr val="262626"/>
                </a:solidFill>
                <a:latin typeface="Calibri"/>
                <a:ea typeface="Calibri"/>
                <a:cs typeface="Calibri"/>
                <a:sym typeface="Calibri"/>
              </a:rPr>
              <a:t>alidation check</a:t>
            </a:r>
            <a:endParaRPr b="1" i="0" sz="1300" u="none" cap="none" strike="noStrike">
              <a:solidFill>
                <a:srgbClr val="262626"/>
              </a:solidFill>
              <a:latin typeface="Calibri"/>
              <a:ea typeface="Calibri"/>
              <a:cs typeface="Calibri"/>
              <a:sym typeface="Calibri"/>
            </a:endParaRPr>
          </a:p>
          <a:p>
            <a:pPr indent="-311150" lvl="0" marL="457200" marR="0" rtl="0" algn="l">
              <a:spcBef>
                <a:spcPts val="900"/>
              </a:spcBef>
              <a:spcAft>
                <a:spcPts val="0"/>
              </a:spcAft>
              <a:buClr>
                <a:srgbClr val="262626"/>
              </a:buClr>
              <a:buSzPts val="1300"/>
              <a:buFont typeface="Calibri"/>
              <a:buChar char="●"/>
            </a:pPr>
            <a:r>
              <a:rPr lang="en-US" sz="1300">
                <a:solidFill>
                  <a:srgbClr val="262626"/>
                </a:solidFill>
                <a:latin typeface="Calibri"/>
                <a:ea typeface="Calibri"/>
                <a:cs typeface="Calibri"/>
                <a:sym typeface="Calibri"/>
              </a:rPr>
              <a:t>We rebuilt the client's inflation adjustments from published government data: thirteen US inflation-linked bonds, matching to six parts in a million.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nvSpPr>
        <p:spPr>
          <a:xfrm>
            <a:off x="502920" y="310896"/>
            <a:ext cx="81381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300" u="none" cap="none" strike="noStrike">
                <a:solidFill>
                  <a:srgbClr val="1F4E79"/>
                </a:solidFill>
                <a:latin typeface="Calibri"/>
                <a:ea typeface="Calibri"/>
                <a:cs typeface="Calibri"/>
                <a:sym typeface="Calibri"/>
              </a:rPr>
              <a:t>What's next</a:t>
            </a:r>
            <a:endParaRPr/>
          </a:p>
        </p:txBody>
      </p:sp>
      <p:sp>
        <p:nvSpPr>
          <p:cNvPr id="143" name="Google Shape;143;p9"/>
          <p:cNvSpPr txBox="1"/>
          <p:nvPr/>
        </p:nvSpPr>
        <p:spPr>
          <a:xfrm>
            <a:off x="502920" y="1078992"/>
            <a:ext cx="8138160" cy="38816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The mortgage-backed book</a:t>
            </a:r>
            <a:r>
              <a:rPr b="0" i="0" lang="en-US" sz="1300" u="none" cap="none" strike="noStrike">
                <a:solidFill>
                  <a:srgbClr val="262626"/>
                </a:solidFill>
                <a:latin typeface="Calibri"/>
                <a:ea typeface="Calibri"/>
                <a:cs typeface="Calibri"/>
                <a:sym typeface="Calibri"/>
              </a:rPr>
              <a:t> — the engine is built and tested; it needs terms data, not development</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The three remaining pooled classes</a:t>
            </a:r>
            <a:r>
              <a:rPr b="0" i="0" lang="en-US" sz="1300" u="none" cap="none" strike="noStrike">
                <a:solidFill>
                  <a:srgbClr val="262626"/>
                </a:solidFill>
                <a:latin typeface="Calibri"/>
                <a:ea typeface="Calibri"/>
                <a:cs typeface="Calibri"/>
                <a:sym typeface="Calibri"/>
              </a:rPr>
              <a:t> — scoped, and each reuses machinery that already exists</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Running it as a hosted service, then in parallel</a:t>
            </a:r>
            <a:r>
              <a:rPr b="0" i="0" lang="en-US" sz="1300" u="none" cap="none" strike="noStrike">
                <a:solidFill>
                  <a:srgbClr val="262626"/>
                </a:solidFill>
                <a:latin typeface="Calibri"/>
                <a:ea typeface="Calibri"/>
                <a:cs typeface="Calibri"/>
                <a:sym typeface="Calibri"/>
              </a:rPr>
              <a:t> — with Ryse's engineer. The interface is already one request in, one answer out, and exactly one file knows about its environment, so this is defined work rather than a rewrite. It is the step that turns forty seconds into a thousand scenarios</a:t>
            </a:r>
            <a:endParaRPr/>
          </a:p>
          <a:p>
            <a:pPr indent="0" lvl="0" marL="0" marR="0" rtl="0" algn="l">
              <a:spcBef>
                <a:spcPts val="900"/>
              </a:spcBef>
              <a:spcAft>
                <a:spcPts val="0"/>
              </a:spcAft>
              <a:buNone/>
            </a:pPr>
            <a:r>
              <a:rPr b="0" i="0" lang="en-US" sz="1300" u="none" cap="none" strike="noStrike">
                <a:solidFill>
                  <a:srgbClr val="262626"/>
                </a:solidFill>
                <a:latin typeface="Calibri"/>
                <a:ea typeface="Calibri"/>
                <a:cs typeface="Calibri"/>
                <a:sym typeface="Calibri"/>
              </a:rPr>
              <a:t>•  </a:t>
            </a:r>
            <a:r>
              <a:rPr b="1" i="0" lang="en-US" sz="1300" u="none" cap="none" strike="noStrike">
                <a:solidFill>
                  <a:srgbClr val="262626"/>
                </a:solidFill>
                <a:latin typeface="Calibri"/>
                <a:ea typeface="Calibri"/>
                <a:cs typeface="Calibri"/>
                <a:sym typeface="Calibri"/>
              </a:rPr>
              <a:t>The portfolio risk layer</a:t>
            </a:r>
            <a:r>
              <a:rPr b="0" i="0" lang="en-US" sz="1300" u="none" cap="none" strike="noStrike">
                <a:solidFill>
                  <a:srgbClr val="262626"/>
                </a:solidFill>
                <a:latin typeface="Calibri"/>
                <a:ea typeface="Calibri"/>
                <a:cs typeface="Calibri"/>
                <a:sym typeface="Calibri"/>
              </a:rPr>
              <a:t> — last, once coverage is complete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