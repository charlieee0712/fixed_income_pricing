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Complete</c:v>
                </c:pt>
              </c:strCache>
            </c:strRef>
          </c:tx>
          <c:spPr>
            <a:solidFill>
              <a:srgbClr val="1F4E79"/>
            </a:solidFill>
          </c:spPr>
          <c:dLbls>
            <c:numFmt formatCode="#,##0" sourceLinked="0"/>
            <c:txPr>
              <a:bodyPr/>
              <a:lstStyle/>
              <a:p>
                <a:pPr>
                  <a:defRPr sz="1200" b="1">
                    <a:solidFill>
                      <a:srgbClr val="FFFFFF"/>
                    </a:solidFill>
                  </a:defRPr>
                </a:pPr>
              </a:p>
            </c:txPr>
            <c:showLegendKey val="0"/>
            <c:showVal val="0"/>
            <c:showCatName val="0"/>
            <c:showSerName val="0"/>
            <c:showPercent val="0"/>
            <c:showBubbleSize val="0"/>
            <c:showLeaderLines val="1"/>
          </c:dLbls>
          <c:cat>
            <c:strRef>
              <c:f>Sheet1!$A$2:$A$2</c:f>
              <c:strCache>
                <c:ptCount val="1"/>
                <c:pt idx="0">
                  <c:v/>
                </c:pt>
              </c:strCache>
            </c:strRef>
          </c:cat>
          <c:val>
            <c:numRef>
              <c:f>Sheet1!$B$2:$B$2</c:f>
              <c:numCache>
                <c:formatCode>General</c:formatCode>
                <c:ptCount val="1"/>
                <c:pt idx="0">
                  <c:v>949</c:v>
                </c:pt>
              </c:numCache>
            </c:numRef>
          </c:val>
        </c:ser>
        <c:ser>
          <c:idx val="1"/>
          <c:order val="1"/>
          <c:tx>
            <c:strRef>
              <c:f>Sheet1!$C$1</c:f>
              <c:strCache>
                <c:ptCount val="1"/>
                <c:pt idx="0">
                  <c:v>Engine built — next</c:v>
                </c:pt>
              </c:strCache>
            </c:strRef>
          </c:tx>
          <c:spPr>
            <a:solidFill>
              <a:srgbClr val="D68910"/>
            </a:solidFill>
          </c:spPr>
          <c:dLbls>
            <c:numFmt formatCode="#,##0" sourceLinked="0"/>
            <c:txPr>
              <a:bodyPr/>
              <a:lstStyle/>
              <a:p>
                <a:pPr>
                  <a:defRPr sz="1200" b="1">
                    <a:solidFill>
                      <a:srgbClr val="FFFFFF"/>
                    </a:solidFill>
                  </a:defRPr>
                </a:pPr>
              </a:p>
            </c:txPr>
            <c:showLegendKey val="0"/>
            <c:showVal val="0"/>
            <c:showCatName val="0"/>
            <c:showSerName val="0"/>
            <c:showPercent val="0"/>
            <c:showBubbleSize val="0"/>
            <c:showLeaderLines val="1"/>
          </c:dLbls>
          <c:cat>
            <c:strRef>
              <c:f>Sheet1!$A$2:$A$2</c:f>
              <c:strCache>
                <c:ptCount val="1"/>
                <c:pt idx="0">
                  <c:v/>
                </c:pt>
              </c:strCache>
            </c:strRef>
          </c:cat>
          <c:val>
            <c:numRef>
              <c:f>Sheet1!$C$2:$C$2</c:f>
              <c:numCache>
                <c:formatCode>General</c:formatCode>
                <c:ptCount val="1"/>
                <c:pt idx="0">
                  <c:v>882</c:v>
                </c:pt>
              </c:numCache>
            </c:numRef>
          </c:val>
        </c:ser>
        <c:ser>
          <c:idx val="2"/>
          <c:order val="2"/>
          <c:tx>
            <c:strRef>
              <c:f>Sheet1!$D$1</c:f>
              <c:strCache>
                <c:ptCount val="1"/>
                <c:pt idx="0">
                  <c:v>Scoped, not started</c:v>
                </c:pt>
              </c:strCache>
            </c:strRef>
          </c:tx>
          <c:spPr>
            <a:solidFill>
              <a:srgbClr val="9E9E9E"/>
            </a:solidFill>
          </c:spPr>
          <c:dLbls>
            <c:numFmt formatCode="#,##0" sourceLinked="0"/>
            <c:txPr>
              <a:bodyPr/>
              <a:lstStyle/>
              <a:p>
                <a:pPr>
                  <a:defRPr sz="1200" b="1">
                    <a:solidFill>
                      <a:srgbClr val="FFFFFF"/>
                    </a:solidFill>
                  </a:defRPr>
                </a:pPr>
              </a:p>
            </c:txPr>
            <c:showLegendKey val="0"/>
            <c:showVal val="0"/>
            <c:showCatName val="0"/>
            <c:showSerName val="0"/>
            <c:showPercent val="0"/>
            <c:showBubbleSize val="0"/>
            <c:showLeaderLines val="1"/>
          </c:dLbls>
          <c:cat>
            <c:strRef>
              <c:f>Sheet1!$A$2:$A$2</c:f>
              <c:strCache>
                <c:ptCount val="1"/>
                <c:pt idx="0">
                  <c:v/>
                </c:pt>
              </c:strCache>
            </c:strRef>
          </c:cat>
          <c:val>
            <c:numRef>
              <c:f>Sheet1!$D$2:$D$2</c:f>
              <c:numCache>
                <c:formatCode>General</c:formatCode>
                <c:ptCount val="1"/>
                <c:pt idx="0">
                  <c:v>412</c:v>
                </c:pt>
              </c:numCache>
            </c:numRef>
          </c:val>
        </c:ser>
        <c:ser>
          <c:idx val="3"/>
          <c:order val="3"/>
          <c:tx>
            <c:strRef>
              <c:f>Sheet1!$E$1</c:f>
              <c:strCache>
                <c:ptCount val="1"/>
                <c:pt idx="0">
                  <c:v>Out of scope</c:v>
                </c:pt>
              </c:strCache>
            </c:strRef>
          </c:tx>
          <c:spPr>
            <a:solidFill>
              <a:srgbClr val="D9D9D9"/>
            </a:solidFill>
          </c:spPr>
          <c:cat>
            <c:strRef>
              <c:f>Sheet1!$A$2:$A$2</c:f>
              <c:strCache>
                <c:ptCount val="1"/>
                <c:pt idx="0">
                  <c:v/>
                </c:pt>
              </c:strCache>
            </c:strRef>
          </c:cat>
          <c:val>
            <c:numRef>
              <c:f>Sheet1!$E$2:$E$2</c:f>
              <c:numCache>
                <c:formatCode>General</c:formatCode>
                <c:ptCount val="1"/>
                <c:pt idx="0">
                  <c:v>17</c:v>
                </c:pt>
              </c:numCache>
            </c:numRef>
          </c:val>
        </c:ser>
        <c:gapWidth val="40"/>
        <c:overlap val="100"/>
        <c:axId val="-2068027336"/>
        <c:axId val="-2113994440"/>
      </c:barChart>
      <c:catAx>
        <c:axId val="-2068027336"/>
        <c:scaling>
          <c:orientation val="minMax"/>
        </c:scaling>
        <c:delete/>
        <c:axPos val="l"/>
        <c:majorTickMark val="out"/>
        <c:minorTickMark val="none"/>
        <c:tickLblPos val="nextTo"/>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No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definition of done, and they are in order of dependency: you cannot parallelise what you cannot reproduce, and you cannot trust a scenario engine whose base case nobody can check. The third bullet is the commercial one — it is the capability that does not exist today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forty seconds is the number that makes the goal arithmetic rather than aspirational. A thousand scenarios is a thousand times forty seconds divided by however many machines you run it on — that is a capacity question, and capacity is something you can buy. It was not a capacity question before.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because the client's own Summary sheet counts lines and we count securities, and the two differ: a bond held by two managers appears on two lines. Lines reconcile against their sheet exactly — 2,366 — and securities are what a pricing question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three uses anything we control — that is the point, we are not grading our own homework, and the last two are checked against a live institutional portfolio's own records rather than a test file. The third one also found something nobody knew: those records are struck one day after the valuation date. Small, and it had been invisible for months. If anyone asks for the populations: the zero test is over bonds priced on their own government's curve — eleven Japanese, twelve UK with the under-one-year bonds excluded, the same rule every median in this project uses. The duration comparison is the five agency bonds that carry an early-repayment right, which are the only ones where the custodian's number and ours are measuring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the pooled classes are genuine remaining engineering, not a data problem. What makes them tractable is that the hard parts — the cash-flow machinery, the option model, the market-data plumbing — are built and proven on the 766 we already price.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runs on spreadsheets — roughly </a:t>
            </a:r>
            <a:r>
              <a:rPr sz="1300" b="1">
                <a:solidFill>
                  <a:srgbClr val="262626"/>
                </a:solidFill>
              </a:rPr>
              <a:t>14,000 lines of Visual Basic</a:t>
            </a:r>
            <a:r>
              <a:rPr sz="1300" b="0">
                <a:solidFill>
                  <a:srgbClr val="262626"/>
                </a:solidFill>
              </a:rPr>
              <a:t> grown over years, which only a handful of people can run or change</a:t>
            </a:r>
          </a:p>
          <a:p>
            <a:pPr>
              <a:spcAft>
                <a:spcPts val="900"/>
              </a:spcAft>
            </a:pPr>
            <a:r>
              <a:rPr sz="1300" b="0">
                <a:solidFill>
                  <a:srgbClr val="262626"/>
                </a:solidFill>
              </a:rPr>
              <a:t>•  </a:t>
            </a:r>
            <a:r>
              <a:rPr sz="1300" b="1">
                <a:solidFill>
                  <a:srgbClr val="262626"/>
                </a:solidFill>
              </a:rPr>
              <a:t>A single result takes minutes.</a:t>
            </a:r>
            <a:r>
              <a:rPr sz="1300" b="0">
                <a:solidFill>
                  <a:srgbClr val="262626"/>
                </a:solidFill>
              </a:rPr>
              <a:t> A what-if analysis needs a thousand of them, so scenario work and Monte Carlo are effectively out of reach</a:t>
            </a:r>
          </a:p>
          <a:p>
            <a:pPr>
              <a:spcAft>
                <a:spcPts val="900"/>
              </a:spcAft>
            </a:pPr>
            <a:r>
              <a:rPr sz="1300" b="0">
                <a:solidFill>
                  <a:srgbClr val="262626"/>
                </a:solidFill>
              </a:rPr>
              <a:t>•  Nothing in a spreadsheet can be </a:t>
            </a:r>
            <a:r>
              <a:rPr sz="1300" b="1">
                <a:solidFill>
                  <a:srgbClr val="262626"/>
                </a:solidFill>
              </a:rPr>
              <a:t>tested</a:t>
            </a:r>
            <a:r>
              <a:rPr sz="1300" b="0">
                <a:solidFill>
                  <a:srgbClr val="262626"/>
                </a:solidFill>
              </a:rPr>
              <a:t>: there is no mechanical way to know that a change has broken a number</a:t>
            </a:r>
          </a:p>
          <a:p>
            <a:pPr>
              <a:spcAft>
                <a:spcPts val="900"/>
              </a:spcAft>
            </a:pPr>
            <a:r>
              <a:rPr sz="1300" b="0">
                <a:solidFill>
                  <a:srgbClr val="262626"/>
                </a:solidFill>
              </a:rPr>
              <a:t>•  The knowledge lives in the sheets and in the few people who know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One system prices every instrument class in the book</a:t>
            </a:r>
            <a:r>
              <a:rPr sz="1300" b="0">
                <a:solidFill>
                  <a:srgbClr val="262626"/>
                </a:solidFill>
              </a:rPr>
              <a:t>, from a single entry point</a:t>
            </a:r>
          </a:p>
          <a:p>
            <a:pPr>
              <a:spcAft>
                <a:spcPts val="900"/>
              </a:spcAft>
            </a:pPr>
            <a:r>
              <a:rPr sz="1300" b="0">
                <a:solidFill>
                  <a:srgbClr val="262626"/>
                </a:solidFill>
              </a:rPr>
              <a:t>•  </a:t>
            </a:r>
            <a:r>
              <a:rPr sz="1300" b="1">
                <a:solidFill>
                  <a:srgbClr val="262626"/>
                </a:solidFill>
              </a:rPr>
              <a:t>Results are reproducible and testable</a:t>
            </a:r>
            <a:r>
              <a:rPr sz="1300" b="0">
                <a:solidFill>
                  <a:srgbClr val="262626"/>
                </a:solidFill>
              </a:rPr>
              <a:t> — a change that moves a number is caught mechanically, not by eye</a:t>
            </a:r>
          </a:p>
          <a:p>
            <a:pPr>
              <a:spcAft>
                <a:spcPts val="900"/>
              </a:spcAft>
            </a:pPr>
            <a:r>
              <a:rPr sz="1300" b="0">
                <a:solidFill>
                  <a:srgbClr val="262626"/>
                </a:solidFill>
              </a:rPr>
              <a:t>•  </a:t>
            </a:r>
            <a:r>
              <a:rPr sz="1300" b="1">
                <a:solidFill>
                  <a:srgbClr val="262626"/>
                </a:solidFill>
              </a:rPr>
              <a:t>It runs on cloud, in parallel</a:t>
            </a:r>
            <a:r>
              <a:rPr sz="1300" b="0">
                <a:solidFill>
                  <a:srgbClr val="262626"/>
                </a:solidFill>
              </a:rPr>
              <a:t>, so a thousand-scenario what-if finishes in minutes instead of being impossible</a:t>
            </a:r>
          </a:p>
          <a:p>
            <a:pPr>
              <a:spcAft>
                <a:spcPts val="900"/>
              </a:spcAft>
            </a:pPr>
            <a:r>
              <a:rPr sz="1300" b="0">
                <a:solidFill>
                  <a:srgbClr val="262626"/>
                </a:solidFill>
              </a:rPr>
              <a:t>•  </a:t>
            </a:r>
            <a:r>
              <a:rPr sz="1300" b="1">
                <a:solidFill>
                  <a:srgbClr val="262626"/>
                </a:solidFill>
              </a:rPr>
              <a:t>A portfolio-level risk layer on top</a:t>
            </a:r>
            <a:r>
              <a:rPr sz="1300" b="0">
                <a:solidFill>
                  <a:srgbClr val="262626"/>
                </a:solidFill>
              </a:rPr>
              <a:t> — in the original brief, after coverage is complete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Six of the thirteen categories are complete</a:t>
            </a:r>
            <a:r>
              <a:rPr sz="1300" b="0">
                <a:solidFill>
                  <a:srgbClr val="262626"/>
                </a:solidFill>
              </a:rPr>
              <a:t> — 949 securities, 766 of them carrying our own price</a:t>
            </a:r>
          </a:p>
          <a:p>
            <a:pPr>
              <a:spcAft>
                <a:spcPts val="900"/>
              </a:spcAft>
            </a:pPr>
            <a:r>
              <a:rPr sz="1300" b="0">
                <a:solidFill>
                  <a:srgbClr val="262626"/>
                </a:solidFill>
              </a:rPr>
              <a:t>•  </a:t>
            </a:r>
            <a:r>
              <a:rPr sz="1300" b="1">
                <a:solidFill>
                  <a:srgbClr val="262626"/>
                </a:solidFill>
              </a:rPr>
              <a:t>Every input and output is a JSON dictionary</a:t>
            </a:r>
            <a:r>
              <a:rPr sz="1300" b="0">
                <a:solidFill>
                  <a:srgbClr val="262626"/>
                </a:solidFill>
              </a:rPr>
              <a:t>, which is what makes parallel execution straightforward rather than a rewrite</a:t>
            </a:r>
          </a:p>
          <a:p>
            <a:pPr>
              <a:spcAft>
                <a:spcPts val="900"/>
              </a:spcAft>
            </a:pPr>
            <a:r>
              <a:rPr sz="1300" b="0">
                <a:solidFill>
                  <a:srgbClr val="262626"/>
                </a:solidFill>
              </a:rPr>
              <a:t>•  </a:t>
            </a:r>
            <a:r>
              <a:rPr sz="1300" b="1">
                <a:solidFill>
                  <a:srgbClr val="262626"/>
                </a:solidFill>
              </a:rPr>
              <a:t>The whole book revalues end to end on Azure in 40 seconds</a:t>
            </a:r>
            <a:r>
              <a:rPr sz="1300" b="0">
                <a:solidFill>
                  <a:srgbClr val="262626"/>
                </a:solidFill>
              </a:rPr>
              <a:t> — measured, on the free tier</a:t>
            </a:r>
          </a:p>
          <a:p>
            <a:pPr>
              <a:spcAft>
                <a:spcPts val="900"/>
              </a:spcAft>
            </a:pPr>
            <a:r>
              <a:rPr sz="1300" b="0">
                <a:solidFill>
                  <a:srgbClr val="262626"/>
                </a:solidFill>
              </a:rPr>
              <a:t>•  Next: the mortgage-backed book, then the parallel-computing work with Ryse's engineer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the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Takes a bond, that day's market rates, and the recorded price — and returns </a:t>
            </a:r>
            <a:r>
              <a:rPr sz="1300" b="1">
                <a:solidFill>
                  <a:srgbClr val="262626"/>
                </a:solidFill>
              </a:rPr>
              <a:t>what the market is charging that borrower, and how much the value moves when rates move</a:t>
            </a:r>
          </a:p>
          <a:p>
            <a:pPr>
              <a:spcAft>
                <a:spcPts val="900"/>
              </a:spcAft>
            </a:pPr>
            <a:r>
              <a:rPr sz="1300" b="0">
                <a:solidFill>
                  <a:srgbClr val="262626"/>
                </a:solidFill>
              </a:rPr>
              <a:t>•  Runs </a:t>
            </a:r>
            <a:r>
              <a:rPr sz="1300" b="1">
                <a:solidFill>
                  <a:srgbClr val="262626"/>
                </a:solidFill>
              </a:rPr>
              <a:t>from a spreadsheet</a:t>
            </a:r>
            <a:r>
              <a:rPr sz="1300" b="0">
                <a:solidFill>
                  <a:srgbClr val="262626"/>
                </a:solidFill>
              </a:rPr>
              <a:t>, from a command line, or as a service another system calls — the same answer from all three</a:t>
            </a:r>
          </a:p>
          <a:p>
            <a:pPr>
              <a:spcAft>
                <a:spcPts val="900"/>
              </a:spcAft>
            </a:pPr>
            <a:r>
              <a:rPr sz="1300" b="0">
                <a:solidFill>
                  <a:srgbClr val="262626"/>
                </a:solidFill>
              </a:rPr>
              <a:t>•  </a:t>
            </a:r>
            <a:r>
              <a:rPr sz="1300" b="1">
                <a:solidFill>
                  <a:srgbClr val="262626"/>
                </a:solidFill>
              </a:rPr>
              <a:t>Every result is reproducible</a:t>
            </a:r>
            <a:r>
              <a:rPr sz="1300" b="0">
                <a:solidFill>
                  <a:srgbClr val="262626"/>
                </a:solidFill>
              </a:rPr>
              <a:t>: run it again a month later and you get the identical file, to the byte</a:t>
            </a:r>
          </a:p>
          <a:p>
            <a:pPr>
              <a:spcAft>
                <a:spcPts val="900"/>
              </a:spcAft>
            </a:pPr>
            <a:r>
              <a:rPr sz="1300" b="0">
                <a:solidFill>
                  <a:srgbClr val="262626"/>
                </a:solidFill>
              </a:rPr>
              <a:t>•  We build and check against </a:t>
            </a:r>
            <a:r>
              <a:rPr sz="1300" b="1">
                <a:solidFill>
                  <a:srgbClr val="262626"/>
                </a:solidFill>
              </a:rPr>
              <a:t>a real client portfolio</a:t>
            </a:r>
            <a:r>
              <a:rPr sz="1300" b="0">
                <a:solidFill>
                  <a:srgbClr val="262626"/>
                </a:solidFill>
              </a:rPr>
              <a:t> — a pension fund's fixed-income book at March 2009, chosen as the reference case because its outcomes are already known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graphicFrame>
        <p:nvGraphicFramePr>
          <p:cNvPr id="3" name="Chart 2"/>
          <p:cNvGraphicFramePr>
            <a:graphicFrameLocks noGrp="1"/>
          </p:cNvGraphicFramePr>
          <p:nvPr/>
        </p:nvGraphicFramePr>
        <p:xfrm>
          <a:off x="502920" y="1078992"/>
          <a:ext cx="8138160" cy="1371600"/>
        </p:xfrm>
        <a:graphic>
          <a:graphicData uri="http://schemas.openxmlformats.org/drawingml/2006/chart">
            <c:chart xmlns:c="http://schemas.openxmlformats.org/drawingml/2006/chart" r:id="rId2"/>
          </a:graphicData>
        </a:graphic>
      </p:graphicFrame>
      <p:sp>
        <p:nvSpPr>
          <p:cNvPr id="4" name="TextBox 3"/>
          <p:cNvSpPr txBox="1"/>
          <p:nvPr/>
        </p:nvSpPr>
        <p:spPr>
          <a:xfrm>
            <a:off x="502920" y="2560320"/>
            <a:ext cx="8138160" cy="2400300"/>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gridCol w="2788920"/>
                <a:gridCol w="960120"/>
                <a:gridCol w="1143000"/>
                <a:gridCol w="2898648"/>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a:t>
                      </a:r>
                    </a:p>
                  </a:txBody>
                  <a:tcPr marT="12700" marB="12700"/>
                </a:tc>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a:t>
                      </a:r>
                    </a:p>
                  </a:txBody>
                  <a:tcPr marT="12700" marB="12700"/>
                </a:tc>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a:t>
                      </a:r>
                    </a:p>
                  </a:txBody>
                  <a:tcPr marT="12700" marB="12700"/>
                </a:tc>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Out of scope</a:t>
                      </a:r>
                    </a:p>
                  </a:txBody>
                  <a:tcPr marT="12700" marB="12700"/>
                </a:tc>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Out of scope</a:t>
                      </a:r>
                    </a:p>
                  </a:txBody>
                  <a:tcPr marT="12700" marB="12700"/>
                </a:tc>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tr>
              <a:tr h="214884">
                <a:tc>
                  <a:txBody>
                    <a:bodyPr/>
                    <a:lstStyle/>
                    <a:p>
                      <a:pPr algn="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p>
                  </a:txBody>
                  <a:tcPr marT="12700" marB="12700"/>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we know the numbers are right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government bond priced on its own government's curve must come out at zero.</a:t>
            </a:r>
            <a:r>
              <a:rPr sz="1300" b="0">
                <a:solidFill>
                  <a:srgbClr val="262626"/>
                </a:solidFill>
              </a:rPr>
              <a:t> Japan's come out at 0.0 basis points, the UK's at 4.4 — the thermometer reads right in ice water</a:t>
            </a:r>
          </a:p>
          <a:p>
            <a:pPr>
              <a:spcAft>
                <a:spcPts val="900"/>
              </a:spcAft>
            </a:pPr>
            <a:r>
              <a:rPr sz="1300" b="0">
                <a:solidFill>
                  <a:srgbClr val="262626"/>
                </a:solidFill>
              </a:rPr>
              <a:t>•  </a:t>
            </a:r>
            <a:r>
              <a:rPr sz="1300" b="1">
                <a:solidFill>
                  <a:srgbClr val="262626"/>
                </a:solidFill>
              </a:rPr>
              <a:t>The client's own custodian independently reports a risk number for some bonds.</a:t>
            </a:r>
            <a:r>
              <a:rPr sz="1300" b="0">
                <a:solidFill>
                  <a:srgbClr val="262626"/>
                </a:solidFill>
              </a:rPr>
              <a:t> Where it does, ours agrees — on agency bonds whose sensitivity runs from one to nine years, four of the five agree within three-quarters of a year</a:t>
            </a:r>
          </a:p>
          <a:p>
            <a:pPr>
              <a:spcAft>
                <a:spcPts val="900"/>
              </a:spcAft>
            </a:pPr>
            <a:r>
              <a:rPr sz="1300" b="0">
                <a:solidFill>
                  <a:srgbClr val="262626"/>
                </a:solidFill>
              </a:rPr>
              <a:t>•  </a:t>
            </a:r>
            <a:r>
              <a:rPr sz="1300" b="1">
                <a:solidFill>
                  <a:srgbClr val="262626"/>
                </a:solidFill>
              </a:rPr>
              <a:t>We re-derived the client's own inflation adjustments from published government statistics</a:t>
            </a:r>
            <a:r>
              <a:rPr sz="1300" b="0">
                <a:solidFill>
                  <a:srgbClr val="262626"/>
                </a:solidFill>
              </a:rPr>
              <a:t> — thirteen US inflation-linked bonds, agreeing to six parts in a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scoped, and each reuses machinery that already exists</a:t>
            </a:r>
          </a:p>
          <a:p>
            <a:pPr>
              <a:spcAft>
                <a:spcPts val="900"/>
              </a:spcAft>
            </a:pPr>
            <a:r>
              <a:rPr sz="1300" b="0">
                <a:solidFill>
                  <a:srgbClr val="262626"/>
                </a:solidFill>
              </a:rPr>
              <a:t>•  </a:t>
            </a:r>
            <a:r>
              <a:rPr sz="1300" b="1">
                <a:solidFill>
                  <a:srgbClr val="262626"/>
                </a:solidFill>
              </a:rPr>
              <a:t>Parallel execution on cloud with Ryse's engineer</a:t>
            </a:r>
            <a:r>
              <a:rPr sz="1300" b="0">
                <a:solidFill>
                  <a:srgbClr val="262626"/>
                </a:solidFill>
              </a:rPr>
              <a:t> — the step that turns forty seconds a scenario into a thousand scenarios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