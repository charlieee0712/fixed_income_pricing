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Complete</c:v>
                </c:pt>
              </c:strCache>
            </c:strRef>
          </c:tx>
          <c:spPr>
            <a:solidFill>
              <a:srgbClr val="1F4E79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Engine built — next</c:v>
                </c:pt>
              </c:strCache>
            </c:strRef>
          </c:tx>
          <c:spPr>
            <a:solidFill>
              <a:srgbClr val="D68910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Scoped, not started</c:v>
                </c:pt>
              </c:strCache>
            </c:strRef>
          </c:tx>
          <c:spPr>
            <a:solidFill>
              <a:srgbClr val="9E9E9E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412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Out of scope</c:v>
                </c:pt>
              </c:strCache>
            </c:strRef>
          </c:tx>
          <c:spPr>
            <a:solidFill>
              <a:srgbClr val="D9D9D9"/>
            </a:solidFill>
          </c:spPr>
          <c:cat>
            <c:strRef>
              <c:f>Sheet1!$A$2:$A$2</c:f>
              <c:strCache>
                <c:ptCount val="1"/>
                <c:pt idx="0">
                  <c:v/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seconds. No preamble.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to land is the second one. This is not a complaint about speed for its own sake — it is that a whole class of work, scenario analysis, simply cannot be done. A thousand rounds at minutes each is not slow, it is impossible, so nobody asks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are the definition of done, and they are in order of dependency: you cannot parallelise what you cannot reproduce, and you cannot trust a scenario engine whose base case nobody can check. The third bullet is the commercial one — it is the capability that does not exist today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forty seconds is the number that makes the goal arithmetic rather than aspirational. A thousand scenarios is a thousand times forty seconds divided by however many machines you run it on — that is a capacity question, and capacity is something you can buy. It was not a capacity question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third point deserves a sentence. In a pricing system the number is the whole product, so we made "did anything change" a mechanical check rather than a matter of opinion: every time the code changes, every price the system has ever published is regenerated and compared. That is how we can say a restructuring changed nothing and mean it literally.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honest readings. First, "complete" means the category is built and running, not that every bond in it has our number — 183 do not, and every one of them is named in a register with its reason. Second, the largest remaining block is the mortgage book, and its engine is already built and tested; what it needs is terms data, not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columns because the holdings file's Summary sheet counts lines and we count securities, and the two differ: a bond held by two managers appears on two lines. Lines reconcile against their sheet exactly — 2,366 — and securities are what a pricing question is actually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these three uses anything we control — that is the point, we are not grading our own homework. The third one also found something nobody knew: those records are struck one day after the valuation date. Small, and it had been invisible for months. If anyone asks for the populations: the zero test is over bonds priced on their own government's curve — eleven Japanese, twelve UK with the under-one-year bonds excluded, the same rule every median in this project uses. The duration comparison is the five agency bonds that carry an early-repayment right, which are the only ones where the custodian's number and ours are measuring the same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straight that the pooled classes are genuine remaining engineering, not a data problem. What makes them tractable is that the hard parts — the cash-flow machinery, the option model, the market-data plumbing — are built and proven on the 766 we already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1732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3000" b="1">
                <a:solidFill>
                  <a:srgbClr val="1F4E79"/>
                </a:solidFill>
              </a:rPr>
              <a:t>Fixed Income Pricing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8138160" cy="262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707070"/>
                </a:solidFill>
              </a:rPr>
              <a:t>•  Ryse · progress update for investors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707070"/>
                </a:solidFill>
              </a:rPr>
              <a:t>•  Presented by Lichen Chen and Liping Yin · Directed by Mario Pardo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707070"/>
                </a:solidFill>
              </a:rPr>
              <a:t>•  Twelve weeks: 26 June – 21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300" b="1">
                <a:solidFill>
                  <a:srgbClr val="1F4E79"/>
                </a:solidFill>
              </a:rPr>
              <a:t>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138160" cy="388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Pricing runs on spreadsheets — roughly </a:t>
            </a:r>
            <a:r>
              <a:rPr sz="1300" b="1">
                <a:solidFill>
                  <a:srgbClr val="262626"/>
                </a:solidFill>
              </a:rPr>
              <a:t>14,000 lines of Visual Basic</a:t>
            </a:r>
            <a:r>
              <a:rPr sz="1300" b="0">
                <a:solidFill>
                  <a:srgbClr val="262626"/>
                </a:solidFill>
              </a:rPr>
              <a:t> grown over years, which only a handful of people can run or change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A single result takes minutes.</a:t>
            </a:r>
            <a:r>
              <a:rPr sz="1300" b="0">
                <a:solidFill>
                  <a:srgbClr val="262626"/>
                </a:solidFill>
              </a:rPr>
              <a:t> A what-if analysis needs a thousand of them, so scenario work and Monte Carlo are effectively out of reach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Nothing in a spreadsheet can be </a:t>
            </a:r>
            <a:r>
              <a:rPr sz="1300" b="1">
                <a:solidFill>
                  <a:srgbClr val="262626"/>
                </a:solidFill>
              </a:rPr>
              <a:t>tested</a:t>
            </a:r>
            <a:r>
              <a:rPr sz="1300" b="0">
                <a:solidFill>
                  <a:srgbClr val="262626"/>
                </a:solidFill>
              </a:rPr>
              <a:t>: there is no mechanical way to know that a change has broken a number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The knowledge lives in the sheets and in the few people who know them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300" b="1">
                <a:solidFill>
                  <a:srgbClr val="1F4E79"/>
                </a:solidFill>
              </a:rP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138160" cy="388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One system prices every instrument class in the book</a:t>
            </a:r>
            <a:r>
              <a:rPr sz="1300" b="0">
                <a:solidFill>
                  <a:srgbClr val="262626"/>
                </a:solidFill>
              </a:rPr>
              <a:t>, from a single entry point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Results are reproducible and testable</a:t>
            </a:r>
            <a:r>
              <a:rPr sz="1300" b="0">
                <a:solidFill>
                  <a:srgbClr val="262626"/>
                </a:solidFill>
              </a:rPr>
              <a:t> — a change that moves a number is caught mechanically, not by eye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It runs on cloud, in parallel</a:t>
            </a:r>
            <a:r>
              <a:rPr sz="1300" b="0">
                <a:solidFill>
                  <a:srgbClr val="262626"/>
                </a:solidFill>
              </a:rPr>
              <a:t>, so a thousand-scenario what-if finishes in minutes instead of being impossible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A portfolio-level risk layer on top</a:t>
            </a:r>
            <a:r>
              <a:rPr sz="1300" b="0">
                <a:solidFill>
                  <a:srgbClr val="262626"/>
                </a:solidFill>
              </a:rPr>
              <a:t> — in the original brief, after coverage is complete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300" b="1">
                <a:solidFill>
                  <a:srgbClr val="1F4E79"/>
                </a:solidFill>
              </a:rPr>
              <a:t>Current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138160" cy="388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Six of the thirteen categories are complete</a:t>
            </a:r>
            <a:r>
              <a:rPr sz="1300" b="0">
                <a:solidFill>
                  <a:srgbClr val="262626"/>
                </a:solidFill>
              </a:rPr>
              <a:t> — 949 securities, 766 of them carrying our own price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Every input and output is a JSON dictionary</a:t>
            </a:r>
            <a:r>
              <a:rPr sz="1300" b="0">
                <a:solidFill>
                  <a:srgbClr val="262626"/>
                </a:solidFill>
              </a:rPr>
              <a:t>, which is what makes parallel execution straightforward rather than a rewrite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The whole book revalues end to end on Azure in 40 seconds</a:t>
            </a:r>
            <a:r>
              <a:rPr sz="1300" b="0">
                <a:solidFill>
                  <a:srgbClr val="262626"/>
                </a:solidFill>
              </a:rPr>
              <a:t> — measured, on the free tier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Next: the mortgage-backed book, then the parallel-computing work with Ryse's engineer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300" b="1">
                <a:solidFill>
                  <a:srgbClr val="1F4E79"/>
                </a:solidFill>
              </a:rPr>
              <a:t>What the system does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138160" cy="388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Takes a bond, that day's market rates, and the recorded price — and returns </a:t>
            </a:r>
            <a:r>
              <a:rPr sz="1300" b="1">
                <a:solidFill>
                  <a:srgbClr val="262626"/>
                </a:solidFill>
              </a:rPr>
              <a:t>what the market is charging that borrower, and how much the value moves when rates move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Runs </a:t>
            </a:r>
            <a:r>
              <a:rPr sz="1300" b="1">
                <a:solidFill>
                  <a:srgbClr val="262626"/>
                </a:solidFill>
              </a:rPr>
              <a:t>from a spreadsheet</a:t>
            </a:r>
            <a:r>
              <a:rPr sz="1300" b="0">
                <a:solidFill>
                  <a:srgbClr val="262626"/>
                </a:solidFill>
              </a:rPr>
              <a:t>, from a command line, or as a service another system calls — the same answer from all three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Every result is reproducible</a:t>
            </a:r>
            <a:r>
              <a:rPr sz="1300" b="0">
                <a:solidFill>
                  <a:srgbClr val="262626"/>
                </a:solidFill>
              </a:rPr>
              <a:t>: run it again a month later and you get the identical file, to the byte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We work on a representative </a:t>
            </a:r>
            <a:r>
              <a:rPr sz="1300" b="1">
                <a:solidFill>
                  <a:srgbClr val="262626"/>
                </a:solidFill>
              </a:rPr>
              <a:t>March 2009</a:t>
            </a:r>
            <a:r>
              <a:rPr sz="1300" b="0">
                <a:solidFill>
                  <a:srgbClr val="262626"/>
                </a:solidFill>
              </a:rPr>
              <a:t> portfolio — chosen as the reference case because the outcomes are already known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300" b="1">
                <a:solidFill>
                  <a:srgbClr val="1F4E79"/>
                </a:solidFill>
              </a:rPr>
              <a:t>Coverage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078992"/>
          <a:ext cx="8138160" cy="1371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2560320"/>
            <a:ext cx="8138160" cy="240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2,260 securities in the portfolio. Six of the thirteen categories are complete — 42%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Of those 949, </a:t>
            </a:r>
            <a:r>
              <a:rPr sz="1300" b="1">
                <a:solidFill>
                  <a:srgbClr val="262626"/>
                </a:solidFill>
              </a:rPr>
              <a:t>766 carry our own price</a:t>
            </a:r>
            <a:r>
              <a:rPr sz="1300" b="0">
                <a:solidFill>
                  <a:srgbClr val="262626"/>
                </a:solidFill>
              </a:rPr>
              <a:t>; the remaining 183 are individually named, most of them bonds whose terms are not in the file at 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300" b="1">
                <a:solidFill>
                  <a:srgbClr val="1F4E79"/>
                </a:solidFill>
              </a:rPr>
              <a:t>The thirteen categories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78992"/>
          <a:ext cx="8138160" cy="3223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/>
                <a:gridCol w="2788920"/>
                <a:gridCol w="960120"/>
                <a:gridCol w="1143000"/>
                <a:gridCol w="2898648"/>
              </a:tblGrid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</a:rPr>
                        <a:t>#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</a:rPr>
                        <a:t>Category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</a:rPr>
                        <a:t>Lines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</a:rPr>
                        <a:t>Securities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</a:rPr>
                        <a:t>Status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Corporate Bonds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811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732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Government Bonds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153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147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Government Agencies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42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39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Index-Linked Government Bonds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16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15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Guaranteed Fixed Income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11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9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Municipal / Provincial Bonds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Complete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Government Mortgage-Backed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888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882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Engine built — next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8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Non-Government C.M.O.s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265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264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Scoped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9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Asset-Backed Securities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79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79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Scoped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Commercial Mortgage-Backed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73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69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Scoped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11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FI Derivatives — Futures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11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Out of scope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12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FI Derivatives — Options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9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9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Out of scope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13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Other Fixed Income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62626"/>
                          </a:solidFill>
                        </a:rPr>
                        <a:t>Out of scope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pPr algn="r"/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62626"/>
                          </a:solidFill>
                        </a:rPr>
                        <a:t>Total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62626"/>
                          </a:solidFill>
                        </a:rPr>
                        <a:t>2,366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262626"/>
                          </a:solidFill>
                        </a:rPr>
                        <a:t>2,260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300" b="1">
                <a:solidFill>
                  <a:srgbClr val="1F4E79"/>
                </a:solidFill>
              </a:rPr>
              <a:t>How we know the numbers are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138160" cy="388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A government bond priced on its own government's curve must come out at zero.</a:t>
            </a:r>
            <a:r>
              <a:rPr sz="1300" b="0">
                <a:solidFill>
                  <a:srgbClr val="262626"/>
                </a:solidFill>
              </a:rPr>
              <a:t> Japan's come out at 0.0 basis points, the UK's at 4.4 — the thermometer reads right in ice water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The portfolio's custodian independently reports a risk number for some bonds.</a:t>
            </a:r>
            <a:r>
              <a:rPr sz="1300" b="0">
                <a:solidFill>
                  <a:srgbClr val="262626"/>
                </a:solidFill>
              </a:rPr>
              <a:t> Where it does, ours agrees — on agency bonds whose sensitivity runs from one to nine years, four of the five agree within three-quarters of a year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We re-derived the portfolio's own inflation adjustments from published government statistics</a:t>
            </a:r>
            <a:r>
              <a:rPr sz="1300" b="0">
                <a:solidFill>
                  <a:srgbClr val="262626"/>
                </a:solidFill>
              </a:rPr>
              <a:t> — thirteen US inflation-linked bonds, agreeing to six parts in a million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300" b="1">
                <a:solidFill>
                  <a:srgbClr val="1F4E79"/>
                </a:solidFill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138160" cy="388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The mortgage-backed book</a:t>
            </a:r>
            <a:r>
              <a:rPr sz="1300" b="0">
                <a:solidFill>
                  <a:srgbClr val="262626"/>
                </a:solidFill>
              </a:rPr>
              <a:t> — the engine is built and tested; it needs terms data, not development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The three remaining pooled classes</a:t>
            </a:r>
            <a:r>
              <a:rPr sz="1300" b="0">
                <a:solidFill>
                  <a:srgbClr val="262626"/>
                </a:solidFill>
              </a:rPr>
              <a:t> — scoped, and each reuses machinery that already exists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Parallel execution on cloud with Ryse's engineer</a:t>
            </a:r>
            <a:r>
              <a:rPr sz="1300" b="0">
                <a:solidFill>
                  <a:srgbClr val="262626"/>
                </a:solidFill>
              </a:rPr>
              <a:t> — the step that turns forty seconds a scenario into a thousand scenarios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262626"/>
                </a:solidFill>
              </a:rPr>
              <a:t>•  </a:t>
            </a:r>
            <a:r>
              <a:rPr sz="1300" b="1">
                <a:solidFill>
                  <a:srgbClr val="262626"/>
                </a:solidFill>
              </a:rPr>
              <a:t>The portfolio risk layer</a:t>
            </a:r>
            <a:r>
              <a:rPr sz="1300" b="0">
                <a:solidFill>
                  <a:srgbClr val="262626"/>
                </a:solidFill>
              </a:rPr>
              <a:t> — last, once coverage is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