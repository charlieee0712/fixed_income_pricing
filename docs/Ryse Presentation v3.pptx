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Complete</c:v>
                </c:pt>
              </c:strCache>
            </c:strRef>
          </c:tx>
          <c:spPr>
            <a:solidFill>
              <a:srgbClr val="1F4E79"/>
            </a:solidFill>
          </c:spPr>
          <c:dLbls>
            <c:numFmt formatCode="#,##0" sourceLinked="0"/>
            <c:txPr>
              <a:bodyPr/>
              <a:lstStyle/>
              <a:p>
                <a:pPr>
                  <a:defRPr sz="1200" b="1">
                    <a:solidFill>
                      <a:srgbClr val="FFFFFF"/>
                    </a:solidFill>
                  </a:defRPr>
                </a:pPr>
              </a:p>
            </c:txPr>
            <c:showLegendKey val="0"/>
            <c:showVal val="0"/>
            <c:showCatName val="0"/>
            <c:showSerName val="0"/>
            <c:showPercent val="0"/>
            <c:showBubbleSize val="0"/>
            <c:showLeaderLines val="1"/>
          </c:dLbls>
          <c:cat>
            <c:strRef>
              <c:f>Sheet1!$A$2:$A$2</c:f>
              <c:strCache>
                <c:ptCount val="1"/>
                <c:pt idx="0">
                  <c:v/>
                </c:pt>
              </c:strCache>
            </c:strRef>
          </c:cat>
          <c:val>
            <c:numRef>
              <c:f>Sheet1!$B$2:$B$2</c:f>
              <c:numCache>
                <c:formatCode>General</c:formatCode>
                <c:ptCount val="1"/>
                <c:pt idx="0">
                  <c:v>949</c:v>
                </c:pt>
              </c:numCache>
            </c:numRef>
          </c:val>
        </c:ser>
        <c:ser>
          <c:idx val="1"/>
          <c:order val="1"/>
          <c:tx>
            <c:strRef>
              <c:f>Sheet1!$C$1</c:f>
              <c:strCache>
                <c:ptCount val="1"/>
                <c:pt idx="0">
                  <c:v>Engine built — next</c:v>
                </c:pt>
              </c:strCache>
            </c:strRef>
          </c:tx>
          <c:spPr>
            <a:solidFill>
              <a:srgbClr val="D68910"/>
            </a:solidFill>
          </c:spPr>
          <c:dLbls>
            <c:numFmt formatCode="#,##0" sourceLinked="0"/>
            <c:txPr>
              <a:bodyPr/>
              <a:lstStyle/>
              <a:p>
                <a:pPr>
                  <a:defRPr sz="1200" b="1">
                    <a:solidFill>
                      <a:srgbClr val="FFFFFF"/>
                    </a:solidFill>
                  </a:defRPr>
                </a:pPr>
              </a:p>
            </c:txPr>
            <c:showLegendKey val="0"/>
            <c:showVal val="0"/>
            <c:showCatName val="0"/>
            <c:showSerName val="0"/>
            <c:showPercent val="0"/>
            <c:showBubbleSize val="0"/>
            <c:showLeaderLines val="1"/>
          </c:dLbls>
          <c:cat>
            <c:strRef>
              <c:f>Sheet1!$A$2:$A$2</c:f>
              <c:strCache>
                <c:ptCount val="1"/>
                <c:pt idx="0">
                  <c:v/>
                </c:pt>
              </c:strCache>
            </c:strRef>
          </c:cat>
          <c:val>
            <c:numRef>
              <c:f>Sheet1!$C$2:$C$2</c:f>
              <c:numCache>
                <c:formatCode>General</c:formatCode>
                <c:ptCount val="1"/>
                <c:pt idx="0">
                  <c:v>882</c:v>
                </c:pt>
              </c:numCache>
            </c:numRef>
          </c:val>
        </c:ser>
        <c:ser>
          <c:idx val="2"/>
          <c:order val="2"/>
          <c:tx>
            <c:strRef>
              <c:f>Sheet1!$D$1</c:f>
              <c:strCache>
                <c:ptCount val="1"/>
                <c:pt idx="0">
                  <c:v>Scoped, not started</c:v>
                </c:pt>
              </c:strCache>
            </c:strRef>
          </c:tx>
          <c:spPr>
            <a:solidFill>
              <a:srgbClr val="9E9E9E"/>
            </a:solidFill>
          </c:spPr>
          <c:dLbls>
            <c:numFmt formatCode="#,##0" sourceLinked="0"/>
            <c:txPr>
              <a:bodyPr/>
              <a:lstStyle/>
              <a:p>
                <a:pPr>
                  <a:defRPr sz="1200" b="1">
                    <a:solidFill>
                      <a:srgbClr val="FFFFFF"/>
                    </a:solidFill>
                  </a:defRPr>
                </a:pPr>
              </a:p>
            </c:txPr>
            <c:showLegendKey val="0"/>
            <c:showVal val="0"/>
            <c:showCatName val="0"/>
            <c:showSerName val="0"/>
            <c:showPercent val="0"/>
            <c:showBubbleSize val="0"/>
            <c:showLeaderLines val="1"/>
          </c:dLbls>
          <c:cat>
            <c:strRef>
              <c:f>Sheet1!$A$2:$A$2</c:f>
              <c:strCache>
                <c:ptCount val="1"/>
                <c:pt idx="0">
                  <c:v/>
                </c:pt>
              </c:strCache>
            </c:strRef>
          </c:cat>
          <c:val>
            <c:numRef>
              <c:f>Sheet1!$D$2:$D$2</c:f>
              <c:numCache>
                <c:formatCode>General</c:formatCode>
                <c:ptCount val="1"/>
                <c:pt idx="0">
                  <c:v>412</c:v>
                </c:pt>
              </c:numCache>
            </c:numRef>
          </c:val>
        </c:ser>
        <c:ser>
          <c:idx val="3"/>
          <c:order val="3"/>
          <c:tx>
            <c:strRef>
              <c:f>Sheet1!$E$1</c:f>
              <c:strCache>
                <c:ptCount val="1"/>
                <c:pt idx="0">
                  <c:v>Out of scope</c:v>
                </c:pt>
              </c:strCache>
            </c:strRef>
          </c:tx>
          <c:spPr>
            <a:solidFill>
              <a:srgbClr val="D9D9D9"/>
            </a:solidFill>
          </c:spPr>
          <c:cat>
            <c:strRef>
              <c:f>Sheet1!$A$2:$A$2</c:f>
              <c:strCache>
                <c:ptCount val="1"/>
                <c:pt idx="0">
                  <c:v/>
                </c:pt>
              </c:strCache>
            </c:strRef>
          </c:cat>
          <c:val>
            <c:numRef>
              <c:f>Sheet1!$E$2:$E$2</c:f>
              <c:numCache>
                <c:formatCode>General</c:formatCode>
                <c:ptCount val="1"/>
                <c:pt idx="0">
                  <c:v>17</c:v>
                </c:pt>
              </c:numCache>
            </c:numRef>
          </c:val>
        </c:ser>
        <c:gapWidth val="40"/>
        <c:overlap val="100"/>
        <c:axId val="-2068027336"/>
        <c:axId val="-2113994440"/>
      </c:barChart>
      <c:catAx>
        <c:axId val="-2068027336"/>
        <c:scaling>
          <c:orientation val="minMax"/>
        </c:scaling>
        <c:delete/>
        <c:axPos val="l"/>
        <c:majorTickMark val="out"/>
        <c:minorTickMark val="none"/>
        <c:tickLblPos val="nextTo"/>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No preamble.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to land is the second one. This is not a complaint about speed for its own sake — it is that a whole class of work, scenario analysis, simply cannot be done. A thousand rounds at minutes each is not slow, it is impossible, so nobody asks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are the definition of done, and they are in order of dependency: you cannot parallelise what you cannot reproduce, and you cannot trust a scenario engine whose base case nobody can check. The third bullet is the commercial one — it is the capability that does not exist today at 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forty seconds is the number that makes the goal arithmetic rather than aspirational. A thousand scenarios is a thousand times forty seconds divided by however many machines you run it on — that is a capacity question, and capacity is something you can buy. It was not a capacity question before. If an engineer asks how it runs there: today it is a checkout in an Azure terminal, which proves the code is portable and fast. Making it a service other systems call is the next step and is on slide 9 — do not let "runs on Azure" be heard as "deployed as a service", because it is not one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point deserves a sentence. In a pricing system the number is the whole product, so we made "did anything change" a mechanical check rather than a matter of opinion: every time the code changes, every price the system has ever published is regenerated and compared. That is how we can say a restructuring changed nothing and mean it literally.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readings. First, "complete" means the category is built and running, not that every bond in it has our number — 183 do not, and every one of them is named in a register with its reason. That is not an apology: a real book has incomplete records, and a tool meant for any portfolio has to name what it cannot price rather than guess at it. Second, the largest remaining block is the mortgage book, and its engine is already built and tested; what it needs is terms data, not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because the client's own Summary sheet counts lines and we count securities, and the two differ: a bond held by two managers appears on two lines. Lines reconcile against their sheet exactly — 2,366 — and securities are what a pricing question is actually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three uses anything we control — that is the point, we are not grading our own homework, and the last two are checked against a live institutional portfolio's own records rather than a test file. The third one also found something nobody knew: those records are struck one day after the valuation date. Small, and it had been invisible for months. If anyone asks for the populations: the zero test is over bonds priced on their own government's curve — eleven Japanese, twelve UK with the under-one-year bonds excluded, the same rule every median in this project uses. The duration comparison is the five agency bonds that carry an early-repayment right, which are the only ones where the custodian's number and ours are measuring the same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that the pooled classes are genuine remaining engineering, not a data problem. On the cloud step: today each of us runs the code in our own Azure terminal, which was the point of the trial in September. Hosting it so Excel or another system can call it over the network is a separate, known piece of work — we put it to Mario in that report as an explicit question and it is still open. What makes them tractable is that the hard parts — the cash-flow machinery, the option model, the market-data plumbing — are built and proven on the 766 we already price.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417320"/>
            <a:ext cx="8138160" cy="731520"/>
          </a:xfrm>
          <a:prstGeom prst="rect">
            <a:avLst/>
          </a:prstGeom>
          <a:noFill/>
        </p:spPr>
        <p:txBody>
          <a:bodyPr wrap="square">
            <a:spAutoFit/>
          </a:bodyPr>
          <a:lstStyle/>
          <a:p>
            <a:pPr>
              <a:spcAft>
                <a:spcPts val="300"/>
              </a:spcAft>
            </a:pPr>
            <a:r>
              <a:rPr sz="3000" b="1">
                <a:solidFill>
                  <a:srgbClr val="1F4E79"/>
                </a:solidFill>
              </a:rPr>
              <a:t>Fixed Income Pricing System</a:t>
            </a:r>
          </a:p>
        </p:txBody>
      </p:sp>
      <p:sp>
        <p:nvSpPr>
          <p:cNvPr id="3" name="TextBox 2"/>
          <p:cNvSpPr txBox="1"/>
          <p:nvPr/>
        </p:nvSpPr>
        <p:spPr>
          <a:xfrm>
            <a:off x="502920" y="2331720"/>
            <a:ext cx="8138160" cy="2628900"/>
          </a:xfrm>
          <a:prstGeom prst="rect">
            <a:avLst/>
          </a:prstGeom>
          <a:noFill/>
        </p:spPr>
        <p:txBody>
          <a:bodyPr wrap="square">
            <a:spAutoFit/>
          </a:bodyPr>
          <a:lstStyle/>
          <a:p>
            <a:pPr>
              <a:spcAft>
                <a:spcPts val="900"/>
              </a:spcAft>
            </a:pPr>
            <a:r>
              <a:rPr sz="1300" b="0">
                <a:solidFill>
                  <a:srgbClr val="707070"/>
                </a:solidFill>
              </a:rPr>
              <a:t>•  Ryse · progress update for investors</a:t>
            </a:r>
          </a:p>
          <a:p>
            <a:pPr>
              <a:spcAft>
                <a:spcPts val="900"/>
              </a:spcAft>
            </a:pPr>
            <a:r>
              <a:rPr sz="1300" b="0">
                <a:solidFill>
                  <a:srgbClr val="707070"/>
                </a:solidFill>
              </a:rPr>
              <a:t>•  Presented by Lichen Chen and Liping Yin · Directed by Mario Pardo</a:t>
            </a:r>
          </a:p>
          <a:p>
            <a:pPr>
              <a:spcAft>
                <a:spcPts val="900"/>
              </a:spcAft>
            </a:pPr>
            <a:r>
              <a:rPr sz="1300" b="0">
                <a:solidFill>
                  <a:srgbClr val="707070"/>
                </a:solidFill>
              </a:rPr>
              <a:t>•  Twelve weeks: 26 June – 21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Situation</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Pricing runs on spreadsheets — roughly </a:t>
            </a:r>
            <a:r>
              <a:rPr sz="1300" b="1">
                <a:solidFill>
                  <a:srgbClr val="262626"/>
                </a:solidFill>
              </a:rPr>
              <a:t>14,000 lines of Visual Basic</a:t>
            </a:r>
            <a:r>
              <a:rPr sz="1300" b="0">
                <a:solidFill>
                  <a:srgbClr val="262626"/>
                </a:solidFill>
              </a:rPr>
              <a:t> grown over years, which only a handful of people can run or change</a:t>
            </a:r>
          </a:p>
          <a:p>
            <a:pPr>
              <a:spcAft>
                <a:spcPts val="900"/>
              </a:spcAft>
            </a:pPr>
            <a:r>
              <a:rPr sz="1300" b="0">
                <a:solidFill>
                  <a:srgbClr val="262626"/>
                </a:solidFill>
              </a:rPr>
              <a:t>•  </a:t>
            </a:r>
            <a:r>
              <a:rPr sz="1300" b="1">
                <a:solidFill>
                  <a:srgbClr val="262626"/>
                </a:solidFill>
              </a:rPr>
              <a:t>A single result takes minutes.</a:t>
            </a:r>
            <a:r>
              <a:rPr sz="1300" b="0">
                <a:solidFill>
                  <a:srgbClr val="262626"/>
                </a:solidFill>
              </a:rPr>
              <a:t> A what-if analysis needs a thousand of them, so scenario work and Monte Carlo are effectively out of reach</a:t>
            </a:r>
          </a:p>
          <a:p>
            <a:pPr>
              <a:spcAft>
                <a:spcPts val="900"/>
              </a:spcAft>
            </a:pPr>
            <a:r>
              <a:rPr sz="1300" b="0">
                <a:solidFill>
                  <a:srgbClr val="262626"/>
                </a:solidFill>
              </a:rPr>
              <a:t>•  Nothing in a spreadsheet can be </a:t>
            </a:r>
            <a:r>
              <a:rPr sz="1300" b="1">
                <a:solidFill>
                  <a:srgbClr val="262626"/>
                </a:solidFill>
              </a:rPr>
              <a:t>tested</a:t>
            </a:r>
            <a:r>
              <a:rPr sz="1300" b="0">
                <a:solidFill>
                  <a:srgbClr val="262626"/>
                </a:solidFill>
              </a:rPr>
              <a:t>: there is no mechanical way to know that a change has broken a number</a:t>
            </a:r>
          </a:p>
          <a:p>
            <a:pPr>
              <a:spcAft>
                <a:spcPts val="900"/>
              </a:spcAft>
            </a:pPr>
            <a:r>
              <a:rPr sz="1300" b="0">
                <a:solidFill>
                  <a:srgbClr val="262626"/>
                </a:solidFill>
              </a:rPr>
              <a:t>•  The knowledge lives in the sheets and in the few people who know them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Goal</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One system prices every instrument class in the book</a:t>
            </a:r>
            <a:r>
              <a:rPr sz="1300" b="0">
                <a:solidFill>
                  <a:srgbClr val="262626"/>
                </a:solidFill>
              </a:rPr>
              <a:t>, from a single entry point</a:t>
            </a:r>
          </a:p>
          <a:p>
            <a:pPr>
              <a:spcAft>
                <a:spcPts val="900"/>
              </a:spcAft>
            </a:pPr>
            <a:r>
              <a:rPr sz="1300" b="0">
                <a:solidFill>
                  <a:srgbClr val="262626"/>
                </a:solidFill>
              </a:rPr>
              <a:t>•  </a:t>
            </a:r>
            <a:r>
              <a:rPr sz="1300" b="1">
                <a:solidFill>
                  <a:srgbClr val="262626"/>
                </a:solidFill>
              </a:rPr>
              <a:t>Results are reproducible and testable</a:t>
            </a:r>
            <a:r>
              <a:rPr sz="1300" b="0">
                <a:solidFill>
                  <a:srgbClr val="262626"/>
                </a:solidFill>
              </a:rPr>
              <a:t> — a change that moves a number is caught mechanically, not by eye</a:t>
            </a:r>
          </a:p>
          <a:p>
            <a:pPr>
              <a:spcAft>
                <a:spcPts val="900"/>
              </a:spcAft>
            </a:pPr>
            <a:r>
              <a:rPr sz="1300" b="0">
                <a:solidFill>
                  <a:srgbClr val="262626"/>
                </a:solidFill>
              </a:rPr>
              <a:t>•  </a:t>
            </a:r>
            <a:r>
              <a:rPr sz="1300" b="1">
                <a:solidFill>
                  <a:srgbClr val="262626"/>
                </a:solidFill>
              </a:rPr>
              <a:t>It runs on cloud, in parallel</a:t>
            </a:r>
            <a:r>
              <a:rPr sz="1300" b="0">
                <a:solidFill>
                  <a:srgbClr val="262626"/>
                </a:solidFill>
              </a:rPr>
              <a:t>, so a thousand-scenario what-if finishes in minutes instead of being impossible</a:t>
            </a:r>
          </a:p>
          <a:p>
            <a:pPr>
              <a:spcAft>
                <a:spcPts val="900"/>
              </a:spcAft>
            </a:pPr>
            <a:r>
              <a:rPr sz="1300" b="0">
                <a:solidFill>
                  <a:srgbClr val="262626"/>
                </a:solidFill>
              </a:rPr>
              <a:t>•  </a:t>
            </a:r>
            <a:r>
              <a:rPr sz="1300" b="1">
                <a:solidFill>
                  <a:srgbClr val="262626"/>
                </a:solidFill>
              </a:rPr>
              <a:t>A portfolio-level risk layer on top</a:t>
            </a:r>
            <a:r>
              <a:rPr sz="1300" b="0">
                <a:solidFill>
                  <a:srgbClr val="262626"/>
                </a:solidFill>
              </a:rPr>
              <a:t> — in the original brief, after coverage is complete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Current Stage</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Six of the thirteen categories are complete</a:t>
            </a:r>
            <a:r>
              <a:rPr sz="1300" b="0">
                <a:solidFill>
                  <a:srgbClr val="262626"/>
                </a:solidFill>
              </a:rPr>
              <a:t> — 949 securities, 766 of them carrying our own price</a:t>
            </a:r>
          </a:p>
          <a:p>
            <a:pPr>
              <a:spcAft>
                <a:spcPts val="900"/>
              </a:spcAft>
            </a:pPr>
            <a:r>
              <a:rPr sz="1300" b="0">
                <a:solidFill>
                  <a:srgbClr val="262626"/>
                </a:solidFill>
              </a:rPr>
              <a:t>•  </a:t>
            </a:r>
            <a:r>
              <a:rPr sz="1300" b="1">
                <a:solidFill>
                  <a:srgbClr val="262626"/>
                </a:solidFill>
              </a:rPr>
              <a:t>Every input and output is a JSON dictionary</a:t>
            </a:r>
            <a:r>
              <a:rPr sz="1300" b="0">
                <a:solidFill>
                  <a:srgbClr val="262626"/>
                </a:solidFill>
              </a:rPr>
              <a:t>, which is what makes parallel execution straightforward rather than a rewrite</a:t>
            </a:r>
          </a:p>
          <a:p>
            <a:pPr>
              <a:spcAft>
                <a:spcPts val="900"/>
              </a:spcAft>
            </a:pPr>
            <a:r>
              <a:rPr sz="1300" b="0">
                <a:solidFill>
                  <a:srgbClr val="262626"/>
                </a:solidFill>
              </a:rPr>
              <a:t>•  </a:t>
            </a:r>
            <a:r>
              <a:rPr sz="1300" b="1">
                <a:solidFill>
                  <a:srgbClr val="262626"/>
                </a:solidFill>
              </a:rPr>
              <a:t>The code runs unchanged on Azure</a:t>
            </a:r>
            <a:r>
              <a:rPr sz="1300" b="0">
                <a:solidFill>
                  <a:srgbClr val="262626"/>
                </a:solidFill>
              </a:rPr>
              <a:t> — a clean checkout revalues the whole book in 40 seconds, measured, on the free tier</a:t>
            </a:r>
          </a:p>
          <a:p>
            <a:pPr>
              <a:spcAft>
                <a:spcPts val="900"/>
              </a:spcAft>
            </a:pPr>
            <a:r>
              <a:rPr sz="1300" b="0">
                <a:solidFill>
                  <a:srgbClr val="262626"/>
                </a:solidFill>
              </a:rPr>
              <a:t>•  Next: the mortgage-backed book, then the parallel-computing work with Ryse's engineer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What the system does today</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Takes a bond, that day's market rates, and the recorded price — and returns </a:t>
            </a:r>
            <a:r>
              <a:rPr sz="1300" b="1">
                <a:solidFill>
                  <a:srgbClr val="262626"/>
                </a:solidFill>
              </a:rPr>
              <a:t>what the market is charging that borrower, and how much the value moves when rates move</a:t>
            </a:r>
          </a:p>
          <a:p>
            <a:pPr>
              <a:spcAft>
                <a:spcPts val="900"/>
              </a:spcAft>
            </a:pPr>
            <a:r>
              <a:rPr sz="1300" b="0">
                <a:solidFill>
                  <a:srgbClr val="262626"/>
                </a:solidFill>
              </a:rPr>
              <a:t>•  Runs </a:t>
            </a:r>
            <a:r>
              <a:rPr sz="1300" b="1">
                <a:solidFill>
                  <a:srgbClr val="262626"/>
                </a:solidFill>
              </a:rPr>
              <a:t>from a spreadsheet</a:t>
            </a:r>
            <a:r>
              <a:rPr sz="1300" b="0">
                <a:solidFill>
                  <a:srgbClr val="262626"/>
                </a:solidFill>
              </a:rPr>
              <a:t>, from a command line, or as a service another system calls — the same answer from all three</a:t>
            </a:r>
          </a:p>
          <a:p>
            <a:pPr>
              <a:spcAft>
                <a:spcPts val="900"/>
              </a:spcAft>
            </a:pPr>
            <a:r>
              <a:rPr sz="1300" b="0">
                <a:solidFill>
                  <a:srgbClr val="262626"/>
                </a:solidFill>
              </a:rPr>
              <a:t>•  </a:t>
            </a:r>
            <a:r>
              <a:rPr sz="1300" b="1">
                <a:solidFill>
                  <a:srgbClr val="262626"/>
                </a:solidFill>
              </a:rPr>
              <a:t>Every result is reproducible</a:t>
            </a:r>
            <a:r>
              <a:rPr sz="1300" b="0">
                <a:solidFill>
                  <a:srgbClr val="262626"/>
                </a:solidFill>
              </a:rPr>
              <a:t>: run it again a month later and you get the identical file, to the byte</a:t>
            </a:r>
          </a:p>
          <a:p>
            <a:pPr>
              <a:spcAft>
                <a:spcPts val="900"/>
              </a:spcAft>
            </a:pPr>
            <a:r>
              <a:rPr sz="1300" b="0">
                <a:solidFill>
                  <a:srgbClr val="262626"/>
                </a:solidFill>
              </a:rPr>
              <a:t>•  We build and check against </a:t>
            </a:r>
            <a:r>
              <a:rPr sz="1300" b="1">
                <a:solidFill>
                  <a:srgbClr val="262626"/>
                </a:solidFill>
              </a:rPr>
              <a:t>a real client portfolio</a:t>
            </a:r>
            <a:r>
              <a:rPr sz="1300" b="0">
                <a:solidFill>
                  <a:srgbClr val="262626"/>
                </a:solidFill>
              </a:rPr>
              <a:t> — a pension fund's fixed-income book at March 2009, chosen as the reference case because its outcomes are already known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Coverage</a:t>
            </a:r>
          </a:p>
        </p:txBody>
      </p:sp>
      <p:graphicFrame>
        <p:nvGraphicFramePr>
          <p:cNvPr id="3" name="Chart 2"/>
          <p:cNvGraphicFramePr>
            <a:graphicFrameLocks noGrp="1"/>
          </p:cNvGraphicFramePr>
          <p:nvPr/>
        </p:nvGraphicFramePr>
        <p:xfrm>
          <a:off x="502920" y="1078992"/>
          <a:ext cx="8138160" cy="1371600"/>
        </p:xfrm>
        <a:graphic>
          <a:graphicData uri="http://schemas.openxmlformats.org/drawingml/2006/chart">
            <c:chart xmlns:c="http://schemas.openxmlformats.org/drawingml/2006/chart" r:id="rId2"/>
          </a:graphicData>
        </a:graphic>
      </p:graphicFrame>
      <p:sp>
        <p:nvSpPr>
          <p:cNvPr id="4" name="TextBox 3"/>
          <p:cNvSpPr txBox="1"/>
          <p:nvPr/>
        </p:nvSpPr>
        <p:spPr>
          <a:xfrm>
            <a:off x="502920" y="2560320"/>
            <a:ext cx="8138160" cy="2400300"/>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2,260 securities in the portfolio. Six of the thirteen categories are complete — 42%</a:t>
            </a:r>
          </a:p>
          <a:p>
            <a:pPr>
              <a:spcAft>
                <a:spcPts val="900"/>
              </a:spcAft>
            </a:pPr>
            <a:r>
              <a:rPr sz="1300" b="0">
                <a:solidFill>
                  <a:srgbClr val="262626"/>
                </a:solidFill>
              </a:rPr>
              <a:t>•  Of those 949, </a:t>
            </a:r>
            <a:r>
              <a:rPr sz="1300" b="1">
                <a:solidFill>
                  <a:srgbClr val="262626"/>
                </a:solidFill>
              </a:rPr>
              <a:t>766 carry our own price</a:t>
            </a:r>
            <a:r>
              <a:rPr sz="1300" b="0">
                <a:solidFill>
                  <a:srgbClr val="262626"/>
                </a:solidFill>
              </a:rPr>
              <a:t>; the remaining 183 are individually named, most of them bonds whose terms are absent from the source records themselves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The thirteen categories</a:t>
            </a:r>
          </a:p>
        </p:txBody>
      </p:sp>
      <p:graphicFrame>
        <p:nvGraphicFramePr>
          <p:cNvPr id="3" name="Table 2"/>
          <p:cNvGraphicFramePr>
            <a:graphicFrameLocks noGrp="1"/>
          </p:cNvGraphicFramePr>
          <p:nvPr/>
        </p:nvGraphicFramePr>
        <p:xfrm>
          <a:off x="502920" y="1078992"/>
          <a:ext cx="8138160" cy="3223260"/>
        </p:xfrm>
        <a:graphic>
          <a:graphicData uri="http://schemas.openxmlformats.org/drawingml/2006/table">
            <a:tbl>
              <a:tblPr firstRow="1" bandRow="1">
                <a:tableStyleId>{5C22544A-7EE6-4342-B048-85BDC9FD1C3A}</a:tableStyleId>
              </a:tblPr>
              <a:tblGrid>
                <a:gridCol w="347472"/>
                <a:gridCol w="2788920"/>
                <a:gridCol w="960120"/>
                <a:gridCol w="1143000"/>
                <a:gridCol w="2898648"/>
              </a:tblGrid>
              <a:tr h="214884">
                <a:tc>
                  <a:txBody>
                    <a:bodyPr/>
                    <a:lstStyle/>
                    <a:p>
                      <a:pPr algn="l"/>
                      <a:r>
                        <a:rPr sz="950" b="1">
                          <a:solidFill>
                            <a:srgbClr val="1F4E79"/>
                          </a:solidFill>
                        </a:rPr>
                        <a:t>#</a:t>
                      </a:r>
                    </a:p>
                  </a:txBody>
                  <a:tcPr marT="12700" marB="12700"/>
                </a:tc>
                <a:tc>
                  <a:txBody>
                    <a:bodyPr/>
                    <a:lstStyle/>
                    <a:p>
                      <a:pPr algn="l"/>
                      <a:r>
                        <a:rPr sz="950" b="1">
                          <a:solidFill>
                            <a:srgbClr val="1F4E79"/>
                          </a:solidFill>
                        </a:rPr>
                        <a:t>Category</a:t>
                      </a:r>
                    </a:p>
                  </a:txBody>
                  <a:tcPr marT="12700" marB="12700"/>
                </a:tc>
                <a:tc>
                  <a:txBody>
                    <a:bodyPr/>
                    <a:lstStyle/>
                    <a:p>
                      <a:pPr algn="l"/>
                      <a:r>
                        <a:rPr sz="950" b="1">
                          <a:solidFill>
                            <a:srgbClr val="1F4E79"/>
                          </a:solidFill>
                        </a:rPr>
                        <a:t>Lines</a:t>
                      </a:r>
                    </a:p>
                  </a:txBody>
                  <a:tcPr marT="12700" marB="12700"/>
                </a:tc>
                <a:tc>
                  <a:txBody>
                    <a:bodyPr/>
                    <a:lstStyle/>
                    <a:p>
                      <a:pPr algn="l"/>
                      <a:r>
                        <a:rPr sz="950" b="1">
                          <a:solidFill>
                            <a:srgbClr val="1F4E79"/>
                          </a:solidFill>
                        </a:rPr>
                        <a:t>Securities</a:t>
                      </a:r>
                    </a:p>
                  </a:txBody>
                  <a:tcPr marT="12700" marB="12700"/>
                </a:tc>
                <a:tc>
                  <a:txBody>
                    <a:bodyPr/>
                    <a:lstStyle/>
                    <a:p>
                      <a:pPr algn="l"/>
                      <a:r>
                        <a:rPr sz="950" b="1">
                          <a:solidFill>
                            <a:srgbClr val="1F4E79"/>
                          </a:solidFill>
                        </a:rPr>
                        <a:t>Status</a:t>
                      </a:r>
                    </a:p>
                  </a:txBody>
                  <a:tcPr marT="12700" marB="12700"/>
                </a:tc>
              </a:tr>
              <a:tr h="214884">
                <a:tc>
                  <a:txBody>
                    <a:bodyPr/>
                    <a:lstStyle/>
                    <a:p>
                      <a:pPr algn="r"/>
                      <a:r>
                        <a:rPr sz="950" b="0">
                          <a:solidFill>
                            <a:srgbClr val="262626"/>
                          </a:solidFill>
                        </a:rPr>
                        <a:t>1</a:t>
                      </a:r>
                    </a:p>
                  </a:txBody>
                  <a:tcPr marT="12700" marB="12700"/>
                </a:tc>
                <a:tc>
                  <a:txBody>
                    <a:bodyPr/>
                    <a:lstStyle/>
                    <a:p>
                      <a:pPr algn="l"/>
                      <a:r>
                        <a:rPr sz="950" b="0">
                          <a:solidFill>
                            <a:srgbClr val="262626"/>
                          </a:solidFill>
                        </a:rPr>
                        <a:t>Corporate Bonds</a:t>
                      </a:r>
                    </a:p>
                  </a:txBody>
                  <a:tcPr marT="12700" marB="12700"/>
                </a:tc>
                <a:tc>
                  <a:txBody>
                    <a:bodyPr/>
                    <a:lstStyle/>
                    <a:p>
                      <a:pPr algn="r"/>
                      <a:r>
                        <a:rPr sz="950" b="0">
                          <a:solidFill>
                            <a:srgbClr val="262626"/>
                          </a:solidFill>
                        </a:rPr>
                        <a:t>811</a:t>
                      </a:r>
                    </a:p>
                  </a:txBody>
                  <a:tcPr marT="12700" marB="12700"/>
                </a:tc>
                <a:tc>
                  <a:txBody>
                    <a:bodyPr/>
                    <a:lstStyle/>
                    <a:p>
                      <a:pPr algn="r"/>
                      <a:r>
                        <a:rPr sz="950" b="0">
                          <a:solidFill>
                            <a:srgbClr val="262626"/>
                          </a:solidFill>
                        </a:rPr>
                        <a:t>732</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2</a:t>
                      </a:r>
                    </a:p>
                  </a:txBody>
                  <a:tcPr marT="12700" marB="12700"/>
                </a:tc>
                <a:tc>
                  <a:txBody>
                    <a:bodyPr/>
                    <a:lstStyle/>
                    <a:p>
                      <a:pPr algn="l"/>
                      <a:r>
                        <a:rPr sz="950" b="0">
                          <a:solidFill>
                            <a:srgbClr val="262626"/>
                          </a:solidFill>
                        </a:rPr>
                        <a:t>Government Bonds</a:t>
                      </a:r>
                    </a:p>
                  </a:txBody>
                  <a:tcPr marT="12700" marB="12700"/>
                </a:tc>
                <a:tc>
                  <a:txBody>
                    <a:bodyPr/>
                    <a:lstStyle/>
                    <a:p>
                      <a:pPr algn="r"/>
                      <a:r>
                        <a:rPr sz="950" b="0">
                          <a:solidFill>
                            <a:srgbClr val="262626"/>
                          </a:solidFill>
                        </a:rPr>
                        <a:t>153</a:t>
                      </a:r>
                    </a:p>
                  </a:txBody>
                  <a:tcPr marT="12700" marB="12700"/>
                </a:tc>
                <a:tc>
                  <a:txBody>
                    <a:bodyPr/>
                    <a:lstStyle/>
                    <a:p>
                      <a:pPr algn="r"/>
                      <a:r>
                        <a:rPr sz="950" b="0">
                          <a:solidFill>
                            <a:srgbClr val="262626"/>
                          </a:solidFill>
                        </a:rPr>
                        <a:t>147</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3</a:t>
                      </a:r>
                    </a:p>
                  </a:txBody>
                  <a:tcPr marT="12700" marB="12700"/>
                </a:tc>
                <a:tc>
                  <a:txBody>
                    <a:bodyPr/>
                    <a:lstStyle/>
                    <a:p>
                      <a:pPr algn="l"/>
                      <a:r>
                        <a:rPr sz="950" b="0">
                          <a:solidFill>
                            <a:srgbClr val="262626"/>
                          </a:solidFill>
                        </a:rPr>
                        <a:t>Government Agencies</a:t>
                      </a:r>
                    </a:p>
                  </a:txBody>
                  <a:tcPr marT="12700" marB="12700"/>
                </a:tc>
                <a:tc>
                  <a:txBody>
                    <a:bodyPr/>
                    <a:lstStyle/>
                    <a:p>
                      <a:pPr algn="r"/>
                      <a:r>
                        <a:rPr sz="950" b="0">
                          <a:solidFill>
                            <a:srgbClr val="262626"/>
                          </a:solidFill>
                        </a:rPr>
                        <a:t>42</a:t>
                      </a:r>
                    </a:p>
                  </a:txBody>
                  <a:tcPr marT="12700" marB="12700"/>
                </a:tc>
                <a:tc>
                  <a:txBody>
                    <a:bodyPr/>
                    <a:lstStyle/>
                    <a:p>
                      <a:pPr algn="r"/>
                      <a:r>
                        <a:rPr sz="950" b="0">
                          <a:solidFill>
                            <a:srgbClr val="262626"/>
                          </a:solidFill>
                        </a:rPr>
                        <a:t>39</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4</a:t>
                      </a:r>
                    </a:p>
                  </a:txBody>
                  <a:tcPr marT="12700" marB="12700"/>
                </a:tc>
                <a:tc>
                  <a:txBody>
                    <a:bodyPr/>
                    <a:lstStyle/>
                    <a:p>
                      <a:pPr algn="l"/>
                      <a:r>
                        <a:rPr sz="950" b="0">
                          <a:solidFill>
                            <a:srgbClr val="262626"/>
                          </a:solidFill>
                        </a:rPr>
                        <a:t>Index-Linked Government Bonds</a:t>
                      </a:r>
                    </a:p>
                  </a:txBody>
                  <a:tcPr marT="12700" marB="12700"/>
                </a:tc>
                <a:tc>
                  <a:txBody>
                    <a:bodyPr/>
                    <a:lstStyle/>
                    <a:p>
                      <a:pPr algn="r"/>
                      <a:r>
                        <a:rPr sz="950" b="0">
                          <a:solidFill>
                            <a:srgbClr val="262626"/>
                          </a:solidFill>
                        </a:rPr>
                        <a:t>16</a:t>
                      </a:r>
                    </a:p>
                  </a:txBody>
                  <a:tcPr marT="12700" marB="12700"/>
                </a:tc>
                <a:tc>
                  <a:txBody>
                    <a:bodyPr/>
                    <a:lstStyle/>
                    <a:p>
                      <a:pPr algn="r"/>
                      <a:r>
                        <a:rPr sz="950" b="0">
                          <a:solidFill>
                            <a:srgbClr val="262626"/>
                          </a:solidFill>
                        </a:rPr>
                        <a:t>15</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5</a:t>
                      </a:r>
                    </a:p>
                  </a:txBody>
                  <a:tcPr marT="12700" marB="12700"/>
                </a:tc>
                <a:tc>
                  <a:txBody>
                    <a:bodyPr/>
                    <a:lstStyle/>
                    <a:p>
                      <a:pPr algn="l"/>
                      <a:r>
                        <a:rPr sz="950" b="0">
                          <a:solidFill>
                            <a:srgbClr val="262626"/>
                          </a:solidFill>
                        </a:rPr>
                        <a:t>Guaranteed Fixed Income</a:t>
                      </a:r>
                    </a:p>
                  </a:txBody>
                  <a:tcPr marT="12700" marB="12700"/>
                </a:tc>
                <a:tc>
                  <a:txBody>
                    <a:bodyPr/>
                    <a:lstStyle/>
                    <a:p>
                      <a:pPr algn="r"/>
                      <a:r>
                        <a:rPr sz="950" b="0">
                          <a:solidFill>
                            <a:srgbClr val="262626"/>
                          </a:solidFill>
                        </a:rPr>
                        <a:t>11</a:t>
                      </a:r>
                    </a:p>
                  </a:txBody>
                  <a:tcPr marT="12700" marB="12700"/>
                </a:tc>
                <a:tc>
                  <a:txBody>
                    <a:bodyPr/>
                    <a:lstStyle/>
                    <a:p>
                      <a:pPr algn="r"/>
                      <a:r>
                        <a:rPr sz="950" b="0">
                          <a:solidFill>
                            <a:srgbClr val="262626"/>
                          </a:solidFill>
                        </a:rPr>
                        <a:t>9</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6</a:t>
                      </a:r>
                    </a:p>
                  </a:txBody>
                  <a:tcPr marT="12700" marB="12700"/>
                </a:tc>
                <a:tc>
                  <a:txBody>
                    <a:bodyPr/>
                    <a:lstStyle/>
                    <a:p>
                      <a:pPr algn="l"/>
                      <a:r>
                        <a:rPr sz="950" b="0">
                          <a:solidFill>
                            <a:srgbClr val="262626"/>
                          </a:solidFill>
                        </a:rPr>
                        <a:t>Municipal / Provincial Bonds</a:t>
                      </a:r>
                    </a:p>
                  </a:txBody>
                  <a:tcPr marT="12700" marB="12700"/>
                </a:tc>
                <a:tc>
                  <a:txBody>
                    <a:bodyPr/>
                    <a:lstStyle/>
                    <a:p>
                      <a:pPr algn="r"/>
                      <a:r>
                        <a:rPr sz="950" b="0">
                          <a:solidFill>
                            <a:srgbClr val="262626"/>
                          </a:solidFill>
                        </a:rPr>
                        <a:t>7</a:t>
                      </a:r>
                    </a:p>
                  </a:txBody>
                  <a:tcPr marT="12700" marB="12700"/>
                </a:tc>
                <a:tc>
                  <a:txBody>
                    <a:bodyPr/>
                    <a:lstStyle/>
                    <a:p>
                      <a:pPr algn="r"/>
                      <a:r>
                        <a:rPr sz="950" b="0">
                          <a:solidFill>
                            <a:srgbClr val="262626"/>
                          </a:solidFill>
                        </a:rPr>
                        <a:t>7</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7</a:t>
                      </a:r>
                    </a:p>
                  </a:txBody>
                  <a:tcPr marT="12700" marB="12700"/>
                </a:tc>
                <a:tc>
                  <a:txBody>
                    <a:bodyPr/>
                    <a:lstStyle/>
                    <a:p>
                      <a:pPr algn="l"/>
                      <a:r>
                        <a:rPr sz="950" b="0">
                          <a:solidFill>
                            <a:srgbClr val="262626"/>
                          </a:solidFill>
                        </a:rPr>
                        <a:t>Government Mortgage-Backed</a:t>
                      </a:r>
                    </a:p>
                  </a:txBody>
                  <a:tcPr marT="12700" marB="12700"/>
                </a:tc>
                <a:tc>
                  <a:txBody>
                    <a:bodyPr/>
                    <a:lstStyle/>
                    <a:p>
                      <a:pPr algn="r"/>
                      <a:r>
                        <a:rPr sz="950" b="0">
                          <a:solidFill>
                            <a:srgbClr val="262626"/>
                          </a:solidFill>
                        </a:rPr>
                        <a:t>888</a:t>
                      </a:r>
                    </a:p>
                  </a:txBody>
                  <a:tcPr marT="12700" marB="12700"/>
                </a:tc>
                <a:tc>
                  <a:txBody>
                    <a:bodyPr/>
                    <a:lstStyle/>
                    <a:p>
                      <a:pPr algn="r"/>
                      <a:r>
                        <a:rPr sz="950" b="0">
                          <a:solidFill>
                            <a:srgbClr val="262626"/>
                          </a:solidFill>
                        </a:rPr>
                        <a:t>882</a:t>
                      </a:r>
                    </a:p>
                  </a:txBody>
                  <a:tcPr marT="12700" marB="12700"/>
                </a:tc>
                <a:tc>
                  <a:txBody>
                    <a:bodyPr/>
                    <a:lstStyle/>
                    <a:p>
                      <a:pPr algn="l"/>
                      <a:r>
                        <a:rPr sz="950" b="0">
                          <a:solidFill>
                            <a:srgbClr val="262626"/>
                          </a:solidFill>
                        </a:rPr>
                        <a:t>Engine built — next</a:t>
                      </a:r>
                    </a:p>
                  </a:txBody>
                  <a:tcPr marT="12700" marB="12700"/>
                </a:tc>
              </a:tr>
              <a:tr h="214884">
                <a:tc>
                  <a:txBody>
                    <a:bodyPr/>
                    <a:lstStyle/>
                    <a:p>
                      <a:pPr algn="r"/>
                      <a:r>
                        <a:rPr sz="950" b="0">
                          <a:solidFill>
                            <a:srgbClr val="262626"/>
                          </a:solidFill>
                        </a:rPr>
                        <a:t>8</a:t>
                      </a:r>
                    </a:p>
                  </a:txBody>
                  <a:tcPr marT="12700" marB="12700"/>
                </a:tc>
                <a:tc>
                  <a:txBody>
                    <a:bodyPr/>
                    <a:lstStyle/>
                    <a:p>
                      <a:pPr algn="l"/>
                      <a:r>
                        <a:rPr sz="950" b="0">
                          <a:solidFill>
                            <a:srgbClr val="262626"/>
                          </a:solidFill>
                        </a:rPr>
                        <a:t>Non-Government C.M.O.s</a:t>
                      </a:r>
                    </a:p>
                  </a:txBody>
                  <a:tcPr marT="12700" marB="12700"/>
                </a:tc>
                <a:tc>
                  <a:txBody>
                    <a:bodyPr/>
                    <a:lstStyle/>
                    <a:p>
                      <a:pPr algn="r"/>
                      <a:r>
                        <a:rPr sz="950" b="0">
                          <a:solidFill>
                            <a:srgbClr val="262626"/>
                          </a:solidFill>
                        </a:rPr>
                        <a:t>265</a:t>
                      </a:r>
                    </a:p>
                  </a:txBody>
                  <a:tcPr marT="12700" marB="12700"/>
                </a:tc>
                <a:tc>
                  <a:txBody>
                    <a:bodyPr/>
                    <a:lstStyle/>
                    <a:p>
                      <a:pPr algn="r"/>
                      <a:r>
                        <a:rPr sz="950" b="0">
                          <a:solidFill>
                            <a:srgbClr val="262626"/>
                          </a:solidFill>
                        </a:rPr>
                        <a:t>264</a:t>
                      </a:r>
                    </a:p>
                  </a:txBody>
                  <a:tcPr marT="12700" marB="12700"/>
                </a:tc>
                <a:tc>
                  <a:txBody>
                    <a:bodyPr/>
                    <a:lstStyle/>
                    <a:p>
                      <a:pPr algn="l"/>
                      <a:r>
                        <a:rPr sz="950" b="0">
                          <a:solidFill>
                            <a:srgbClr val="262626"/>
                          </a:solidFill>
                        </a:rPr>
                        <a:t>Scoped</a:t>
                      </a:r>
                    </a:p>
                  </a:txBody>
                  <a:tcPr marT="12700" marB="12700"/>
                </a:tc>
              </a:tr>
              <a:tr h="214884">
                <a:tc>
                  <a:txBody>
                    <a:bodyPr/>
                    <a:lstStyle/>
                    <a:p>
                      <a:pPr algn="r"/>
                      <a:r>
                        <a:rPr sz="950" b="0">
                          <a:solidFill>
                            <a:srgbClr val="262626"/>
                          </a:solidFill>
                        </a:rPr>
                        <a:t>9</a:t>
                      </a:r>
                    </a:p>
                  </a:txBody>
                  <a:tcPr marT="12700" marB="12700"/>
                </a:tc>
                <a:tc>
                  <a:txBody>
                    <a:bodyPr/>
                    <a:lstStyle/>
                    <a:p>
                      <a:pPr algn="l"/>
                      <a:r>
                        <a:rPr sz="950" b="0">
                          <a:solidFill>
                            <a:srgbClr val="262626"/>
                          </a:solidFill>
                        </a:rPr>
                        <a:t>Asset-Backed Securities</a:t>
                      </a:r>
                    </a:p>
                  </a:txBody>
                  <a:tcPr marT="12700" marB="12700"/>
                </a:tc>
                <a:tc>
                  <a:txBody>
                    <a:bodyPr/>
                    <a:lstStyle/>
                    <a:p>
                      <a:pPr algn="r"/>
                      <a:r>
                        <a:rPr sz="950" b="0">
                          <a:solidFill>
                            <a:srgbClr val="262626"/>
                          </a:solidFill>
                        </a:rPr>
                        <a:t>79</a:t>
                      </a:r>
                    </a:p>
                  </a:txBody>
                  <a:tcPr marT="12700" marB="12700"/>
                </a:tc>
                <a:tc>
                  <a:txBody>
                    <a:bodyPr/>
                    <a:lstStyle/>
                    <a:p>
                      <a:pPr algn="r"/>
                      <a:r>
                        <a:rPr sz="950" b="0">
                          <a:solidFill>
                            <a:srgbClr val="262626"/>
                          </a:solidFill>
                        </a:rPr>
                        <a:t>79</a:t>
                      </a:r>
                    </a:p>
                  </a:txBody>
                  <a:tcPr marT="12700" marB="12700"/>
                </a:tc>
                <a:tc>
                  <a:txBody>
                    <a:bodyPr/>
                    <a:lstStyle/>
                    <a:p>
                      <a:pPr algn="l"/>
                      <a:r>
                        <a:rPr sz="950" b="0">
                          <a:solidFill>
                            <a:srgbClr val="262626"/>
                          </a:solidFill>
                        </a:rPr>
                        <a:t>Scoped</a:t>
                      </a:r>
                    </a:p>
                  </a:txBody>
                  <a:tcPr marT="12700" marB="12700"/>
                </a:tc>
              </a:tr>
              <a:tr h="214884">
                <a:tc>
                  <a:txBody>
                    <a:bodyPr/>
                    <a:lstStyle/>
                    <a:p>
                      <a:pPr algn="r"/>
                      <a:r>
                        <a:rPr sz="950" b="0">
                          <a:solidFill>
                            <a:srgbClr val="262626"/>
                          </a:solidFill>
                        </a:rPr>
                        <a:t>10</a:t>
                      </a:r>
                    </a:p>
                  </a:txBody>
                  <a:tcPr marT="12700" marB="12700"/>
                </a:tc>
                <a:tc>
                  <a:txBody>
                    <a:bodyPr/>
                    <a:lstStyle/>
                    <a:p>
                      <a:pPr algn="l"/>
                      <a:r>
                        <a:rPr sz="950" b="0">
                          <a:solidFill>
                            <a:srgbClr val="262626"/>
                          </a:solidFill>
                        </a:rPr>
                        <a:t>Commercial Mortgage-Backed</a:t>
                      </a:r>
                    </a:p>
                  </a:txBody>
                  <a:tcPr marT="12700" marB="12700"/>
                </a:tc>
                <a:tc>
                  <a:txBody>
                    <a:bodyPr/>
                    <a:lstStyle/>
                    <a:p>
                      <a:pPr algn="r"/>
                      <a:r>
                        <a:rPr sz="950" b="0">
                          <a:solidFill>
                            <a:srgbClr val="262626"/>
                          </a:solidFill>
                        </a:rPr>
                        <a:t>73</a:t>
                      </a:r>
                    </a:p>
                  </a:txBody>
                  <a:tcPr marT="12700" marB="12700"/>
                </a:tc>
                <a:tc>
                  <a:txBody>
                    <a:bodyPr/>
                    <a:lstStyle/>
                    <a:p>
                      <a:pPr algn="r"/>
                      <a:r>
                        <a:rPr sz="950" b="0">
                          <a:solidFill>
                            <a:srgbClr val="262626"/>
                          </a:solidFill>
                        </a:rPr>
                        <a:t>69</a:t>
                      </a:r>
                    </a:p>
                  </a:txBody>
                  <a:tcPr marT="12700" marB="12700"/>
                </a:tc>
                <a:tc>
                  <a:txBody>
                    <a:bodyPr/>
                    <a:lstStyle/>
                    <a:p>
                      <a:pPr algn="l"/>
                      <a:r>
                        <a:rPr sz="950" b="0">
                          <a:solidFill>
                            <a:srgbClr val="262626"/>
                          </a:solidFill>
                        </a:rPr>
                        <a:t>Scoped</a:t>
                      </a:r>
                    </a:p>
                  </a:txBody>
                  <a:tcPr marT="12700" marB="12700"/>
                </a:tc>
              </a:tr>
              <a:tr h="214884">
                <a:tc>
                  <a:txBody>
                    <a:bodyPr/>
                    <a:lstStyle/>
                    <a:p>
                      <a:pPr algn="r"/>
                      <a:r>
                        <a:rPr sz="950" b="0">
                          <a:solidFill>
                            <a:srgbClr val="262626"/>
                          </a:solidFill>
                        </a:rPr>
                        <a:t>11</a:t>
                      </a:r>
                    </a:p>
                  </a:txBody>
                  <a:tcPr marT="12700" marB="12700"/>
                </a:tc>
                <a:tc>
                  <a:txBody>
                    <a:bodyPr/>
                    <a:lstStyle/>
                    <a:p>
                      <a:pPr algn="l"/>
                      <a:r>
                        <a:rPr sz="950" b="0">
                          <a:solidFill>
                            <a:srgbClr val="262626"/>
                          </a:solidFill>
                        </a:rPr>
                        <a:t>FI Derivatives — Futures</a:t>
                      </a:r>
                    </a:p>
                  </a:txBody>
                  <a:tcPr marT="12700" marB="12700"/>
                </a:tc>
                <a:tc>
                  <a:txBody>
                    <a:bodyPr/>
                    <a:lstStyle/>
                    <a:p>
                      <a:pPr algn="r"/>
                      <a:r>
                        <a:rPr sz="950" b="0">
                          <a:solidFill>
                            <a:srgbClr val="262626"/>
                          </a:solidFill>
                        </a:rPr>
                        <a:t>11</a:t>
                      </a:r>
                    </a:p>
                  </a:txBody>
                  <a:tcPr marT="12700" marB="12700"/>
                </a:tc>
                <a:tc>
                  <a:txBody>
                    <a:bodyPr/>
                    <a:lstStyle/>
                    <a:p>
                      <a:pPr algn="r"/>
                      <a:r>
                        <a:rPr sz="950" b="0">
                          <a:solidFill>
                            <a:srgbClr val="262626"/>
                          </a:solidFill>
                        </a:rPr>
                        <a:t>7</a:t>
                      </a:r>
                    </a:p>
                  </a:txBody>
                  <a:tcPr marT="12700" marB="12700"/>
                </a:tc>
                <a:tc>
                  <a:txBody>
                    <a:bodyPr/>
                    <a:lstStyle/>
                    <a:p>
                      <a:pPr algn="l"/>
                      <a:r>
                        <a:rPr sz="950" b="0">
                          <a:solidFill>
                            <a:srgbClr val="262626"/>
                          </a:solidFill>
                        </a:rPr>
                        <a:t>Out of scope</a:t>
                      </a:r>
                    </a:p>
                  </a:txBody>
                  <a:tcPr marT="12700" marB="12700"/>
                </a:tc>
              </a:tr>
              <a:tr h="214884">
                <a:tc>
                  <a:txBody>
                    <a:bodyPr/>
                    <a:lstStyle/>
                    <a:p>
                      <a:pPr algn="r"/>
                      <a:r>
                        <a:rPr sz="950" b="0">
                          <a:solidFill>
                            <a:srgbClr val="262626"/>
                          </a:solidFill>
                        </a:rPr>
                        <a:t>12</a:t>
                      </a:r>
                    </a:p>
                  </a:txBody>
                  <a:tcPr marT="12700" marB="12700"/>
                </a:tc>
                <a:tc>
                  <a:txBody>
                    <a:bodyPr/>
                    <a:lstStyle/>
                    <a:p>
                      <a:pPr algn="l"/>
                      <a:r>
                        <a:rPr sz="950" b="0">
                          <a:solidFill>
                            <a:srgbClr val="262626"/>
                          </a:solidFill>
                        </a:rPr>
                        <a:t>FI Derivatives — Options</a:t>
                      </a:r>
                    </a:p>
                  </a:txBody>
                  <a:tcPr marT="12700" marB="12700"/>
                </a:tc>
                <a:tc>
                  <a:txBody>
                    <a:bodyPr/>
                    <a:lstStyle/>
                    <a:p>
                      <a:pPr algn="r"/>
                      <a:r>
                        <a:rPr sz="950" b="0">
                          <a:solidFill>
                            <a:srgbClr val="262626"/>
                          </a:solidFill>
                        </a:rPr>
                        <a:t>9</a:t>
                      </a:r>
                    </a:p>
                  </a:txBody>
                  <a:tcPr marT="12700" marB="12700"/>
                </a:tc>
                <a:tc>
                  <a:txBody>
                    <a:bodyPr/>
                    <a:lstStyle/>
                    <a:p>
                      <a:pPr algn="r"/>
                      <a:r>
                        <a:rPr sz="950" b="0">
                          <a:solidFill>
                            <a:srgbClr val="262626"/>
                          </a:solidFill>
                        </a:rPr>
                        <a:t>9</a:t>
                      </a:r>
                    </a:p>
                  </a:txBody>
                  <a:tcPr marT="12700" marB="12700"/>
                </a:tc>
                <a:tc>
                  <a:txBody>
                    <a:bodyPr/>
                    <a:lstStyle/>
                    <a:p>
                      <a:pPr algn="l"/>
                      <a:r>
                        <a:rPr sz="950" b="0">
                          <a:solidFill>
                            <a:srgbClr val="262626"/>
                          </a:solidFill>
                        </a:rPr>
                        <a:t>Out of scope</a:t>
                      </a:r>
                    </a:p>
                  </a:txBody>
                  <a:tcPr marT="12700" marB="12700"/>
                </a:tc>
              </a:tr>
              <a:tr h="214884">
                <a:tc>
                  <a:txBody>
                    <a:bodyPr/>
                    <a:lstStyle/>
                    <a:p>
                      <a:pPr algn="r"/>
                      <a:r>
                        <a:rPr sz="950" b="0">
                          <a:solidFill>
                            <a:srgbClr val="262626"/>
                          </a:solidFill>
                        </a:rPr>
                        <a:t>13</a:t>
                      </a:r>
                    </a:p>
                  </a:txBody>
                  <a:tcPr marT="12700" marB="12700"/>
                </a:tc>
                <a:tc>
                  <a:txBody>
                    <a:bodyPr/>
                    <a:lstStyle/>
                    <a:p>
                      <a:pPr algn="l"/>
                      <a:r>
                        <a:rPr sz="950" b="0">
                          <a:solidFill>
                            <a:srgbClr val="262626"/>
                          </a:solidFill>
                        </a:rPr>
                        <a:t>Other Fixed Income</a:t>
                      </a:r>
                    </a:p>
                  </a:txBody>
                  <a:tcPr marT="12700" marB="12700"/>
                </a:tc>
                <a:tc>
                  <a:txBody>
                    <a:bodyPr/>
                    <a:lstStyle/>
                    <a:p>
                      <a:pPr algn="r"/>
                      <a:r>
                        <a:rPr sz="950" b="0">
                          <a:solidFill>
                            <a:srgbClr val="262626"/>
                          </a:solidFill>
                        </a:rPr>
                        <a:t>1</a:t>
                      </a:r>
                    </a:p>
                  </a:txBody>
                  <a:tcPr marT="12700" marB="12700"/>
                </a:tc>
                <a:tc>
                  <a:txBody>
                    <a:bodyPr/>
                    <a:lstStyle/>
                    <a:p>
                      <a:pPr algn="r"/>
                      <a:r>
                        <a:rPr sz="950" b="0">
                          <a:solidFill>
                            <a:srgbClr val="262626"/>
                          </a:solidFill>
                        </a:rPr>
                        <a:t>1</a:t>
                      </a:r>
                    </a:p>
                  </a:txBody>
                  <a:tcPr marT="12700" marB="12700"/>
                </a:tc>
                <a:tc>
                  <a:txBody>
                    <a:bodyPr/>
                    <a:lstStyle/>
                    <a:p>
                      <a:pPr algn="l"/>
                      <a:r>
                        <a:rPr sz="950" b="0">
                          <a:solidFill>
                            <a:srgbClr val="262626"/>
                          </a:solidFill>
                        </a:rPr>
                        <a:t>Out of scope</a:t>
                      </a:r>
                    </a:p>
                  </a:txBody>
                  <a:tcPr marT="12700" marB="12700"/>
                </a:tc>
              </a:tr>
              <a:tr h="214884">
                <a:tc>
                  <a:txBody>
                    <a:bodyPr/>
                    <a:lstStyle/>
                    <a:p>
                      <a:pPr algn="r"/>
                    </a:p>
                  </a:txBody>
                  <a:tcPr marT="12700" marB="12700"/>
                </a:tc>
                <a:tc>
                  <a:txBody>
                    <a:bodyPr/>
                    <a:lstStyle/>
                    <a:p>
                      <a:pPr algn="l"/>
                      <a:r>
                        <a:rPr sz="950" b="1">
                          <a:solidFill>
                            <a:srgbClr val="262626"/>
                          </a:solidFill>
                        </a:rPr>
                        <a:t>Total</a:t>
                      </a:r>
                    </a:p>
                  </a:txBody>
                  <a:tcPr marT="12700" marB="12700"/>
                </a:tc>
                <a:tc>
                  <a:txBody>
                    <a:bodyPr/>
                    <a:lstStyle/>
                    <a:p>
                      <a:pPr algn="r"/>
                      <a:r>
                        <a:rPr sz="950" b="1">
                          <a:solidFill>
                            <a:srgbClr val="262626"/>
                          </a:solidFill>
                        </a:rPr>
                        <a:t>2,366</a:t>
                      </a:r>
                    </a:p>
                  </a:txBody>
                  <a:tcPr marT="12700" marB="12700"/>
                </a:tc>
                <a:tc>
                  <a:txBody>
                    <a:bodyPr/>
                    <a:lstStyle/>
                    <a:p>
                      <a:pPr algn="r"/>
                      <a:r>
                        <a:rPr sz="950" b="1">
                          <a:solidFill>
                            <a:srgbClr val="262626"/>
                          </a:solidFill>
                        </a:rPr>
                        <a:t>2,260</a:t>
                      </a:r>
                    </a:p>
                  </a:txBody>
                  <a:tcPr marT="12700" marB="12700"/>
                </a:tc>
                <a:tc>
                  <a:txBody>
                    <a:bodyPr/>
                    <a:lstStyle/>
                    <a:p>
                      <a:pPr algn="l"/>
                    </a:p>
                  </a:txBody>
                  <a:tcPr marT="12700" marB="12700"/>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How we know the numbers are right</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A government bond priced on its own government's curve must come out at zero.</a:t>
            </a:r>
            <a:r>
              <a:rPr sz="1300" b="0">
                <a:solidFill>
                  <a:srgbClr val="262626"/>
                </a:solidFill>
              </a:rPr>
              <a:t> Japan's come out at 0.0 basis points, the UK's at 4.4 — the thermometer reads right in ice water</a:t>
            </a:r>
          </a:p>
          <a:p>
            <a:pPr>
              <a:spcAft>
                <a:spcPts val="900"/>
              </a:spcAft>
            </a:pPr>
            <a:r>
              <a:rPr sz="1300" b="0">
                <a:solidFill>
                  <a:srgbClr val="262626"/>
                </a:solidFill>
              </a:rPr>
              <a:t>•  </a:t>
            </a:r>
            <a:r>
              <a:rPr sz="1300" b="1">
                <a:solidFill>
                  <a:srgbClr val="262626"/>
                </a:solidFill>
              </a:rPr>
              <a:t>The client's own custodian independently reports a risk number for some bonds.</a:t>
            </a:r>
            <a:r>
              <a:rPr sz="1300" b="0">
                <a:solidFill>
                  <a:srgbClr val="262626"/>
                </a:solidFill>
              </a:rPr>
              <a:t> Where it does, ours agrees — on agency bonds whose sensitivity runs from one to nine years, four of the five agree within three-quarters of a year</a:t>
            </a:r>
          </a:p>
          <a:p>
            <a:pPr>
              <a:spcAft>
                <a:spcPts val="900"/>
              </a:spcAft>
            </a:pPr>
            <a:r>
              <a:rPr sz="1300" b="0">
                <a:solidFill>
                  <a:srgbClr val="262626"/>
                </a:solidFill>
              </a:rPr>
              <a:t>•  </a:t>
            </a:r>
            <a:r>
              <a:rPr sz="1300" b="1">
                <a:solidFill>
                  <a:srgbClr val="262626"/>
                </a:solidFill>
              </a:rPr>
              <a:t>We re-derived the client's own inflation adjustments from published government statistics</a:t>
            </a:r>
            <a:r>
              <a:rPr sz="1300" b="0">
                <a:solidFill>
                  <a:srgbClr val="262626"/>
                </a:solidFill>
              </a:rPr>
              <a:t> — thirteen US inflation-linked bonds, agreeing to six parts in a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What's next</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The mortgage-backed book</a:t>
            </a:r>
            <a:r>
              <a:rPr sz="1300" b="0">
                <a:solidFill>
                  <a:srgbClr val="262626"/>
                </a:solidFill>
              </a:rPr>
              <a:t> — the engine is built and tested; it needs terms data, not development</a:t>
            </a:r>
          </a:p>
          <a:p>
            <a:pPr>
              <a:spcAft>
                <a:spcPts val="900"/>
              </a:spcAft>
            </a:pPr>
            <a:r>
              <a:rPr sz="1300" b="0">
                <a:solidFill>
                  <a:srgbClr val="262626"/>
                </a:solidFill>
              </a:rPr>
              <a:t>•  </a:t>
            </a:r>
            <a:r>
              <a:rPr sz="1300" b="1">
                <a:solidFill>
                  <a:srgbClr val="262626"/>
                </a:solidFill>
              </a:rPr>
              <a:t>The three remaining pooled classes</a:t>
            </a:r>
            <a:r>
              <a:rPr sz="1300" b="0">
                <a:solidFill>
                  <a:srgbClr val="262626"/>
                </a:solidFill>
              </a:rPr>
              <a:t> — scoped, and each reuses machinery that already exists</a:t>
            </a:r>
          </a:p>
          <a:p>
            <a:pPr>
              <a:spcAft>
                <a:spcPts val="900"/>
              </a:spcAft>
            </a:pPr>
            <a:r>
              <a:rPr sz="1300" b="0">
                <a:solidFill>
                  <a:srgbClr val="262626"/>
                </a:solidFill>
              </a:rPr>
              <a:t>•  </a:t>
            </a:r>
            <a:r>
              <a:rPr sz="1300" b="1">
                <a:solidFill>
                  <a:srgbClr val="262626"/>
                </a:solidFill>
              </a:rPr>
              <a:t>Running it as a hosted service, then in parallel</a:t>
            </a:r>
            <a:r>
              <a:rPr sz="1300" b="0">
                <a:solidFill>
                  <a:srgbClr val="262626"/>
                </a:solidFill>
              </a:rPr>
              <a:t> — with Ryse's engineer. The interface is already one request in, one answer out, and exactly one file knows about its environment, so this is defined work rather than a rewrite. It is the step that turns forty seconds into a thousand scenarios</a:t>
            </a:r>
          </a:p>
          <a:p>
            <a:pPr>
              <a:spcAft>
                <a:spcPts val="900"/>
              </a:spcAft>
            </a:pPr>
            <a:r>
              <a:rPr sz="1300" b="0">
                <a:solidFill>
                  <a:srgbClr val="262626"/>
                </a:solidFill>
              </a:rPr>
              <a:t>•  </a:t>
            </a:r>
            <a:r>
              <a:rPr sz="1300" b="1">
                <a:solidFill>
                  <a:srgbClr val="262626"/>
                </a:solidFill>
              </a:rPr>
              <a:t>The portfolio risk layer</a:t>
            </a:r>
            <a:r>
              <a:rPr sz="1300" b="0">
                <a:solidFill>
                  <a:srgbClr val="262626"/>
                </a:solidFill>
              </a:rPr>
              <a:t> — last, once coverage is complete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