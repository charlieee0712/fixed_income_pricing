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Complete</c:v>
                </c:pt>
              </c:strCache>
            </c:strRef>
          </c:tx>
          <c:spPr>
            <a:solidFill>
              <a:srgbClr val="1F4E79"/>
            </a:solidFill>
          </c:spPr>
          <c:dLbls>
            <c:numFmt formatCode="#,##0" sourceLinked="0"/>
            <c:txPr>
              <a:bodyPr/>
              <a:lstStyle/>
              <a:p>
                <a:pPr>
                  <a:defRPr sz="1200" b="1">
                    <a:solidFill>
                      <a:srgbClr val="FFFFFF"/>
                    </a:solidFill>
                  </a:defRPr>
                </a:pPr>
              </a:p>
            </c:txPr>
            <c:showLegendKey val="0"/>
            <c:showVal val="0"/>
            <c:showCatName val="0"/>
            <c:showSerName val="0"/>
            <c:showPercent val="0"/>
            <c:showBubbleSize val="0"/>
            <c:showLeaderLines val="1"/>
          </c:dLbls>
          <c:cat>
            <c:strRef>
              <c:f>Sheet1!$A$2:$A$2</c:f>
              <c:strCache>
                <c:ptCount val="1"/>
                <c:pt idx="0">
                  <c:v/>
                </c:pt>
              </c:strCache>
            </c:strRef>
          </c:cat>
          <c:val>
            <c:numRef>
              <c:f>Sheet1!$B$2:$B$2</c:f>
              <c:numCache>
                <c:formatCode>General</c:formatCode>
                <c:ptCount val="1"/>
                <c:pt idx="0">
                  <c:v>949</c:v>
                </c:pt>
              </c:numCache>
            </c:numRef>
          </c:val>
        </c:ser>
        <c:ser>
          <c:idx val="1"/>
          <c:order val="1"/>
          <c:tx>
            <c:strRef>
              <c:f>Sheet1!$C$1</c:f>
              <c:strCache>
                <c:ptCount val="1"/>
                <c:pt idx="0">
                  <c:v>Engine built — next</c:v>
                </c:pt>
              </c:strCache>
            </c:strRef>
          </c:tx>
          <c:spPr>
            <a:solidFill>
              <a:srgbClr val="D68910"/>
            </a:solidFill>
          </c:spPr>
          <c:dLbls>
            <c:numFmt formatCode="#,##0" sourceLinked="0"/>
            <c:txPr>
              <a:bodyPr/>
              <a:lstStyle/>
              <a:p>
                <a:pPr>
                  <a:defRPr sz="1200" b="1">
                    <a:solidFill>
                      <a:srgbClr val="FFFFFF"/>
                    </a:solidFill>
                  </a:defRPr>
                </a:pPr>
              </a:p>
            </c:txPr>
            <c:showLegendKey val="0"/>
            <c:showVal val="0"/>
            <c:showCatName val="0"/>
            <c:showSerName val="0"/>
            <c:showPercent val="0"/>
            <c:showBubbleSize val="0"/>
            <c:showLeaderLines val="1"/>
          </c:dLbls>
          <c:cat>
            <c:strRef>
              <c:f>Sheet1!$A$2:$A$2</c:f>
              <c:strCache>
                <c:ptCount val="1"/>
                <c:pt idx="0">
                  <c:v/>
                </c:pt>
              </c:strCache>
            </c:strRef>
          </c:cat>
          <c:val>
            <c:numRef>
              <c:f>Sheet1!$C$2:$C$2</c:f>
              <c:numCache>
                <c:formatCode>General</c:formatCode>
                <c:ptCount val="1"/>
                <c:pt idx="0">
                  <c:v>882</c:v>
                </c:pt>
              </c:numCache>
            </c:numRef>
          </c:val>
        </c:ser>
        <c:ser>
          <c:idx val="2"/>
          <c:order val="2"/>
          <c:tx>
            <c:strRef>
              <c:f>Sheet1!$D$1</c:f>
              <c:strCache>
                <c:ptCount val="1"/>
                <c:pt idx="0">
                  <c:v>Scoped, not started</c:v>
                </c:pt>
              </c:strCache>
            </c:strRef>
          </c:tx>
          <c:spPr>
            <a:solidFill>
              <a:srgbClr val="9E9E9E"/>
            </a:solidFill>
          </c:spPr>
          <c:dLbls>
            <c:numFmt formatCode="#,##0" sourceLinked="0"/>
            <c:txPr>
              <a:bodyPr/>
              <a:lstStyle/>
              <a:p>
                <a:pPr>
                  <a:defRPr sz="1200" b="1">
                    <a:solidFill>
                      <a:srgbClr val="FFFFFF"/>
                    </a:solidFill>
                  </a:defRPr>
                </a:pPr>
              </a:p>
            </c:txPr>
            <c:showLegendKey val="0"/>
            <c:showVal val="0"/>
            <c:showCatName val="0"/>
            <c:showSerName val="0"/>
            <c:showPercent val="0"/>
            <c:showBubbleSize val="0"/>
            <c:showLeaderLines val="1"/>
          </c:dLbls>
          <c:cat>
            <c:strRef>
              <c:f>Sheet1!$A$2:$A$2</c:f>
              <c:strCache>
                <c:ptCount val="1"/>
                <c:pt idx="0">
                  <c:v/>
                </c:pt>
              </c:strCache>
            </c:strRef>
          </c:cat>
          <c:val>
            <c:numRef>
              <c:f>Sheet1!$D$2:$D$2</c:f>
              <c:numCache>
                <c:formatCode>General</c:formatCode>
                <c:ptCount val="1"/>
                <c:pt idx="0">
                  <c:v>412</c:v>
                </c:pt>
              </c:numCache>
            </c:numRef>
          </c:val>
        </c:ser>
        <c:ser>
          <c:idx val="3"/>
          <c:order val="3"/>
          <c:tx>
            <c:strRef>
              <c:f>Sheet1!$E$1</c:f>
              <c:strCache>
                <c:ptCount val="1"/>
                <c:pt idx="0">
                  <c:v>Out of scope</c:v>
                </c:pt>
              </c:strCache>
            </c:strRef>
          </c:tx>
          <c:spPr>
            <a:solidFill>
              <a:srgbClr val="D9D9D9"/>
            </a:solidFill>
          </c:spPr>
          <c:cat>
            <c:strRef>
              <c:f>Sheet1!$A$2:$A$2</c:f>
              <c:strCache>
                <c:ptCount val="1"/>
                <c:pt idx="0">
                  <c:v/>
                </c:pt>
              </c:strCache>
            </c:strRef>
          </c:cat>
          <c:val>
            <c:numRef>
              <c:f>Sheet1!$E$2:$E$2</c:f>
              <c:numCache>
                <c:formatCode>General</c:formatCode>
                <c:ptCount val="1"/>
                <c:pt idx="0">
                  <c:v>17</c:v>
                </c:pt>
              </c:numCache>
            </c:numRef>
          </c:val>
        </c:ser>
        <c:gapWidth val="40"/>
        <c:overlap val="100"/>
        <c:axId val="-2068027336"/>
        <c:axId val="-2113994440"/>
      </c:barChart>
      <c:catAx>
        <c:axId val="-2068027336"/>
        <c:scaling>
          <c:orientation val="minMax"/>
        </c:scaling>
        <c:delete/>
        <c:axPos val="l"/>
        <c:majorTickMark val="out"/>
        <c:minorTickMark val="none"/>
        <c:tickLblPos val="nextTo"/>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legend>
      <c:legendPos val="b"/>
      <c:overlay val="0"/>
      <c:txPr>
        <a:bodyPr/>
        <a:lstStyle/>
        <a:p>
          <a:pPr>
            <a:defRPr sz="10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seconds. No preamble.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to land is the second one. This is not a complaint about speed for its own sake — it is that a whole class of work, scenario analysis, simply cannot be done. A thousand rounds at minutes each is not slow, it is impossible, so nobody asks for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are the definition of done, and they are in order of dependency: you cannot parallelise what you cannot reproduce, and you cannot trust a scenario engine whose base case nobody can check. The third is the commercial one — it is the capability that does not exist at all today.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forty seconds is what makes the goal arithmetic rather than aspirational. A thousand scenarios is a thousand times forty seconds divided by however many machines you run it on — a capacity question, and capacity is something you can buy. It was not a capacity question before. If an engineer asks how it runs there: today it is a checkout in an Azure terminal, which proves the code is portable and fast. Hosting it so other systems can call it is the next step and is on slide 9 — do not let "runs on Azure" be heard as "deployed as a service".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point deserves a sentence. In a pricing system the number is the whole product, so we made "did anything change" a mechanical check rather than a matter of opinion: every time the code changes, every price the system has ever published is regenerated and compared. That is how we can say a restructuring changed nothing and mean it literally.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honest readings. First, "complete" means the category is built and running, not that every bond in it has our number — 183 do not, and every one of them is named in a register with its reason. That is not an apology: a real book has incomplete records, and a tool meant for any portfolio has to name what it cannot price rather than guess at it. Second, the largest remaining block is the mortgage book, and its engine is already built and tested; what it needs is terms data, not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columns because the holdings file counts lines and we count securities, and they differ — a bond held by two managers appears on two lines. Lines reconcile against that sheet exactly, at 2,366. If anyone asks about the last three rows: futures and options are not bonds, they are priced by different machinery, and they are 17 securities out of 2,260.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header is the whole slide: we are not grading our own homework. Each of these three is checked against something outside the system — a mathematical identity, someone else's calculation, and public government data. Numbers if anyone asks. The zero test covers bonds priced on their own government's curve — eleven Japanese and twelve UK, with the under-one-year bonds left out, the same rule every average in this project uses. The rate-sensitivity comparison is the five agency bonds that can be repaid early, the only ones where the custodian's figure and ours measure the same thing; four agree within three-quarters of a year on figures running from one to nine years, and the fifth differs by about two. The inflation check found something too: those records are struck one day after the valuation date, which had been invisible for months.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straight that the pooled classes are genuine remaining engineering, not a data problem. What makes them tractable is that the hard parts — the cash-flow machinery, the option model, the market-data plumbing — are built and proven on the 766 we already price. On the cloud step: today each of us runs the code in our own Azure terminal, which was the point of the September trial. Hosting it so Excel or another system can call it over the network is separate, known work — we put it to Mario in that report as an explicit question and it is still open.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417320"/>
            <a:ext cx="8138160" cy="731520"/>
          </a:xfrm>
          <a:prstGeom prst="rect">
            <a:avLst/>
          </a:prstGeom>
          <a:noFill/>
        </p:spPr>
        <p:txBody>
          <a:bodyPr wrap="square">
            <a:spAutoFit/>
          </a:bodyPr>
          <a:lstStyle/>
          <a:p>
            <a:pPr>
              <a:spcAft>
                <a:spcPts val="300"/>
              </a:spcAft>
            </a:pPr>
            <a:r>
              <a:rPr sz="3000" b="1">
                <a:solidFill>
                  <a:srgbClr val="1F4E79"/>
                </a:solidFill>
              </a:rPr>
              <a:t>Upgrading the Fixed Income Pricing System</a:t>
            </a:r>
          </a:p>
        </p:txBody>
      </p:sp>
      <p:sp>
        <p:nvSpPr>
          <p:cNvPr id="3" name="TextBox 2"/>
          <p:cNvSpPr txBox="1"/>
          <p:nvPr/>
        </p:nvSpPr>
        <p:spPr>
          <a:xfrm>
            <a:off x="502920" y="2331720"/>
            <a:ext cx="8138160" cy="2628900"/>
          </a:xfrm>
          <a:prstGeom prst="rect">
            <a:avLst/>
          </a:prstGeom>
          <a:noFill/>
        </p:spPr>
        <p:txBody>
          <a:bodyPr wrap="square">
            <a:spAutoFit/>
          </a:bodyPr>
          <a:lstStyle/>
          <a:p>
            <a:pPr>
              <a:spcAft>
                <a:spcPts val="900"/>
              </a:spcAft>
            </a:pPr>
            <a:r>
              <a:rPr sz="1300" b="0">
                <a:solidFill>
                  <a:srgbClr val="707070"/>
                </a:solidFill>
              </a:rPr>
              <a:t>•  Ryse · progress update for investors</a:t>
            </a:r>
          </a:p>
          <a:p>
            <a:pPr>
              <a:spcAft>
                <a:spcPts val="900"/>
              </a:spcAft>
            </a:pPr>
            <a:r>
              <a:rPr sz="1300" b="0">
                <a:solidFill>
                  <a:srgbClr val="707070"/>
                </a:solidFill>
              </a:rPr>
              <a:t>•  Presented by Lichen Chen and Liping Yin · Directed by Mario Pardo</a:t>
            </a:r>
          </a:p>
          <a:p>
            <a:pPr>
              <a:spcAft>
                <a:spcPts val="900"/>
              </a:spcAft>
            </a:pPr>
            <a:r>
              <a:rPr sz="1300" b="0">
                <a:solidFill>
                  <a:srgbClr val="707070"/>
                </a:solidFill>
              </a:rPr>
              <a:t>•  Twelve weeks: 26 June – 22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8138160" cy="731520"/>
          </a:xfrm>
          <a:prstGeom prst="rect">
            <a:avLst/>
          </a:prstGeom>
          <a:noFill/>
        </p:spPr>
        <p:txBody>
          <a:bodyPr wrap="square">
            <a:spAutoFit/>
          </a:bodyPr>
          <a:lstStyle/>
          <a:p>
            <a:pPr>
              <a:spcAft>
                <a:spcPts val="300"/>
              </a:spcAft>
            </a:pPr>
            <a:r>
              <a:rPr sz="2300" b="1">
                <a:solidFill>
                  <a:srgbClr val="1F4E79"/>
                </a:solidFill>
              </a:rPr>
              <a:t>Situation</a:t>
            </a:r>
          </a:p>
        </p:txBody>
      </p:sp>
      <p:sp>
        <p:nvSpPr>
          <p:cNvPr id="3" name="TextBox 2"/>
          <p:cNvSpPr txBox="1"/>
          <p:nvPr/>
        </p:nvSpPr>
        <p:spPr>
          <a:xfrm>
            <a:off x="502920" y="1078992"/>
            <a:ext cx="8138160" cy="3881628"/>
          </a:xfrm>
          <a:prstGeom prst="rect">
            <a:avLst/>
          </a:prstGeom>
          <a:noFill/>
        </p:spPr>
        <p:txBody>
          <a:bodyPr wrap="square">
            <a:spAutoFit/>
          </a:bodyPr>
          <a:lstStyle/>
          <a:p>
            <a:pPr>
              <a:spcAft>
                <a:spcPts val="900"/>
              </a:spcAft>
            </a:pPr>
            <a:r>
              <a:rPr sz="1300" b="0">
                <a:solidFill>
                  <a:srgbClr val="262626"/>
                </a:solidFill>
              </a:rPr>
              <a:t>•  Pricing depends on years of accumulated VBA code (~14,000 lines) spread across workbooks that only the owner can operate or modify.</a:t>
            </a:r>
          </a:p>
          <a:p>
            <a:pPr>
              <a:spcAft>
                <a:spcPts val="900"/>
              </a:spcAft>
            </a:pPr>
            <a:r>
              <a:rPr sz="1300" b="0">
                <a:solidFill>
                  <a:srgbClr val="262626"/>
                </a:solidFill>
              </a:rPr>
              <a:t>•  Running a thousand what-if scenarios takes far too long, or crashes Excel, making scenario analysis and Monte Carlo simulations impractical.</a:t>
            </a:r>
          </a:p>
          <a:p>
            <a:pPr>
              <a:spcAft>
                <a:spcPts val="900"/>
              </a:spcAft>
            </a:pPr>
            <a:r>
              <a:rPr sz="1300" b="0">
                <a:solidFill>
                  <a:srgbClr val="262626"/>
                </a:solidFill>
              </a:rPr>
              <a:t>•  Spreadsheets cannot be tested: there is no systematic way to detect when a change produces a wrong result.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8138160" cy="731520"/>
          </a:xfrm>
          <a:prstGeom prst="rect">
            <a:avLst/>
          </a:prstGeom>
          <a:noFill/>
        </p:spPr>
        <p:txBody>
          <a:bodyPr wrap="square">
            <a:spAutoFit/>
          </a:bodyPr>
          <a:lstStyle/>
          <a:p>
            <a:pPr>
              <a:spcAft>
                <a:spcPts val="300"/>
              </a:spcAft>
            </a:pPr>
            <a:r>
              <a:rPr sz="2300" b="1">
                <a:solidFill>
                  <a:srgbClr val="1F4E79"/>
                </a:solidFill>
              </a:rPr>
              <a:t>Goal</a:t>
            </a:r>
          </a:p>
        </p:txBody>
      </p:sp>
      <p:sp>
        <p:nvSpPr>
          <p:cNvPr id="3" name="TextBox 2"/>
          <p:cNvSpPr txBox="1"/>
          <p:nvPr/>
        </p:nvSpPr>
        <p:spPr>
          <a:xfrm>
            <a:off x="502920" y="1078992"/>
            <a:ext cx="8138160" cy="3881628"/>
          </a:xfrm>
          <a:prstGeom prst="rect">
            <a:avLst/>
          </a:prstGeom>
          <a:noFill/>
        </p:spPr>
        <p:txBody>
          <a:bodyPr wrap="square">
            <a:spAutoFit/>
          </a:bodyPr>
          <a:lstStyle/>
          <a:p>
            <a:pPr>
              <a:spcAft>
                <a:spcPts val="900"/>
              </a:spcAft>
            </a:pPr>
            <a:r>
              <a:rPr sz="1300" b="0">
                <a:solidFill>
                  <a:srgbClr val="262626"/>
                </a:solidFill>
              </a:rPr>
              <a:t>•  A single system prices every instrument class in the book.</a:t>
            </a:r>
          </a:p>
          <a:p>
            <a:pPr>
              <a:spcAft>
                <a:spcPts val="900"/>
              </a:spcAft>
            </a:pPr>
            <a:r>
              <a:rPr sz="1300" b="0">
                <a:solidFill>
                  <a:srgbClr val="262626"/>
                </a:solidFill>
              </a:rPr>
              <a:t>•  Outputs are reproducible and testable: </a:t>
            </a:r>
            <a:r>
              <a:rPr sz="1300" b="1">
                <a:solidFill>
                  <a:srgbClr val="262626"/>
                </a:solidFill>
              </a:rPr>
              <a:t>a change to the code</a:t>
            </a:r>
            <a:r>
              <a:rPr sz="1300" b="0">
                <a:solidFill>
                  <a:srgbClr val="262626"/>
                </a:solidFill>
              </a:rPr>
              <a:t> that alters a result is detected automatically.</a:t>
            </a:r>
          </a:p>
          <a:p>
            <a:pPr>
              <a:spcAft>
                <a:spcPts val="900"/>
              </a:spcAft>
            </a:pPr>
            <a:r>
              <a:rPr sz="1300" b="0">
                <a:solidFill>
                  <a:srgbClr val="262626"/>
                </a:solidFill>
              </a:rPr>
              <a:t>•  Cloud-based parallel execution means a thousand-scenario what-if completes in minutes instead of being out of reach.</a:t>
            </a:r>
          </a:p>
          <a:p>
            <a:pPr>
              <a:spcAft>
                <a:spcPts val="900"/>
              </a:spcAft>
            </a:pPr>
            <a:r>
              <a:rPr sz="1300" b="0">
                <a:solidFill>
                  <a:srgbClr val="262626"/>
                </a:solidFill>
              </a:rPr>
              <a:t>•  Layered on top: portfolio-level risk, available once all instrument classes are coded.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8138160" cy="731520"/>
          </a:xfrm>
          <a:prstGeom prst="rect">
            <a:avLst/>
          </a:prstGeom>
          <a:noFill/>
        </p:spPr>
        <p:txBody>
          <a:bodyPr wrap="square">
            <a:spAutoFit/>
          </a:bodyPr>
          <a:lstStyle/>
          <a:p>
            <a:pPr>
              <a:spcAft>
                <a:spcPts val="300"/>
              </a:spcAft>
            </a:pPr>
            <a:r>
              <a:rPr sz="2300" b="1">
                <a:solidFill>
                  <a:srgbClr val="1F4E79"/>
                </a:solidFill>
              </a:rPr>
              <a:t>Current Stage</a:t>
            </a:r>
          </a:p>
        </p:txBody>
      </p:sp>
      <p:sp>
        <p:nvSpPr>
          <p:cNvPr id="3" name="TextBox 2"/>
          <p:cNvSpPr txBox="1"/>
          <p:nvPr/>
        </p:nvSpPr>
        <p:spPr>
          <a:xfrm>
            <a:off x="502920" y="1078992"/>
            <a:ext cx="8138160" cy="3881628"/>
          </a:xfrm>
          <a:prstGeom prst="rect">
            <a:avLst/>
          </a:prstGeom>
          <a:noFill/>
        </p:spPr>
        <p:txBody>
          <a:bodyPr wrap="square">
            <a:spAutoFit/>
          </a:bodyPr>
          <a:lstStyle/>
          <a:p>
            <a:pPr>
              <a:spcAft>
                <a:spcPts val="900"/>
              </a:spcAft>
            </a:pPr>
            <a:r>
              <a:rPr sz="1300" b="0">
                <a:solidFill>
                  <a:srgbClr val="262626"/>
                </a:solidFill>
              </a:rPr>
              <a:t>•  6 of 13 categories done: 949 securities, with 766 priceable by the new engine.</a:t>
            </a:r>
          </a:p>
          <a:p>
            <a:pPr>
              <a:spcAft>
                <a:spcPts val="900"/>
              </a:spcAft>
            </a:pPr>
            <a:r>
              <a:rPr sz="1300" b="0">
                <a:solidFill>
                  <a:srgbClr val="262626"/>
                </a:solidFill>
              </a:rPr>
              <a:t>•  JSON dictionaries for every input and output — this makes parallel computing much easier.</a:t>
            </a:r>
          </a:p>
          <a:p>
            <a:pPr>
              <a:spcAft>
                <a:spcPts val="900"/>
              </a:spcAft>
            </a:pPr>
            <a:r>
              <a:rPr sz="1300" b="0">
                <a:solidFill>
                  <a:srgbClr val="262626"/>
                </a:solidFill>
              </a:rPr>
              <a:t>•  </a:t>
            </a:r>
            <a:r>
              <a:rPr sz="1300" b="1">
                <a:solidFill>
                  <a:srgbClr val="262626"/>
                </a:solidFill>
              </a:rPr>
              <a:t>The code already runs unchanged on Azure</a:t>
            </a:r>
            <a:r>
              <a:rPr sz="1300" b="0">
                <a:solidFill>
                  <a:srgbClr val="262626"/>
                </a:solidFill>
              </a:rPr>
              <a:t> — a clean checkout reprices the whole book in 40 seconds, measured.</a:t>
            </a:r>
          </a:p>
          <a:p>
            <a:pPr>
              <a:spcAft>
                <a:spcPts val="900"/>
              </a:spcAft>
            </a:pPr>
            <a:r>
              <a:rPr sz="1300" b="0">
                <a:solidFill>
                  <a:srgbClr val="262626"/>
                </a:solidFill>
              </a:rPr>
              <a:t>•  Next: focus on mortgage-backed securities and other instruments, then hand the code to Ryse's engineer for parallel-computing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8138160" cy="731520"/>
          </a:xfrm>
          <a:prstGeom prst="rect">
            <a:avLst/>
          </a:prstGeom>
          <a:noFill/>
        </p:spPr>
        <p:txBody>
          <a:bodyPr wrap="square">
            <a:spAutoFit/>
          </a:bodyPr>
          <a:lstStyle/>
          <a:p>
            <a:pPr>
              <a:spcAft>
                <a:spcPts val="300"/>
              </a:spcAft>
            </a:pPr>
            <a:r>
              <a:rPr sz="2300" b="1">
                <a:solidFill>
                  <a:srgbClr val="1F4E79"/>
                </a:solidFill>
              </a:rPr>
              <a:t>What our new system does today</a:t>
            </a:r>
          </a:p>
        </p:txBody>
      </p:sp>
      <p:sp>
        <p:nvSpPr>
          <p:cNvPr id="3" name="TextBox 2"/>
          <p:cNvSpPr txBox="1"/>
          <p:nvPr/>
        </p:nvSpPr>
        <p:spPr>
          <a:xfrm>
            <a:off x="502920" y="1078992"/>
            <a:ext cx="8138160" cy="3881628"/>
          </a:xfrm>
          <a:prstGeom prst="rect">
            <a:avLst/>
          </a:prstGeom>
          <a:noFill/>
        </p:spPr>
        <p:txBody>
          <a:bodyPr wrap="square">
            <a:spAutoFit/>
          </a:bodyPr>
          <a:lstStyle/>
          <a:p>
            <a:pPr>
              <a:spcAft>
                <a:spcPts val="900"/>
              </a:spcAft>
            </a:pPr>
            <a:r>
              <a:rPr sz="1300" b="0">
                <a:solidFill>
                  <a:srgbClr val="262626"/>
                </a:solidFill>
              </a:rPr>
              <a:t>•  Given a bond, today's rate, and the market price, it returns the spread the market is charging that borrower and the bond's sensitivity to rate moves.</a:t>
            </a:r>
          </a:p>
          <a:p>
            <a:pPr>
              <a:spcAft>
                <a:spcPts val="900"/>
              </a:spcAft>
            </a:pPr>
            <a:r>
              <a:rPr sz="1300" b="0">
                <a:solidFill>
                  <a:srgbClr val="262626"/>
                </a:solidFill>
              </a:rPr>
              <a:t>•  Runs three ways — spreadsheet, command line, or as a service other systems call — and returns the same answer from all three.</a:t>
            </a:r>
          </a:p>
          <a:p>
            <a:pPr>
              <a:spcAft>
                <a:spcPts val="900"/>
              </a:spcAft>
            </a:pPr>
            <a:r>
              <a:rPr sz="1300" b="0">
                <a:solidFill>
                  <a:srgbClr val="262626"/>
                </a:solidFill>
              </a:rPr>
              <a:t>•  Reproducible to the byte — run it again a month later, same results.</a:t>
            </a:r>
          </a:p>
          <a:p>
            <a:pPr>
              <a:spcAft>
                <a:spcPts val="900"/>
              </a:spcAft>
            </a:pPr>
            <a:r>
              <a:rPr sz="1300" b="0">
                <a:solidFill>
                  <a:srgbClr val="262626"/>
                </a:solidFill>
              </a:rPr>
              <a:t>•  Built and checked against a real portfolio — a pension fund's fixed-income book, March 2009 — chosen because the answers are already known.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8138160" cy="731520"/>
          </a:xfrm>
          <a:prstGeom prst="rect">
            <a:avLst/>
          </a:prstGeom>
          <a:noFill/>
        </p:spPr>
        <p:txBody>
          <a:bodyPr wrap="square">
            <a:spAutoFit/>
          </a:bodyPr>
          <a:lstStyle/>
          <a:p>
            <a:pPr>
              <a:spcAft>
                <a:spcPts val="300"/>
              </a:spcAft>
            </a:pPr>
            <a:r>
              <a:rPr sz="2300" b="1">
                <a:solidFill>
                  <a:srgbClr val="1F4E79"/>
                </a:solidFill>
              </a:rPr>
              <a:t>Coverage</a:t>
            </a:r>
          </a:p>
        </p:txBody>
      </p:sp>
      <p:graphicFrame>
        <p:nvGraphicFramePr>
          <p:cNvPr id="3" name="Chart 2"/>
          <p:cNvGraphicFramePr>
            <a:graphicFrameLocks noGrp="1"/>
          </p:cNvGraphicFramePr>
          <p:nvPr/>
        </p:nvGraphicFramePr>
        <p:xfrm>
          <a:off x="502920" y="1078992"/>
          <a:ext cx="8138160" cy="1371600"/>
        </p:xfrm>
        <a:graphic>
          <a:graphicData uri="http://schemas.openxmlformats.org/drawingml/2006/chart">
            <c:chart xmlns:c="http://schemas.openxmlformats.org/drawingml/2006/chart" r:id="rId2"/>
          </a:graphicData>
        </a:graphic>
      </p:graphicFrame>
      <p:sp>
        <p:nvSpPr>
          <p:cNvPr id="4" name="TextBox 3"/>
          <p:cNvSpPr txBox="1"/>
          <p:nvPr/>
        </p:nvSpPr>
        <p:spPr>
          <a:xfrm>
            <a:off x="502920" y="2560320"/>
            <a:ext cx="8138160" cy="2400300"/>
          </a:xfrm>
          <a:prstGeom prst="rect">
            <a:avLst/>
          </a:prstGeom>
          <a:noFill/>
        </p:spPr>
        <p:txBody>
          <a:bodyPr wrap="square">
            <a:spAutoFit/>
          </a:bodyPr>
          <a:lstStyle/>
          <a:p>
            <a:pPr>
              <a:spcAft>
                <a:spcPts val="900"/>
              </a:spcAft>
            </a:pPr>
            <a:r>
              <a:rPr sz="1300" b="0">
                <a:solidFill>
                  <a:srgbClr val="262626"/>
                </a:solidFill>
              </a:rPr>
              <a:t>•  </a:t>
            </a:r>
            <a:r>
              <a:rPr sz="1300" b="1">
                <a:solidFill>
                  <a:srgbClr val="262626"/>
                </a:solidFill>
              </a:rPr>
              <a:t>2,260 securities in the portfolio. Six of the thirteen categories are complete — 42%</a:t>
            </a:r>
          </a:p>
          <a:p>
            <a:pPr>
              <a:spcAft>
                <a:spcPts val="900"/>
              </a:spcAft>
            </a:pPr>
            <a:r>
              <a:rPr sz="1300" b="0">
                <a:solidFill>
                  <a:srgbClr val="262626"/>
                </a:solidFill>
              </a:rPr>
              <a:t>•  Of those 949, </a:t>
            </a:r>
            <a:r>
              <a:rPr sz="1300" b="1">
                <a:solidFill>
                  <a:srgbClr val="262626"/>
                </a:solidFill>
              </a:rPr>
              <a:t>766 carry our own price</a:t>
            </a:r>
            <a:r>
              <a:rPr sz="1300" b="0">
                <a:solidFill>
                  <a:srgbClr val="262626"/>
                </a:solidFill>
              </a:rPr>
              <a:t>; the remaining 183 are individually named, most of them bonds whose terms are absent from the source records themselves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8138160" cy="731520"/>
          </a:xfrm>
          <a:prstGeom prst="rect">
            <a:avLst/>
          </a:prstGeom>
          <a:noFill/>
        </p:spPr>
        <p:txBody>
          <a:bodyPr wrap="square">
            <a:spAutoFit/>
          </a:bodyPr>
          <a:lstStyle/>
          <a:p>
            <a:pPr>
              <a:spcAft>
                <a:spcPts val="300"/>
              </a:spcAft>
            </a:pPr>
            <a:r>
              <a:rPr sz="2300" b="1">
                <a:solidFill>
                  <a:srgbClr val="1F4E79"/>
                </a:solidFill>
              </a:rPr>
              <a:t>The thirteen categories</a:t>
            </a:r>
          </a:p>
        </p:txBody>
      </p:sp>
      <p:graphicFrame>
        <p:nvGraphicFramePr>
          <p:cNvPr id="3" name="Table 2"/>
          <p:cNvGraphicFramePr>
            <a:graphicFrameLocks noGrp="1"/>
          </p:cNvGraphicFramePr>
          <p:nvPr/>
        </p:nvGraphicFramePr>
        <p:xfrm>
          <a:off x="502920" y="1078992"/>
          <a:ext cx="8138160" cy="3223260"/>
        </p:xfrm>
        <a:graphic>
          <a:graphicData uri="http://schemas.openxmlformats.org/drawingml/2006/table">
            <a:tbl>
              <a:tblPr firstRow="1" bandRow="1">
                <a:tableStyleId>{5C22544A-7EE6-4342-B048-85BDC9FD1C3A}</a:tableStyleId>
              </a:tblPr>
              <a:tblGrid>
                <a:gridCol w="347472"/>
                <a:gridCol w="2788920"/>
                <a:gridCol w="960120"/>
                <a:gridCol w="1143000"/>
                <a:gridCol w="2898648"/>
              </a:tblGrid>
              <a:tr h="214884">
                <a:tc>
                  <a:txBody>
                    <a:bodyPr/>
                    <a:lstStyle/>
                    <a:p>
                      <a:pPr algn="l"/>
                      <a:r>
                        <a:rPr sz="950" b="1">
                          <a:solidFill>
                            <a:srgbClr val="1F4E79"/>
                          </a:solidFill>
                        </a:rPr>
                        <a:t>#</a:t>
                      </a:r>
                    </a:p>
                  </a:txBody>
                  <a:tcPr marT="12700" marB="12700"/>
                </a:tc>
                <a:tc>
                  <a:txBody>
                    <a:bodyPr/>
                    <a:lstStyle/>
                    <a:p>
                      <a:pPr algn="l"/>
                      <a:r>
                        <a:rPr sz="950" b="1">
                          <a:solidFill>
                            <a:srgbClr val="1F4E79"/>
                          </a:solidFill>
                        </a:rPr>
                        <a:t>Category</a:t>
                      </a:r>
                    </a:p>
                  </a:txBody>
                  <a:tcPr marT="12700" marB="12700"/>
                </a:tc>
                <a:tc>
                  <a:txBody>
                    <a:bodyPr/>
                    <a:lstStyle/>
                    <a:p>
                      <a:pPr algn="l"/>
                      <a:r>
                        <a:rPr sz="950" b="1">
                          <a:solidFill>
                            <a:srgbClr val="1F4E79"/>
                          </a:solidFill>
                        </a:rPr>
                        <a:t>Lines</a:t>
                      </a:r>
                    </a:p>
                  </a:txBody>
                  <a:tcPr marT="12700" marB="12700"/>
                </a:tc>
                <a:tc>
                  <a:txBody>
                    <a:bodyPr/>
                    <a:lstStyle/>
                    <a:p>
                      <a:pPr algn="l"/>
                      <a:r>
                        <a:rPr sz="950" b="1">
                          <a:solidFill>
                            <a:srgbClr val="1F4E79"/>
                          </a:solidFill>
                        </a:rPr>
                        <a:t>Securities</a:t>
                      </a:r>
                    </a:p>
                  </a:txBody>
                  <a:tcPr marT="12700" marB="12700"/>
                </a:tc>
                <a:tc>
                  <a:txBody>
                    <a:bodyPr/>
                    <a:lstStyle/>
                    <a:p>
                      <a:pPr algn="l"/>
                      <a:r>
                        <a:rPr sz="950" b="1">
                          <a:solidFill>
                            <a:srgbClr val="1F4E79"/>
                          </a:solidFill>
                        </a:rPr>
                        <a:t>Status</a:t>
                      </a:r>
                    </a:p>
                  </a:txBody>
                  <a:tcPr marT="12700" marB="12700"/>
                </a:tc>
              </a:tr>
              <a:tr h="214884">
                <a:tc>
                  <a:txBody>
                    <a:bodyPr/>
                    <a:lstStyle/>
                    <a:p>
                      <a:pPr algn="r"/>
                      <a:r>
                        <a:rPr sz="950" b="0">
                          <a:solidFill>
                            <a:srgbClr val="262626"/>
                          </a:solidFill>
                        </a:rPr>
                        <a:t>1</a:t>
                      </a:r>
                    </a:p>
                  </a:txBody>
                  <a:tcPr marT="12700" marB="12700"/>
                </a:tc>
                <a:tc>
                  <a:txBody>
                    <a:bodyPr/>
                    <a:lstStyle/>
                    <a:p>
                      <a:pPr algn="l"/>
                      <a:r>
                        <a:rPr sz="950" b="0">
                          <a:solidFill>
                            <a:srgbClr val="262626"/>
                          </a:solidFill>
                        </a:rPr>
                        <a:t>Corporate Bonds</a:t>
                      </a:r>
                    </a:p>
                  </a:txBody>
                  <a:tcPr marT="12700" marB="12700"/>
                </a:tc>
                <a:tc>
                  <a:txBody>
                    <a:bodyPr/>
                    <a:lstStyle/>
                    <a:p>
                      <a:pPr algn="r"/>
                      <a:r>
                        <a:rPr sz="950" b="0">
                          <a:solidFill>
                            <a:srgbClr val="262626"/>
                          </a:solidFill>
                        </a:rPr>
                        <a:t>811</a:t>
                      </a:r>
                    </a:p>
                  </a:txBody>
                  <a:tcPr marT="12700" marB="12700"/>
                </a:tc>
                <a:tc>
                  <a:txBody>
                    <a:bodyPr/>
                    <a:lstStyle/>
                    <a:p>
                      <a:pPr algn="r"/>
                      <a:r>
                        <a:rPr sz="950" b="0">
                          <a:solidFill>
                            <a:srgbClr val="262626"/>
                          </a:solidFill>
                        </a:rPr>
                        <a:t>732</a:t>
                      </a:r>
                    </a:p>
                  </a:txBody>
                  <a:tcPr marT="12700" marB="12700"/>
                </a:tc>
                <a:tc>
                  <a:txBody>
                    <a:bodyPr/>
                    <a:lstStyle/>
                    <a:p>
                      <a:pPr algn="l"/>
                      <a:r>
                        <a:rPr sz="950" b="0">
                          <a:solidFill>
                            <a:srgbClr val="262626"/>
                          </a:solidFill>
                        </a:rPr>
                        <a:t>Complete</a:t>
                      </a:r>
                    </a:p>
                  </a:txBody>
                  <a:tcPr marT="12700" marB="12700"/>
                </a:tc>
              </a:tr>
              <a:tr h="214884">
                <a:tc>
                  <a:txBody>
                    <a:bodyPr/>
                    <a:lstStyle/>
                    <a:p>
                      <a:pPr algn="r"/>
                      <a:r>
                        <a:rPr sz="950" b="0">
                          <a:solidFill>
                            <a:srgbClr val="262626"/>
                          </a:solidFill>
                        </a:rPr>
                        <a:t>2</a:t>
                      </a:r>
                    </a:p>
                  </a:txBody>
                  <a:tcPr marT="12700" marB="12700"/>
                </a:tc>
                <a:tc>
                  <a:txBody>
                    <a:bodyPr/>
                    <a:lstStyle/>
                    <a:p>
                      <a:pPr algn="l"/>
                      <a:r>
                        <a:rPr sz="950" b="0">
                          <a:solidFill>
                            <a:srgbClr val="262626"/>
                          </a:solidFill>
                        </a:rPr>
                        <a:t>Government Bonds</a:t>
                      </a:r>
                    </a:p>
                  </a:txBody>
                  <a:tcPr marT="12700" marB="12700"/>
                </a:tc>
                <a:tc>
                  <a:txBody>
                    <a:bodyPr/>
                    <a:lstStyle/>
                    <a:p>
                      <a:pPr algn="r"/>
                      <a:r>
                        <a:rPr sz="950" b="0">
                          <a:solidFill>
                            <a:srgbClr val="262626"/>
                          </a:solidFill>
                        </a:rPr>
                        <a:t>153</a:t>
                      </a:r>
                    </a:p>
                  </a:txBody>
                  <a:tcPr marT="12700" marB="12700"/>
                </a:tc>
                <a:tc>
                  <a:txBody>
                    <a:bodyPr/>
                    <a:lstStyle/>
                    <a:p>
                      <a:pPr algn="r"/>
                      <a:r>
                        <a:rPr sz="950" b="0">
                          <a:solidFill>
                            <a:srgbClr val="262626"/>
                          </a:solidFill>
                        </a:rPr>
                        <a:t>147</a:t>
                      </a:r>
                    </a:p>
                  </a:txBody>
                  <a:tcPr marT="12700" marB="12700"/>
                </a:tc>
                <a:tc>
                  <a:txBody>
                    <a:bodyPr/>
                    <a:lstStyle/>
                    <a:p>
                      <a:pPr algn="l"/>
                      <a:r>
                        <a:rPr sz="950" b="0">
                          <a:solidFill>
                            <a:srgbClr val="262626"/>
                          </a:solidFill>
                        </a:rPr>
                        <a:t>Complete</a:t>
                      </a:r>
                    </a:p>
                  </a:txBody>
                  <a:tcPr marT="12700" marB="12700"/>
                </a:tc>
              </a:tr>
              <a:tr h="214884">
                <a:tc>
                  <a:txBody>
                    <a:bodyPr/>
                    <a:lstStyle/>
                    <a:p>
                      <a:pPr algn="r"/>
                      <a:r>
                        <a:rPr sz="950" b="0">
                          <a:solidFill>
                            <a:srgbClr val="262626"/>
                          </a:solidFill>
                        </a:rPr>
                        <a:t>3</a:t>
                      </a:r>
                    </a:p>
                  </a:txBody>
                  <a:tcPr marT="12700" marB="12700"/>
                </a:tc>
                <a:tc>
                  <a:txBody>
                    <a:bodyPr/>
                    <a:lstStyle/>
                    <a:p>
                      <a:pPr algn="l"/>
                      <a:r>
                        <a:rPr sz="950" b="0">
                          <a:solidFill>
                            <a:srgbClr val="262626"/>
                          </a:solidFill>
                        </a:rPr>
                        <a:t>Government Agencies</a:t>
                      </a:r>
                    </a:p>
                  </a:txBody>
                  <a:tcPr marT="12700" marB="12700"/>
                </a:tc>
                <a:tc>
                  <a:txBody>
                    <a:bodyPr/>
                    <a:lstStyle/>
                    <a:p>
                      <a:pPr algn="r"/>
                      <a:r>
                        <a:rPr sz="950" b="0">
                          <a:solidFill>
                            <a:srgbClr val="262626"/>
                          </a:solidFill>
                        </a:rPr>
                        <a:t>42</a:t>
                      </a:r>
                    </a:p>
                  </a:txBody>
                  <a:tcPr marT="12700" marB="12700"/>
                </a:tc>
                <a:tc>
                  <a:txBody>
                    <a:bodyPr/>
                    <a:lstStyle/>
                    <a:p>
                      <a:pPr algn="r"/>
                      <a:r>
                        <a:rPr sz="950" b="0">
                          <a:solidFill>
                            <a:srgbClr val="262626"/>
                          </a:solidFill>
                        </a:rPr>
                        <a:t>39</a:t>
                      </a:r>
                    </a:p>
                  </a:txBody>
                  <a:tcPr marT="12700" marB="12700"/>
                </a:tc>
                <a:tc>
                  <a:txBody>
                    <a:bodyPr/>
                    <a:lstStyle/>
                    <a:p>
                      <a:pPr algn="l"/>
                      <a:r>
                        <a:rPr sz="950" b="0">
                          <a:solidFill>
                            <a:srgbClr val="262626"/>
                          </a:solidFill>
                        </a:rPr>
                        <a:t>Complete</a:t>
                      </a:r>
                    </a:p>
                  </a:txBody>
                  <a:tcPr marT="12700" marB="12700"/>
                </a:tc>
              </a:tr>
              <a:tr h="214884">
                <a:tc>
                  <a:txBody>
                    <a:bodyPr/>
                    <a:lstStyle/>
                    <a:p>
                      <a:pPr algn="r"/>
                      <a:r>
                        <a:rPr sz="950" b="0">
                          <a:solidFill>
                            <a:srgbClr val="262626"/>
                          </a:solidFill>
                        </a:rPr>
                        <a:t>4</a:t>
                      </a:r>
                    </a:p>
                  </a:txBody>
                  <a:tcPr marT="12700" marB="12700"/>
                </a:tc>
                <a:tc>
                  <a:txBody>
                    <a:bodyPr/>
                    <a:lstStyle/>
                    <a:p>
                      <a:pPr algn="l"/>
                      <a:r>
                        <a:rPr sz="950" b="0">
                          <a:solidFill>
                            <a:srgbClr val="262626"/>
                          </a:solidFill>
                        </a:rPr>
                        <a:t>Index-Linked Government Bonds</a:t>
                      </a:r>
                    </a:p>
                  </a:txBody>
                  <a:tcPr marT="12700" marB="12700"/>
                </a:tc>
                <a:tc>
                  <a:txBody>
                    <a:bodyPr/>
                    <a:lstStyle/>
                    <a:p>
                      <a:pPr algn="r"/>
                      <a:r>
                        <a:rPr sz="950" b="0">
                          <a:solidFill>
                            <a:srgbClr val="262626"/>
                          </a:solidFill>
                        </a:rPr>
                        <a:t>16</a:t>
                      </a:r>
                    </a:p>
                  </a:txBody>
                  <a:tcPr marT="12700" marB="12700"/>
                </a:tc>
                <a:tc>
                  <a:txBody>
                    <a:bodyPr/>
                    <a:lstStyle/>
                    <a:p>
                      <a:pPr algn="r"/>
                      <a:r>
                        <a:rPr sz="950" b="0">
                          <a:solidFill>
                            <a:srgbClr val="262626"/>
                          </a:solidFill>
                        </a:rPr>
                        <a:t>15</a:t>
                      </a:r>
                    </a:p>
                  </a:txBody>
                  <a:tcPr marT="12700" marB="12700"/>
                </a:tc>
                <a:tc>
                  <a:txBody>
                    <a:bodyPr/>
                    <a:lstStyle/>
                    <a:p>
                      <a:pPr algn="l"/>
                      <a:r>
                        <a:rPr sz="950" b="0">
                          <a:solidFill>
                            <a:srgbClr val="262626"/>
                          </a:solidFill>
                        </a:rPr>
                        <a:t>Complete</a:t>
                      </a:r>
                    </a:p>
                  </a:txBody>
                  <a:tcPr marT="12700" marB="12700"/>
                </a:tc>
              </a:tr>
              <a:tr h="214884">
                <a:tc>
                  <a:txBody>
                    <a:bodyPr/>
                    <a:lstStyle/>
                    <a:p>
                      <a:pPr algn="r"/>
                      <a:r>
                        <a:rPr sz="950" b="0">
                          <a:solidFill>
                            <a:srgbClr val="262626"/>
                          </a:solidFill>
                        </a:rPr>
                        <a:t>5</a:t>
                      </a:r>
                    </a:p>
                  </a:txBody>
                  <a:tcPr marT="12700" marB="12700"/>
                </a:tc>
                <a:tc>
                  <a:txBody>
                    <a:bodyPr/>
                    <a:lstStyle/>
                    <a:p>
                      <a:pPr algn="l"/>
                      <a:r>
                        <a:rPr sz="950" b="0">
                          <a:solidFill>
                            <a:srgbClr val="262626"/>
                          </a:solidFill>
                        </a:rPr>
                        <a:t>Guaranteed Fixed Income</a:t>
                      </a:r>
                    </a:p>
                  </a:txBody>
                  <a:tcPr marT="12700" marB="12700"/>
                </a:tc>
                <a:tc>
                  <a:txBody>
                    <a:bodyPr/>
                    <a:lstStyle/>
                    <a:p>
                      <a:pPr algn="r"/>
                      <a:r>
                        <a:rPr sz="950" b="0">
                          <a:solidFill>
                            <a:srgbClr val="262626"/>
                          </a:solidFill>
                        </a:rPr>
                        <a:t>11</a:t>
                      </a:r>
                    </a:p>
                  </a:txBody>
                  <a:tcPr marT="12700" marB="12700"/>
                </a:tc>
                <a:tc>
                  <a:txBody>
                    <a:bodyPr/>
                    <a:lstStyle/>
                    <a:p>
                      <a:pPr algn="r"/>
                      <a:r>
                        <a:rPr sz="950" b="0">
                          <a:solidFill>
                            <a:srgbClr val="262626"/>
                          </a:solidFill>
                        </a:rPr>
                        <a:t>9</a:t>
                      </a:r>
                    </a:p>
                  </a:txBody>
                  <a:tcPr marT="12700" marB="12700"/>
                </a:tc>
                <a:tc>
                  <a:txBody>
                    <a:bodyPr/>
                    <a:lstStyle/>
                    <a:p>
                      <a:pPr algn="l"/>
                      <a:r>
                        <a:rPr sz="950" b="0">
                          <a:solidFill>
                            <a:srgbClr val="262626"/>
                          </a:solidFill>
                        </a:rPr>
                        <a:t>Complete</a:t>
                      </a:r>
                    </a:p>
                  </a:txBody>
                  <a:tcPr marT="12700" marB="12700"/>
                </a:tc>
              </a:tr>
              <a:tr h="214884">
                <a:tc>
                  <a:txBody>
                    <a:bodyPr/>
                    <a:lstStyle/>
                    <a:p>
                      <a:pPr algn="r"/>
                      <a:r>
                        <a:rPr sz="950" b="0">
                          <a:solidFill>
                            <a:srgbClr val="262626"/>
                          </a:solidFill>
                        </a:rPr>
                        <a:t>6</a:t>
                      </a:r>
                    </a:p>
                  </a:txBody>
                  <a:tcPr marT="12700" marB="12700"/>
                </a:tc>
                <a:tc>
                  <a:txBody>
                    <a:bodyPr/>
                    <a:lstStyle/>
                    <a:p>
                      <a:pPr algn="l"/>
                      <a:r>
                        <a:rPr sz="950" b="0">
                          <a:solidFill>
                            <a:srgbClr val="262626"/>
                          </a:solidFill>
                        </a:rPr>
                        <a:t>Municipal / Provincial Bonds</a:t>
                      </a:r>
                    </a:p>
                  </a:txBody>
                  <a:tcPr marT="12700" marB="12700"/>
                </a:tc>
                <a:tc>
                  <a:txBody>
                    <a:bodyPr/>
                    <a:lstStyle/>
                    <a:p>
                      <a:pPr algn="r"/>
                      <a:r>
                        <a:rPr sz="950" b="0">
                          <a:solidFill>
                            <a:srgbClr val="262626"/>
                          </a:solidFill>
                        </a:rPr>
                        <a:t>7</a:t>
                      </a:r>
                    </a:p>
                  </a:txBody>
                  <a:tcPr marT="12700" marB="12700"/>
                </a:tc>
                <a:tc>
                  <a:txBody>
                    <a:bodyPr/>
                    <a:lstStyle/>
                    <a:p>
                      <a:pPr algn="r"/>
                      <a:r>
                        <a:rPr sz="950" b="0">
                          <a:solidFill>
                            <a:srgbClr val="262626"/>
                          </a:solidFill>
                        </a:rPr>
                        <a:t>7</a:t>
                      </a:r>
                    </a:p>
                  </a:txBody>
                  <a:tcPr marT="12700" marB="12700"/>
                </a:tc>
                <a:tc>
                  <a:txBody>
                    <a:bodyPr/>
                    <a:lstStyle/>
                    <a:p>
                      <a:pPr algn="l"/>
                      <a:r>
                        <a:rPr sz="950" b="0">
                          <a:solidFill>
                            <a:srgbClr val="262626"/>
                          </a:solidFill>
                        </a:rPr>
                        <a:t>Complete</a:t>
                      </a:r>
                    </a:p>
                  </a:txBody>
                  <a:tcPr marT="12700" marB="12700"/>
                </a:tc>
              </a:tr>
              <a:tr h="214884">
                <a:tc>
                  <a:txBody>
                    <a:bodyPr/>
                    <a:lstStyle/>
                    <a:p>
                      <a:pPr algn="r"/>
                      <a:r>
                        <a:rPr sz="950" b="0">
                          <a:solidFill>
                            <a:srgbClr val="262626"/>
                          </a:solidFill>
                        </a:rPr>
                        <a:t>7</a:t>
                      </a:r>
                    </a:p>
                  </a:txBody>
                  <a:tcPr marT="12700" marB="12700"/>
                </a:tc>
                <a:tc>
                  <a:txBody>
                    <a:bodyPr/>
                    <a:lstStyle/>
                    <a:p>
                      <a:pPr algn="l"/>
                      <a:r>
                        <a:rPr sz="950" b="0">
                          <a:solidFill>
                            <a:srgbClr val="262626"/>
                          </a:solidFill>
                        </a:rPr>
                        <a:t>Government Mortgage-Backed</a:t>
                      </a:r>
                    </a:p>
                  </a:txBody>
                  <a:tcPr marT="12700" marB="12700"/>
                </a:tc>
                <a:tc>
                  <a:txBody>
                    <a:bodyPr/>
                    <a:lstStyle/>
                    <a:p>
                      <a:pPr algn="r"/>
                      <a:r>
                        <a:rPr sz="950" b="0">
                          <a:solidFill>
                            <a:srgbClr val="262626"/>
                          </a:solidFill>
                        </a:rPr>
                        <a:t>888</a:t>
                      </a:r>
                    </a:p>
                  </a:txBody>
                  <a:tcPr marT="12700" marB="12700"/>
                </a:tc>
                <a:tc>
                  <a:txBody>
                    <a:bodyPr/>
                    <a:lstStyle/>
                    <a:p>
                      <a:pPr algn="r"/>
                      <a:r>
                        <a:rPr sz="950" b="0">
                          <a:solidFill>
                            <a:srgbClr val="262626"/>
                          </a:solidFill>
                        </a:rPr>
                        <a:t>882</a:t>
                      </a:r>
                    </a:p>
                  </a:txBody>
                  <a:tcPr marT="12700" marB="12700"/>
                </a:tc>
                <a:tc>
                  <a:txBody>
                    <a:bodyPr/>
                    <a:lstStyle/>
                    <a:p>
                      <a:pPr algn="l"/>
                      <a:r>
                        <a:rPr sz="950" b="0">
                          <a:solidFill>
                            <a:srgbClr val="262626"/>
                          </a:solidFill>
                        </a:rPr>
                        <a:t>Engine built — next</a:t>
                      </a:r>
                    </a:p>
                  </a:txBody>
                  <a:tcPr marT="12700" marB="12700"/>
                </a:tc>
              </a:tr>
              <a:tr h="214884">
                <a:tc>
                  <a:txBody>
                    <a:bodyPr/>
                    <a:lstStyle/>
                    <a:p>
                      <a:pPr algn="r"/>
                      <a:r>
                        <a:rPr sz="950" b="0">
                          <a:solidFill>
                            <a:srgbClr val="262626"/>
                          </a:solidFill>
                        </a:rPr>
                        <a:t>8</a:t>
                      </a:r>
                    </a:p>
                  </a:txBody>
                  <a:tcPr marT="12700" marB="12700"/>
                </a:tc>
                <a:tc>
                  <a:txBody>
                    <a:bodyPr/>
                    <a:lstStyle/>
                    <a:p>
                      <a:pPr algn="l"/>
                      <a:r>
                        <a:rPr sz="950" b="0">
                          <a:solidFill>
                            <a:srgbClr val="262626"/>
                          </a:solidFill>
                        </a:rPr>
                        <a:t>Non-Government C.M.O.s</a:t>
                      </a:r>
                    </a:p>
                  </a:txBody>
                  <a:tcPr marT="12700" marB="12700"/>
                </a:tc>
                <a:tc>
                  <a:txBody>
                    <a:bodyPr/>
                    <a:lstStyle/>
                    <a:p>
                      <a:pPr algn="r"/>
                      <a:r>
                        <a:rPr sz="950" b="0">
                          <a:solidFill>
                            <a:srgbClr val="262626"/>
                          </a:solidFill>
                        </a:rPr>
                        <a:t>265</a:t>
                      </a:r>
                    </a:p>
                  </a:txBody>
                  <a:tcPr marT="12700" marB="12700"/>
                </a:tc>
                <a:tc>
                  <a:txBody>
                    <a:bodyPr/>
                    <a:lstStyle/>
                    <a:p>
                      <a:pPr algn="r"/>
                      <a:r>
                        <a:rPr sz="950" b="0">
                          <a:solidFill>
                            <a:srgbClr val="262626"/>
                          </a:solidFill>
                        </a:rPr>
                        <a:t>264</a:t>
                      </a:r>
                    </a:p>
                  </a:txBody>
                  <a:tcPr marT="12700" marB="12700"/>
                </a:tc>
                <a:tc>
                  <a:txBody>
                    <a:bodyPr/>
                    <a:lstStyle/>
                    <a:p>
                      <a:pPr algn="l"/>
                      <a:r>
                        <a:rPr sz="950" b="0">
                          <a:solidFill>
                            <a:srgbClr val="262626"/>
                          </a:solidFill>
                        </a:rPr>
                        <a:t>Scoped, not started</a:t>
                      </a:r>
                    </a:p>
                  </a:txBody>
                  <a:tcPr marT="12700" marB="12700"/>
                </a:tc>
              </a:tr>
              <a:tr h="214884">
                <a:tc>
                  <a:txBody>
                    <a:bodyPr/>
                    <a:lstStyle/>
                    <a:p>
                      <a:pPr algn="r"/>
                      <a:r>
                        <a:rPr sz="950" b="0">
                          <a:solidFill>
                            <a:srgbClr val="262626"/>
                          </a:solidFill>
                        </a:rPr>
                        <a:t>9</a:t>
                      </a:r>
                    </a:p>
                  </a:txBody>
                  <a:tcPr marT="12700" marB="12700"/>
                </a:tc>
                <a:tc>
                  <a:txBody>
                    <a:bodyPr/>
                    <a:lstStyle/>
                    <a:p>
                      <a:pPr algn="l"/>
                      <a:r>
                        <a:rPr sz="950" b="0">
                          <a:solidFill>
                            <a:srgbClr val="262626"/>
                          </a:solidFill>
                        </a:rPr>
                        <a:t>Asset-Backed Securities</a:t>
                      </a:r>
                    </a:p>
                  </a:txBody>
                  <a:tcPr marT="12700" marB="12700"/>
                </a:tc>
                <a:tc>
                  <a:txBody>
                    <a:bodyPr/>
                    <a:lstStyle/>
                    <a:p>
                      <a:pPr algn="r"/>
                      <a:r>
                        <a:rPr sz="950" b="0">
                          <a:solidFill>
                            <a:srgbClr val="262626"/>
                          </a:solidFill>
                        </a:rPr>
                        <a:t>79</a:t>
                      </a:r>
                    </a:p>
                  </a:txBody>
                  <a:tcPr marT="12700" marB="12700"/>
                </a:tc>
                <a:tc>
                  <a:txBody>
                    <a:bodyPr/>
                    <a:lstStyle/>
                    <a:p>
                      <a:pPr algn="r"/>
                      <a:r>
                        <a:rPr sz="950" b="0">
                          <a:solidFill>
                            <a:srgbClr val="262626"/>
                          </a:solidFill>
                        </a:rPr>
                        <a:t>79</a:t>
                      </a:r>
                    </a:p>
                  </a:txBody>
                  <a:tcPr marT="12700" marB="12700"/>
                </a:tc>
                <a:tc>
                  <a:txBody>
                    <a:bodyPr/>
                    <a:lstStyle/>
                    <a:p>
                      <a:pPr algn="l"/>
                      <a:r>
                        <a:rPr sz="950" b="0">
                          <a:solidFill>
                            <a:srgbClr val="262626"/>
                          </a:solidFill>
                        </a:rPr>
                        <a:t>Scoped, not started</a:t>
                      </a:r>
                    </a:p>
                  </a:txBody>
                  <a:tcPr marT="12700" marB="12700"/>
                </a:tc>
              </a:tr>
              <a:tr h="214884">
                <a:tc>
                  <a:txBody>
                    <a:bodyPr/>
                    <a:lstStyle/>
                    <a:p>
                      <a:pPr algn="r"/>
                      <a:r>
                        <a:rPr sz="950" b="0">
                          <a:solidFill>
                            <a:srgbClr val="262626"/>
                          </a:solidFill>
                        </a:rPr>
                        <a:t>10</a:t>
                      </a:r>
                    </a:p>
                  </a:txBody>
                  <a:tcPr marT="12700" marB="12700"/>
                </a:tc>
                <a:tc>
                  <a:txBody>
                    <a:bodyPr/>
                    <a:lstStyle/>
                    <a:p>
                      <a:pPr algn="l"/>
                      <a:r>
                        <a:rPr sz="950" b="0">
                          <a:solidFill>
                            <a:srgbClr val="262626"/>
                          </a:solidFill>
                        </a:rPr>
                        <a:t>Commercial Mortgage-Backed</a:t>
                      </a:r>
                    </a:p>
                  </a:txBody>
                  <a:tcPr marT="12700" marB="12700"/>
                </a:tc>
                <a:tc>
                  <a:txBody>
                    <a:bodyPr/>
                    <a:lstStyle/>
                    <a:p>
                      <a:pPr algn="r"/>
                      <a:r>
                        <a:rPr sz="950" b="0">
                          <a:solidFill>
                            <a:srgbClr val="262626"/>
                          </a:solidFill>
                        </a:rPr>
                        <a:t>73</a:t>
                      </a:r>
                    </a:p>
                  </a:txBody>
                  <a:tcPr marT="12700" marB="12700"/>
                </a:tc>
                <a:tc>
                  <a:txBody>
                    <a:bodyPr/>
                    <a:lstStyle/>
                    <a:p>
                      <a:pPr algn="r"/>
                      <a:r>
                        <a:rPr sz="950" b="0">
                          <a:solidFill>
                            <a:srgbClr val="262626"/>
                          </a:solidFill>
                        </a:rPr>
                        <a:t>69</a:t>
                      </a:r>
                    </a:p>
                  </a:txBody>
                  <a:tcPr marT="12700" marB="12700"/>
                </a:tc>
                <a:tc>
                  <a:txBody>
                    <a:bodyPr/>
                    <a:lstStyle/>
                    <a:p>
                      <a:pPr algn="l"/>
                      <a:r>
                        <a:rPr sz="950" b="0">
                          <a:solidFill>
                            <a:srgbClr val="262626"/>
                          </a:solidFill>
                        </a:rPr>
                        <a:t>Scoped, not started</a:t>
                      </a:r>
                    </a:p>
                  </a:txBody>
                  <a:tcPr marT="12700" marB="12700"/>
                </a:tc>
              </a:tr>
              <a:tr h="214884">
                <a:tc>
                  <a:txBody>
                    <a:bodyPr/>
                    <a:lstStyle/>
                    <a:p>
                      <a:pPr algn="r"/>
                      <a:r>
                        <a:rPr sz="950" b="0">
                          <a:solidFill>
                            <a:srgbClr val="262626"/>
                          </a:solidFill>
                        </a:rPr>
                        <a:t>11</a:t>
                      </a:r>
                    </a:p>
                  </a:txBody>
                  <a:tcPr marT="12700" marB="12700"/>
                </a:tc>
                <a:tc>
                  <a:txBody>
                    <a:bodyPr/>
                    <a:lstStyle/>
                    <a:p>
                      <a:pPr algn="l"/>
                      <a:r>
                        <a:rPr sz="950" b="0">
                          <a:solidFill>
                            <a:srgbClr val="262626"/>
                          </a:solidFill>
                        </a:rPr>
                        <a:t>FI Derivatives — Futures</a:t>
                      </a:r>
                    </a:p>
                  </a:txBody>
                  <a:tcPr marT="12700" marB="12700"/>
                </a:tc>
                <a:tc>
                  <a:txBody>
                    <a:bodyPr/>
                    <a:lstStyle/>
                    <a:p>
                      <a:pPr algn="r"/>
                      <a:r>
                        <a:rPr sz="950" b="0">
                          <a:solidFill>
                            <a:srgbClr val="262626"/>
                          </a:solidFill>
                        </a:rPr>
                        <a:t>11</a:t>
                      </a:r>
                    </a:p>
                  </a:txBody>
                  <a:tcPr marT="12700" marB="12700"/>
                </a:tc>
                <a:tc>
                  <a:txBody>
                    <a:bodyPr/>
                    <a:lstStyle/>
                    <a:p>
                      <a:pPr algn="r"/>
                      <a:r>
                        <a:rPr sz="950" b="0">
                          <a:solidFill>
                            <a:srgbClr val="262626"/>
                          </a:solidFill>
                        </a:rPr>
                        <a:t>7</a:t>
                      </a:r>
                    </a:p>
                  </a:txBody>
                  <a:tcPr marT="12700" marB="12700"/>
                </a:tc>
                <a:tc>
                  <a:txBody>
                    <a:bodyPr/>
                    <a:lstStyle/>
                    <a:p>
                      <a:pPr algn="l"/>
                      <a:r>
                        <a:rPr sz="950" b="0">
                          <a:solidFill>
                            <a:srgbClr val="262626"/>
                          </a:solidFill>
                        </a:rPr>
                        <a:t>Out of scope</a:t>
                      </a:r>
                    </a:p>
                  </a:txBody>
                  <a:tcPr marT="12700" marB="12700"/>
                </a:tc>
              </a:tr>
              <a:tr h="214884">
                <a:tc>
                  <a:txBody>
                    <a:bodyPr/>
                    <a:lstStyle/>
                    <a:p>
                      <a:pPr algn="r"/>
                      <a:r>
                        <a:rPr sz="950" b="0">
                          <a:solidFill>
                            <a:srgbClr val="262626"/>
                          </a:solidFill>
                        </a:rPr>
                        <a:t>12</a:t>
                      </a:r>
                    </a:p>
                  </a:txBody>
                  <a:tcPr marT="12700" marB="12700"/>
                </a:tc>
                <a:tc>
                  <a:txBody>
                    <a:bodyPr/>
                    <a:lstStyle/>
                    <a:p>
                      <a:pPr algn="l"/>
                      <a:r>
                        <a:rPr sz="950" b="0">
                          <a:solidFill>
                            <a:srgbClr val="262626"/>
                          </a:solidFill>
                        </a:rPr>
                        <a:t>FI Derivatives — Options</a:t>
                      </a:r>
                    </a:p>
                  </a:txBody>
                  <a:tcPr marT="12700" marB="12700"/>
                </a:tc>
                <a:tc>
                  <a:txBody>
                    <a:bodyPr/>
                    <a:lstStyle/>
                    <a:p>
                      <a:pPr algn="r"/>
                      <a:r>
                        <a:rPr sz="950" b="0">
                          <a:solidFill>
                            <a:srgbClr val="262626"/>
                          </a:solidFill>
                        </a:rPr>
                        <a:t>9</a:t>
                      </a:r>
                    </a:p>
                  </a:txBody>
                  <a:tcPr marT="12700" marB="12700"/>
                </a:tc>
                <a:tc>
                  <a:txBody>
                    <a:bodyPr/>
                    <a:lstStyle/>
                    <a:p>
                      <a:pPr algn="r"/>
                      <a:r>
                        <a:rPr sz="950" b="0">
                          <a:solidFill>
                            <a:srgbClr val="262626"/>
                          </a:solidFill>
                        </a:rPr>
                        <a:t>9</a:t>
                      </a:r>
                    </a:p>
                  </a:txBody>
                  <a:tcPr marT="12700" marB="12700"/>
                </a:tc>
                <a:tc>
                  <a:txBody>
                    <a:bodyPr/>
                    <a:lstStyle/>
                    <a:p>
                      <a:pPr algn="l"/>
                      <a:r>
                        <a:rPr sz="950" b="0">
                          <a:solidFill>
                            <a:srgbClr val="262626"/>
                          </a:solidFill>
                        </a:rPr>
                        <a:t>Out of scope</a:t>
                      </a:r>
                    </a:p>
                  </a:txBody>
                  <a:tcPr marT="12700" marB="12700"/>
                </a:tc>
              </a:tr>
              <a:tr h="214884">
                <a:tc>
                  <a:txBody>
                    <a:bodyPr/>
                    <a:lstStyle/>
                    <a:p>
                      <a:pPr algn="r"/>
                      <a:r>
                        <a:rPr sz="950" b="0">
                          <a:solidFill>
                            <a:srgbClr val="262626"/>
                          </a:solidFill>
                        </a:rPr>
                        <a:t>13</a:t>
                      </a:r>
                    </a:p>
                  </a:txBody>
                  <a:tcPr marT="12700" marB="12700"/>
                </a:tc>
                <a:tc>
                  <a:txBody>
                    <a:bodyPr/>
                    <a:lstStyle/>
                    <a:p>
                      <a:pPr algn="l"/>
                      <a:r>
                        <a:rPr sz="950" b="0">
                          <a:solidFill>
                            <a:srgbClr val="262626"/>
                          </a:solidFill>
                        </a:rPr>
                        <a:t>Other Fixed Income</a:t>
                      </a:r>
                    </a:p>
                  </a:txBody>
                  <a:tcPr marT="12700" marB="12700"/>
                </a:tc>
                <a:tc>
                  <a:txBody>
                    <a:bodyPr/>
                    <a:lstStyle/>
                    <a:p>
                      <a:pPr algn="r"/>
                      <a:r>
                        <a:rPr sz="950" b="0">
                          <a:solidFill>
                            <a:srgbClr val="262626"/>
                          </a:solidFill>
                        </a:rPr>
                        <a:t>1</a:t>
                      </a:r>
                    </a:p>
                  </a:txBody>
                  <a:tcPr marT="12700" marB="12700"/>
                </a:tc>
                <a:tc>
                  <a:txBody>
                    <a:bodyPr/>
                    <a:lstStyle/>
                    <a:p>
                      <a:pPr algn="r"/>
                      <a:r>
                        <a:rPr sz="950" b="0">
                          <a:solidFill>
                            <a:srgbClr val="262626"/>
                          </a:solidFill>
                        </a:rPr>
                        <a:t>1</a:t>
                      </a:r>
                    </a:p>
                  </a:txBody>
                  <a:tcPr marT="12700" marB="12700"/>
                </a:tc>
                <a:tc>
                  <a:txBody>
                    <a:bodyPr/>
                    <a:lstStyle/>
                    <a:p>
                      <a:pPr algn="l"/>
                      <a:r>
                        <a:rPr sz="950" b="0">
                          <a:solidFill>
                            <a:srgbClr val="262626"/>
                          </a:solidFill>
                        </a:rPr>
                        <a:t>Out of scope</a:t>
                      </a:r>
                    </a:p>
                  </a:txBody>
                  <a:tcPr marT="12700" marB="12700"/>
                </a:tc>
              </a:tr>
              <a:tr h="214884">
                <a:tc>
                  <a:txBody>
                    <a:bodyPr/>
                    <a:lstStyle/>
                    <a:p>
                      <a:pPr algn="r"/>
                    </a:p>
                  </a:txBody>
                  <a:tcPr marT="12700" marB="12700"/>
                </a:tc>
                <a:tc>
                  <a:txBody>
                    <a:bodyPr/>
                    <a:lstStyle/>
                    <a:p>
                      <a:pPr algn="l"/>
                      <a:r>
                        <a:rPr sz="950" b="1">
                          <a:solidFill>
                            <a:srgbClr val="262626"/>
                          </a:solidFill>
                        </a:rPr>
                        <a:t>Total</a:t>
                      </a:r>
                    </a:p>
                  </a:txBody>
                  <a:tcPr marT="12700" marB="12700"/>
                </a:tc>
                <a:tc>
                  <a:txBody>
                    <a:bodyPr/>
                    <a:lstStyle/>
                    <a:p>
                      <a:pPr algn="r"/>
                      <a:r>
                        <a:rPr sz="950" b="1">
                          <a:solidFill>
                            <a:srgbClr val="262626"/>
                          </a:solidFill>
                        </a:rPr>
                        <a:t>2,366</a:t>
                      </a:r>
                    </a:p>
                  </a:txBody>
                  <a:tcPr marT="12700" marB="12700"/>
                </a:tc>
                <a:tc>
                  <a:txBody>
                    <a:bodyPr/>
                    <a:lstStyle/>
                    <a:p>
                      <a:pPr algn="r"/>
                      <a:r>
                        <a:rPr sz="950" b="1">
                          <a:solidFill>
                            <a:srgbClr val="262626"/>
                          </a:solidFill>
                        </a:rPr>
                        <a:t>2,260</a:t>
                      </a:r>
                    </a:p>
                  </a:txBody>
                  <a:tcPr marT="12700" marB="12700"/>
                </a:tc>
                <a:tc>
                  <a:txBody>
                    <a:bodyPr/>
                    <a:lstStyle/>
                    <a:p>
                      <a:pPr algn="l"/>
                    </a:p>
                  </a:txBody>
                  <a:tcPr marT="12700" marB="12700"/>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8138160" cy="731520"/>
          </a:xfrm>
          <a:prstGeom prst="rect">
            <a:avLst/>
          </a:prstGeom>
          <a:noFill/>
        </p:spPr>
        <p:txBody>
          <a:bodyPr wrap="square">
            <a:spAutoFit/>
          </a:bodyPr>
          <a:lstStyle/>
          <a:p>
            <a:pPr>
              <a:spcAft>
                <a:spcPts val="300"/>
              </a:spcAft>
            </a:pPr>
            <a:r>
              <a:rPr sz="2300" b="1">
                <a:solidFill>
                  <a:srgbClr val="1F4E79"/>
                </a:solidFill>
              </a:rPr>
              <a:t>How do we know the numbers are right</a:t>
            </a:r>
          </a:p>
        </p:txBody>
      </p:sp>
      <p:sp>
        <p:nvSpPr>
          <p:cNvPr id="3" name="TextBox 2"/>
          <p:cNvSpPr txBox="1"/>
          <p:nvPr/>
        </p:nvSpPr>
        <p:spPr>
          <a:xfrm>
            <a:off x="502920" y="1078992"/>
            <a:ext cx="8138160" cy="512064"/>
          </a:xfrm>
          <a:prstGeom prst="rect">
            <a:avLst/>
          </a:prstGeom>
          <a:noFill/>
        </p:spPr>
        <p:txBody>
          <a:bodyPr wrap="square">
            <a:spAutoFit/>
          </a:bodyPr>
          <a:lstStyle/>
          <a:p>
            <a:pPr>
              <a:spcAft>
                <a:spcPts val="200"/>
              </a:spcAft>
            </a:pPr>
            <a:r>
              <a:rPr sz="1600" b="1">
                <a:solidFill>
                  <a:srgbClr val="1F4E79"/>
                </a:solidFill>
              </a:rPr>
              <a:t>Three checks. Not one of them uses anything we control.</a:t>
            </a:r>
          </a:p>
        </p:txBody>
      </p:sp>
      <p:sp>
        <p:nvSpPr>
          <p:cNvPr id="4" name="TextBox 3"/>
          <p:cNvSpPr txBox="1"/>
          <p:nvPr/>
        </p:nvSpPr>
        <p:spPr>
          <a:xfrm>
            <a:off x="502920" y="1591056"/>
            <a:ext cx="8138160" cy="3369564"/>
          </a:xfrm>
          <a:prstGeom prst="rect">
            <a:avLst/>
          </a:prstGeom>
          <a:noFill/>
        </p:spPr>
        <p:txBody>
          <a:bodyPr wrap="square">
            <a:spAutoFit/>
          </a:bodyPr>
          <a:lstStyle/>
          <a:p>
            <a:pPr>
              <a:spcAft>
                <a:spcPts val="900"/>
              </a:spcAft>
            </a:pPr>
            <a:r>
              <a:rPr sz="1300" b="0">
                <a:solidFill>
                  <a:srgbClr val="262626"/>
                </a:solidFill>
              </a:rPr>
              <a:t>•  </a:t>
            </a:r>
            <a:r>
              <a:rPr sz="1300" b="1">
                <a:solidFill>
                  <a:srgbClr val="262626"/>
                </a:solidFill>
              </a:rPr>
              <a:t>A thermometer has to read zero in ice water.</a:t>
            </a:r>
            <a:r>
              <a:rPr sz="1300" b="0">
                <a:solidFill>
                  <a:srgbClr val="262626"/>
                </a:solidFill>
              </a:rPr>
              <a:t> We measure what a bond pays above its own government's cost of borrowing — so for a government's own bond, the answer has to be zero. Japan comes out at 0.00%, the UK at 0.04%.</a:t>
            </a:r>
          </a:p>
          <a:p>
            <a:pPr>
              <a:spcAft>
                <a:spcPts val="900"/>
              </a:spcAft>
            </a:pPr>
            <a:r>
              <a:rPr sz="1300" b="0">
                <a:solidFill>
                  <a:srgbClr val="262626"/>
                </a:solidFill>
              </a:rPr>
              <a:t>•  </a:t>
            </a:r>
            <a:r>
              <a:rPr sz="1300" b="1">
                <a:solidFill>
                  <a:srgbClr val="262626"/>
                </a:solidFill>
              </a:rPr>
              <a:t>An outside system computes some of the same numbers, and ours match.</a:t>
            </a:r>
            <a:r>
              <a:rPr sz="1300" b="0">
                <a:solidFill>
                  <a:srgbClr val="262626"/>
                </a:solidFill>
              </a:rPr>
              <a:t> The custodian holding these bonds publishes its own measure of how much each one moves when interest rates move. We compute ours from scratch — on four of the five where both exist, the two agree.</a:t>
            </a:r>
          </a:p>
          <a:p>
            <a:pPr>
              <a:spcAft>
                <a:spcPts val="900"/>
              </a:spcAft>
            </a:pPr>
            <a:r>
              <a:rPr sz="1300" b="0">
                <a:solidFill>
                  <a:srgbClr val="262626"/>
                </a:solidFill>
              </a:rPr>
              <a:t>•  </a:t>
            </a:r>
            <a:r>
              <a:rPr sz="1300" b="1">
                <a:solidFill>
                  <a:srgbClr val="262626"/>
                </a:solidFill>
              </a:rPr>
              <a:t>We rebuilt the client's own figures from public data.</a:t>
            </a:r>
            <a:r>
              <a:rPr sz="1300" b="0">
                <a:solidFill>
                  <a:srgbClr val="262626"/>
                </a:solidFill>
              </a:rPr>
              <a:t> An inflation-linked bond carries a factor for the inflation since it was issued. We recomputed all thirteen of them from published US inflation statistics — and they match to six parts in a million.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8138160" cy="731520"/>
          </a:xfrm>
          <a:prstGeom prst="rect">
            <a:avLst/>
          </a:prstGeom>
          <a:noFill/>
        </p:spPr>
        <p:txBody>
          <a:bodyPr wrap="square">
            <a:spAutoFit/>
          </a:bodyPr>
          <a:lstStyle/>
          <a:p>
            <a:pPr>
              <a:spcAft>
                <a:spcPts val="300"/>
              </a:spcAft>
            </a:pPr>
            <a:r>
              <a:rPr sz="2300" b="1">
                <a:solidFill>
                  <a:srgbClr val="1F4E79"/>
                </a:solidFill>
              </a:rPr>
              <a:t>What's next</a:t>
            </a:r>
          </a:p>
        </p:txBody>
      </p:sp>
      <p:sp>
        <p:nvSpPr>
          <p:cNvPr id="3" name="TextBox 2"/>
          <p:cNvSpPr txBox="1"/>
          <p:nvPr/>
        </p:nvSpPr>
        <p:spPr>
          <a:xfrm>
            <a:off x="502920" y="1078992"/>
            <a:ext cx="8138160" cy="3881628"/>
          </a:xfrm>
          <a:prstGeom prst="rect">
            <a:avLst/>
          </a:prstGeom>
          <a:noFill/>
        </p:spPr>
        <p:txBody>
          <a:bodyPr wrap="square">
            <a:spAutoFit/>
          </a:bodyPr>
          <a:lstStyle/>
          <a:p>
            <a:pPr>
              <a:spcAft>
                <a:spcPts val="900"/>
              </a:spcAft>
            </a:pPr>
            <a:r>
              <a:rPr sz="1300" b="0">
                <a:solidFill>
                  <a:srgbClr val="262626"/>
                </a:solidFill>
              </a:rPr>
              <a:t>•  </a:t>
            </a:r>
            <a:r>
              <a:rPr sz="1300" b="1">
                <a:solidFill>
                  <a:srgbClr val="262626"/>
                </a:solidFill>
              </a:rPr>
              <a:t>The mortgage-backed book</a:t>
            </a:r>
            <a:r>
              <a:rPr sz="1300" b="0">
                <a:solidFill>
                  <a:srgbClr val="262626"/>
                </a:solidFill>
              </a:rPr>
              <a:t> — the engine is built and tested; it needs terms data, not development</a:t>
            </a:r>
          </a:p>
          <a:p>
            <a:pPr>
              <a:spcAft>
                <a:spcPts val="900"/>
              </a:spcAft>
            </a:pPr>
            <a:r>
              <a:rPr sz="1300" b="0">
                <a:solidFill>
                  <a:srgbClr val="262626"/>
                </a:solidFill>
              </a:rPr>
              <a:t>•  </a:t>
            </a:r>
            <a:r>
              <a:rPr sz="1300" b="1">
                <a:solidFill>
                  <a:srgbClr val="262626"/>
                </a:solidFill>
              </a:rPr>
              <a:t>The three remaining pooled classes</a:t>
            </a:r>
            <a:r>
              <a:rPr sz="1300" b="0">
                <a:solidFill>
                  <a:srgbClr val="262626"/>
                </a:solidFill>
              </a:rPr>
              <a:t> — mortgage obligations, asset-backed and commercial mortgage-backed; each reuses machinery that already exists</a:t>
            </a:r>
          </a:p>
          <a:p>
            <a:pPr>
              <a:spcAft>
                <a:spcPts val="900"/>
              </a:spcAft>
            </a:pPr>
            <a:r>
              <a:rPr sz="1300" b="0">
                <a:solidFill>
                  <a:srgbClr val="262626"/>
                </a:solidFill>
              </a:rPr>
              <a:t>•  </a:t>
            </a:r>
            <a:r>
              <a:rPr sz="1300" b="1">
                <a:solidFill>
                  <a:srgbClr val="262626"/>
                </a:solidFill>
              </a:rPr>
              <a:t>Hosting it as a service, then running it in parallel</a:t>
            </a:r>
            <a:r>
              <a:rPr sz="1300" b="0">
                <a:solidFill>
                  <a:srgbClr val="262626"/>
                </a:solidFill>
              </a:rPr>
              <a:t> — with Ryse's engineer. It is a defined piece of work, not a rewrite: the system already answers one request at a time, which is exactly the shape a cloud service wants</a:t>
            </a:r>
          </a:p>
          <a:p>
            <a:pPr>
              <a:spcAft>
                <a:spcPts val="900"/>
              </a:spcAft>
            </a:pPr>
            <a:r>
              <a:rPr sz="1300" b="0">
                <a:solidFill>
                  <a:srgbClr val="262626"/>
                </a:solidFill>
              </a:rPr>
              <a:t>•  </a:t>
            </a:r>
            <a:r>
              <a:rPr sz="1300" b="1">
                <a:solidFill>
                  <a:srgbClr val="262626"/>
                </a:solidFill>
              </a:rPr>
              <a:t>The portfolio risk layer</a:t>
            </a:r>
            <a:r>
              <a:rPr sz="1300" b="0">
                <a:solidFill>
                  <a:srgbClr val="262626"/>
                </a:solidFill>
              </a:rPr>
              <a:t> — last, once coverage is complete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